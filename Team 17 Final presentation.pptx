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76" r:id="rId3"/>
    <p:sldId id="280" r:id="rId4"/>
    <p:sldId id="278" r:id="rId5"/>
    <p:sldId id="258" r:id="rId6"/>
    <p:sldId id="259" r:id="rId7"/>
    <p:sldId id="279" r:id="rId8"/>
    <p:sldId id="284" r:id="rId9"/>
    <p:sldId id="260" r:id="rId10"/>
    <p:sldId id="261" r:id="rId11"/>
    <p:sldId id="274" r:id="rId12"/>
    <p:sldId id="262" r:id="rId13"/>
    <p:sldId id="263" r:id="rId14"/>
    <p:sldId id="281" r:id="rId15"/>
    <p:sldId id="257" r:id="rId16"/>
    <p:sldId id="282" r:id="rId17"/>
    <p:sldId id="264" r:id="rId18"/>
    <p:sldId id="265" r:id="rId19"/>
    <p:sldId id="266" r:id="rId20"/>
    <p:sldId id="267" r:id="rId21"/>
    <p:sldId id="268" r:id="rId22"/>
    <p:sldId id="285" r:id="rId23"/>
    <p:sldId id="287" r:id="rId24"/>
    <p:sldId id="283" r:id="rId25"/>
    <p:sldId id="271" r:id="rId26"/>
    <p:sldId id="277" r:id="rId27"/>
    <p:sldId id="286"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1B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96" dt="2026-09-01T09:34:47.431"/>
    <p1510:client id="{04A5E567-6E42-CC29-F339-D46E322259CE}" v="93" dt="2026-08-31T05:59:12.912"/>
    <p1510:client id="{478CF663-79F6-29AD-1EA1-195990749BDF}" v="15" dt="2026-09-01T08:27:14.425"/>
    <p1510:client id="{6275AE7C-41C2-ADDC-58E9-3127734AD278}" v="43" dt="2026-09-01T06:35:16.694"/>
    <p1510:client id="{66D0A314-E245-CEBB-669D-72F96C045983}" v="21" dt="2026-09-01T10:03:19.515"/>
    <p1510:client id="{A9969B72-26E7-08F6-B058-C1F5133799B7}" v="60" dt="2026-08-31T05:41:35.209"/>
    <p1510:client id="{AA67F9B5-950E-3195-80A3-BC46E156FBD0}" v="123" dt="2026-09-01T06:47:55.011"/>
    <p1510:client id="{B394EE94-56D5-36F1-109D-98104550B473}" v="18" dt="2026-09-01T15:11:47.152"/>
    <p1510:client id="{C7F88991-98A0-6E82-DF8E-0ED85236F4CB}" v="31" dt="2026-09-01T06:59:56.609"/>
    <p1510:client id="{D845B58B-B13A-BE5E-DB48-B82536FB7769}" v="351" dt="2026-09-01T05:34:46.665"/>
    <p1510:client id="{E2A1739B-5FF4-A722-4652-279369F0EEB1}" v="4" dt="2026-09-01T08:11:54.680"/>
    <p1510:client id="{F87CE46C-9ED4-284C-1493-45BAF9CEF7F6}" v="8" dt="2026-08-31T02:53:58.705"/>
    <p1510:client id="{F8A9D39B-6542-A7AD-45DD-AB85F74C355B}" v="13" dt="2026-09-01T06:03:13.0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4EF2BC-2530-4488-9BD0-99D1D5BD9E01}" type="doc">
      <dgm:prSet loTypeId="urn:microsoft.com/office/officeart/2005/8/layout/hProcess7" loCatId="process" qsTypeId="urn:microsoft.com/office/officeart/2005/8/quickstyle/simple1" qsCatId="simple" csTypeId="urn:microsoft.com/office/officeart/2005/8/colors/colorful3" csCatId="colorful" phldr="1"/>
      <dgm:spPr/>
      <dgm:t>
        <a:bodyPr/>
        <a:lstStyle/>
        <a:p>
          <a:endParaRPr lang="en-US"/>
        </a:p>
      </dgm:t>
    </dgm:pt>
    <dgm:pt modelId="{1D2092FF-3859-4833-A7C7-809AA7498BDF}">
      <dgm:prSet phldrT="[Text]" phldr="0"/>
      <dgm:spPr/>
      <dgm:t>
        <a:bodyPr/>
        <a:lstStyle/>
        <a:p>
          <a:pPr rtl="0"/>
          <a:r>
            <a:rPr lang="en-US">
              <a:latin typeface="Calibri Light"/>
            </a:rPr>
            <a:t> </a:t>
          </a:r>
          <a:r>
            <a:rPr lang="en-US" sz="1100" b="1">
              <a:latin typeface="Segoe UI"/>
              <a:cs typeface="Segoe UI"/>
            </a:rPr>
            <a:t>Actionable Counterexamples</a:t>
          </a:r>
          <a:br>
            <a:rPr lang="en-US" sz="1100" b="1">
              <a:latin typeface="Segoe UI"/>
              <a:cs typeface="Segoe UI"/>
            </a:rPr>
          </a:br>
          <a:r>
            <a:rPr lang="en-US" sz="1100" b="1">
              <a:latin typeface="Segoe UI"/>
              <a:cs typeface="Segoe UI"/>
            </a:rPr>
            <a:t> Shows exact conditions where requirements conflict</a:t>
          </a:r>
          <a:endParaRPr lang="en-US" sz="1100">
            <a:latin typeface="Segoe UI"/>
            <a:cs typeface="Segoe UI"/>
          </a:endParaRPr>
        </a:p>
      </dgm:t>
    </dgm:pt>
    <dgm:pt modelId="{CE533BCC-9CDE-4CFB-9800-D98BED9952B2}" type="parTrans" cxnId="{7EB53953-C6BD-4699-9856-37C7F13863FF}">
      <dgm:prSet/>
      <dgm:spPr/>
      <dgm:t>
        <a:bodyPr/>
        <a:lstStyle/>
        <a:p>
          <a:endParaRPr lang="en-US"/>
        </a:p>
      </dgm:t>
    </dgm:pt>
    <dgm:pt modelId="{D4DCFF5F-CD1A-46BF-B0D6-951C097D790B}" type="sibTrans" cxnId="{7EB53953-C6BD-4699-9856-37C7F13863FF}">
      <dgm:prSet/>
      <dgm:spPr/>
      <dgm:t>
        <a:bodyPr/>
        <a:lstStyle/>
        <a:p>
          <a:endParaRPr lang="en-US"/>
        </a:p>
      </dgm:t>
    </dgm:pt>
    <dgm:pt modelId="{C7683AEC-5654-444B-AA39-60AFDE8D866B}">
      <dgm:prSet phldrT="[Text]" phldr="0"/>
      <dgm:spPr/>
      <dgm:t>
        <a:bodyPr/>
        <a:lstStyle/>
        <a:p>
          <a:pPr rtl="0"/>
          <a:endParaRPr lang="en-US" b="1">
            <a:latin typeface="Calibri Light"/>
          </a:endParaRPr>
        </a:p>
      </dgm:t>
    </dgm:pt>
    <dgm:pt modelId="{6B9197A7-E828-43BF-AD87-E269D22C99AE}" type="parTrans" cxnId="{DB411618-5F14-4E8A-A8C4-81E74ADCB3F5}">
      <dgm:prSet/>
      <dgm:spPr/>
    </dgm:pt>
    <dgm:pt modelId="{183CCA26-7A57-446E-9A09-403D89317796}" type="sibTrans" cxnId="{DB411618-5F14-4E8A-A8C4-81E74ADCB3F5}">
      <dgm:prSet/>
      <dgm:spPr/>
    </dgm:pt>
    <dgm:pt modelId="{846F2470-3053-4D2D-ADDE-165D23A2443E}">
      <dgm:prSet phldrT="[Text]" phldr="0" custT="1"/>
      <dgm:spPr/>
      <dgm:t>
        <a:bodyPr/>
        <a:lstStyle/>
        <a:p>
          <a:pPr rtl="0"/>
          <a:r>
            <a:rPr lang="en-US" sz="1400" b="1">
              <a:latin typeface="Segoe UI"/>
              <a:cs typeface="Segoe UI"/>
            </a:rPr>
            <a:t>Controlled LLM Dependency</a:t>
          </a:r>
          <a:br>
            <a:rPr lang="en-US" sz="1400" b="1">
              <a:latin typeface="Segoe UI"/>
              <a:cs typeface="Segoe UI"/>
            </a:rPr>
          </a:br>
          <a:r>
            <a:rPr lang="en-US" sz="1400" b="1">
              <a:latin typeface="Segoe UI"/>
              <a:cs typeface="Segoe UI"/>
            </a:rPr>
            <a:t> Formal engines validate LLM-generated representations</a:t>
          </a:r>
        </a:p>
      </dgm:t>
    </dgm:pt>
    <dgm:pt modelId="{026FCB58-7D10-48DC-9B70-2B00CF4953F4}" type="parTrans" cxnId="{6685E8F6-DB36-468E-A429-A7BE0FEE2234}">
      <dgm:prSet/>
      <dgm:spPr/>
    </dgm:pt>
    <dgm:pt modelId="{F2259793-0818-4E8F-A319-4468841D84BB}" type="sibTrans" cxnId="{6685E8F6-DB36-468E-A429-A7BE0FEE2234}">
      <dgm:prSet/>
      <dgm:spPr/>
    </dgm:pt>
    <dgm:pt modelId="{C3D79CAD-4686-4AD0-B746-2BC60E0C468B}">
      <dgm:prSet phldrT="[Text]" phldr="0"/>
      <dgm:spPr/>
      <dgm:t>
        <a:bodyPr/>
        <a:lstStyle/>
        <a:p>
          <a:pPr rtl="0"/>
          <a:endParaRPr lang="en-US">
            <a:latin typeface="Calibri Light"/>
          </a:endParaRPr>
        </a:p>
      </dgm:t>
    </dgm:pt>
    <dgm:pt modelId="{7457189A-F18C-466D-8A80-B09578249F29}" type="parTrans" cxnId="{7DEF672B-A041-4C81-A3E1-BE0D89CA283C}">
      <dgm:prSet/>
      <dgm:spPr/>
    </dgm:pt>
    <dgm:pt modelId="{0C58111A-6DEC-4AA6-B10F-0B757754114B}" type="sibTrans" cxnId="{7DEF672B-A041-4C81-A3E1-BE0D89CA283C}">
      <dgm:prSet/>
      <dgm:spPr/>
    </dgm:pt>
    <dgm:pt modelId="{90E8712B-8F4E-42BC-8EBA-3254150F567C}">
      <dgm:prSet phldrT="[Text]" phldr="0"/>
      <dgm:spPr/>
      <dgm:t>
        <a:bodyPr/>
        <a:lstStyle/>
        <a:p>
          <a:pPr rtl="0"/>
          <a:r>
            <a:rPr lang="en-US" sz="2200">
              <a:latin typeface="Calibri Light"/>
            </a:rPr>
            <a:t> </a:t>
          </a:r>
          <a:endParaRPr lang="en-US">
            <a:latin typeface="Calibri Light"/>
          </a:endParaRPr>
        </a:p>
      </dgm:t>
    </dgm:pt>
    <dgm:pt modelId="{2C300C1C-BAA9-4728-BD1A-EBF6E6BF6E9B}" type="parTrans" cxnId="{EB3237DE-BB51-4E93-8DD6-541065A4D767}">
      <dgm:prSet/>
      <dgm:spPr/>
    </dgm:pt>
    <dgm:pt modelId="{9426C464-5332-40D1-BDD9-3864DF553FAB}" type="sibTrans" cxnId="{EB3237DE-BB51-4E93-8DD6-541065A4D767}">
      <dgm:prSet/>
      <dgm:spPr/>
    </dgm:pt>
    <dgm:pt modelId="{7F925077-9D92-4AD3-B55D-50B7CCE8D75E}">
      <dgm:prSet phldrT="[Text]" phldr="0"/>
      <dgm:spPr/>
      <dgm:t>
        <a:bodyPr/>
        <a:lstStyle/>
        <a:p>
          <a:pPr rtl="0"/>
          <a:r>
            <a:rPr lang="en-US" sz="1400">
              <a:latin typeface="Calibri Light"/>
            </a:rPr>
            <a:t>  </a:t>
          </a:r>
          <a:r>
            <a:rPr lang="en-US" sz="1100" b="1">
              <a:latin typeface="Segoe UI"/>
              <a:cs typeface="Segoe UI"/>
            </a:rPr>
            <a:t>Automated Refinement Loop</a:t>
          </a:r>
          <a:br>
            <a:rPr lang="en-US" sz="1100" b="1">
              <a:latin typeface="Segoe UI"/>
              <a:cs typeface="Segoe UI"/>
            </a:rPr>
          </a:br>
          <a:r>
            <a:rPr lang="en-US" sz="1100" b="1">
              <a:latin typeface="Segoe UI"/>
              <a:cs typeface="Segoe UI"/>
            </a:rPr>
            <a:t> Verification failures help refine unclear requirements</a:t>
          </a:r>
          <a:endParaRPr lang="en-US" sz="1100">
            <a:latin typeface="Segoe UI"/>
            <a:cs typeface="Segoe UI"/>
          </a:endParaRPr>
        </a:p>
      </dgm:t>
    </dgm:pt>
    <dgm:pt modelId="{DE0B2D6C-1295-4295-9C50-A91CA97789D2}" type="parTrans" cxnId="{F6F3B797-CC9B-4ED4-A4F9-42AFABE3C631}">
      <dgm:prSet/>
      <dgm:spPr/>
    </dgm:pt>
    <dgm:pt modelId="{E25DFF55-BB2D-4B5D-AAA7-5D10267DEB7A}" type="sibTrans" cxnId="{F6F3B797-CC9B-4ED4-A4F9-42AFABE3C631}">
      <dgm:prSet/>
      <dgm:spPr/>
    </dgm:pt>
    <dgm:pt modelId="{92144ACB-BD7C-4E73-A371-068CEA035246}">
      <dgm:prSet phldrT="[Text]" phldr="0"/>
      <dgm:spPr/>
      <dgm:t>
        <a:bodyPr/>
        <a:lstStyle/>
        <a:p>
          <a:pPr rtl="0"/>
          <a:r>
            <a:rPr lang="en-US" sz="2200">
              <a:latin typeface="Calibri Light"/>
            </a:rPr>
            <a:t> </a:t>
          </a:r>
          <a:endParaRPr lang="en-US" sz="2200"/>
        </a:p>
      </dgm:t>
    </dgm:pt>
    <dgm:pt modelId="{7BFCF59F-0911-43C1-B728-207F4D0C2F58}" type="parTrans" cxnId="{634354A3-3401-480D-95F3-AAA2468FD709}">
      <dgm:prSet/>
      <dgm:spPr/>
    </dgm:pt>
    <dgm:pt modelId="{0F63E3C4-5FAC-46FA-8770-8E4D822CD25A}" type="sibTrans" cxnId="{634354A3-3401-480D-95F3-AAA2468FD709}">
      <dgm:prSet/>
      <dgm:spPr/>
    </dgm:pt>
    <dgm:pt modelId="{53C7FAA5-4E56-4331-A61B-7E06957F26A5}">
      <dgm:prSet phldrT="[Text]" phldr="0"/>
      <dgm:spPr/>
      <dgm:t>
        <a:bodyPr/>
        <a:lstStyle/>
        <a:p>
          <a:pPr algn="l" rtl="0"/>
          <a:r>
            <a:rPr lang="en-US" sz="1800">
              <a:latin typeface="Calibri Light"/>
            </a:rPr>
            <a:t> </a:t>
          </a:r>
          <a:r>
            <a:rPr lang="en-US" sz="1100" b="1">
              <a:latin typeface="Segoe UI"/>
              <a:cs typeface="Segoe UI"/>
            </a:rPr>
            <a:t>Cost-Efficient &amp; Scalable</a:t>
          </a:r>
          <a:br>
            <a:rPr lang="en-US" sz="1100" b="1">
              <a:latin typeface="Segoe UI"/>
              <a:cs typeface="Segoe UI"/>
            </a:rPr>
          </a:br>
          <a:r>
            <a:rPr lang="en-US" sz="1100" b="1">
              <a:latin typeface="Segoe UI"/>
              <a:cs typeface="Segoe UI"/>
            </a:rPr>
            <a:t> Generic LLMs + fast automated verification</a:t>
          </a:r>
          <a:endParaRPr lang="en-US" sz="1100">
            <a:latin typeface="Segoe UI"/>
            <a:cs typeface="Segoe UI"/>
          </a:endParaRPr>
        </a:p>
      </dgm:t>
    </dgm:pt>
    <dgm:pt modelId="{0A257CB3-454D-4CAA-9057-C80504F0184A}" type="parTrans" cxnId="{7A5FDEC2-BE7B-4298-B323-805B3D593B5C}">
      <dgm:prSet/>
      <dgm:spPr/>
    </dgm:pt>
    <dgm:pt modelId="{423F5BD8-B707-44D9-9EC3-B154864B4CE6}" type="sibTrans" cxnId="{7A5FDEC2-BE7B-4298-B323-805B3D593B5C}">
      <dgm:prSet/>
      <dgm:spPr/>
    </dgm:pt>
    <dgm:pt modelId="{369145DB-4AD4-4949-B8EE-D880F7510681}">
      <dgm:prSet phldrT="[Text]" phldr="0"/>
      <dgm:spPr/>
      <dgm:t>
        <a:bodyPr/>
        <a:lstStyle/>
        <a:p>
          <a:endParaRPr lang="en-US"/>
        </a:p>
      </dgm:t>
    </dgm:pt>
    <dgm:pt modelId="{E6AF846B-15B2-478C-964F-9C38A84A4E29}" type="parTrans" cxnId="{EE90F4AE-7EFE-46DD-B5B0-4CCD8BF2DFA8}">
      <dgm:prSet/>
      <dgm:spPr/>
    </dgm:pt>
    <dgm:pt modelId="{F510B1F2-D26B-4A72-A715-D953C5596FE4}" type="sibTrans" cxnId="{EE90F4AE-7EFE-46DD-B5B0-4CCD8BF2DFA8}">
      <dgm:prSet/>
      <dgm:spPr/>
    </dgm:pt>
    <dgm:pt modelId="{E2F4E435-052E-46D0-BCD5-A3CEABD43BFD}">
      <dgm:prSet phldrT="[Text]" phldr="0"/>
      <dgm:spPr/>
      <dgm:t>
        <a:bodyPr/>
        <a:lstStyle/>
        <a:p>
          <a:pPr rtl="0"/>
          <a:endParaRPr lang="en-US" sz="1800" b="0">
            <a:latin typeface="Segoe UI"/>
            <a:cs typeface="Segoe UI"/>
          </a:endParaRPr>
        </a:p>
      </dgm:t>
    </dgm:pt>
    <dgm:pt modelId="{344EE762-CD1D-4EF9-AFDB-CD5F23CD48C2}" type="parTrans" cxnId="{4D4A1722-0F85-4EF2-A8AC-723BB9F4206D}">
      <dgm:prSet/>
      <dgm:spPr/>
    </dgm:pt>
    <dgm:pt modelId="{DD2578BA-8316-423D-98BE-3EF2C3F95984}" type="sibTrans" cxnId="{4D4A1722-0F85-4EF2-A8AC-723BB9F4206D}">
      <dgm:prSet/>
      <dgm:spPr/>
    </dgm:pt>
    <dgm:pt modelId="{05BC303C-115A-4A6A-BADE-FCD0D6226DB0}">
      <dgm:prSet phldrT="[Text]" phldr="0" custT="1"/>
      <dgm:spPr/>
      <dgm:t>
        <a:bodyPr/>
        <a:lstStyle/>
        <a:p>
          <a:pPr algn="l" rtl="0"/>
          <a:r>
            <a:rPr lang="en-US" sz="1600" b="1">
              <a:solidFill>
                <a:schemeClr val="bg1"/>
              </a:solidFill>
              <a:latin typeface="Segoe UI"/>
              <a:ea typeface="Calibri"/>
              <a:cs typeface="Segoe UI"/>
            </a:rPr>
            <a:t>Verification using Lean for proof-based reasoning</a:t>
          </a:r>
          <a:br>
            <a:rPr lang="en-US" sz="1600" b="1">
              <a:solidFill>
                <a:schemeClr val="bg1"/>
              </a:solidFill>
              <a:latin typeface="Segoe UI"/>
              <a:ea typeface="Calibri"/>
              <a:cs typeface="Segoe UI"/>
            </a:rPr>
          </a:br>
          <a:r>
            <a:rPr lang="en-US" sz="1600" b="1">
              <a:solidFill>
                <a:schemeClr val="bg1"/>
              </a:solidFill>
              <a:latin typeface="Segoe UI"/>
              <a:ea typeface="Calibri"/>
              <a:cs typeface="Segoe UI"/>
            </a:rPr>
            <a:t> Z3 for constraint solving</a:t>
          </a:r>
        </a:p>
      </dgm:t>
    </dgm:pt>
    <dgm:pt modelId="{1B6F1747-802E-4CEE-86C3-75CDCD0EF47B}" type="parTrans" cxnId="{DDBEF6AA-0108-4143-8B1C-EA6D55B61067}">
      <dgm:prSet/>
      <dgm:spPr/>
    </dgm:pt>
    <dgm:pt modelId="{4B67CC1A-5876-431B-A559-9C263F293E12}" type="sibTrans" cxnId="{DDBEF6AA-0108-4143-8B1C-EA6D55B61067}">
      <dgm:prSet/>
      <dgm:spPr/>
    </dgm:pt>
    <dgm:pt modelId="{BA8CFCFD-C556-4DC1-9B7C-19CFCFE7F0E3}">
      <dgm:prSet phldrT="[Text]" phldr="0"/>
      <dgm:spPr/>
      <dgm:t>
        <a:bodyPr/>
        <a:lstStyle/>
        <a:p>
          <a:endParaRPr lang="en-US" sz="1400" b="1">
            <a:latin typeface="Calibri Light"/>
            <a:ea typeface="Calibri Light"/>
            <a:cs typeface="Calibri Light"/>
          </a:endParaRPr>
        </a:p>
      </dgm:t>
    </dgm:pt>
    <dgm:pt modelId="{B9F9AA33-F6E6-4738-8422-9AAA6D9E5E07}" type="parTrans" cxnId="{5F8BCC29-51E3-45FA-9C57-3237818170D9}">
      <dgm:prSet/>
      <dgm:spPr/>
    </dgm:pt>
    <dgm:pt modelId="{C2BFD58E-D72A-43BF-BDB0-80A5B0A6C84F}" type="sibTrans" cxnId="{5F8BCC29-51E3-45FA-9C57-3237818170D9}">
      <dgm:prSet/>
      <dgm:spPr/>
    </dgm:pt>
    <dgm:pt modelId="{F5AE91C5-1D51-4A4D-A27F-BA197FE5A4D1}">
      <dgm:prSet phldrT="[Text]" phldr="0"/>
      <dgm:spPr/>
      <dgm:t>
        <a:bodyPr/>
        <a:lstStyle/>
        <a:p>
          <a:endParaRPr lang="en-US" sz="1400" b="1">
            <a:latin typeface="Calibri Light"/>
            <a:ea typeface="Calibri Light"/>
            <a:cs typeface="Calibri Light"/>
          </a:endParaRPr>
        </a:p>
      </dgm:t>
    </dgm:pt>
    <dgm:pt modelId="{52B75AA3-041F-4242-AA6A-474019E3DE55}" type="parTrans" cxnId="{F96AFA67-A717-4775-83CA-11122E6CA1F5}">
      <dgm:prSet/>
      <dgm:spPr/>
    </dgm:pt>
    <dgm:pt modelId="{A28A2818-00B3-4E65-93FD-C0265D198AB4}" type="sibTrans" cxnId="{F96AFA67-A717-4775-83CA-11122E6CA1F5}">
      <dgm:prSet/>
      <dgm:spPr/>
    </dgm:pt>
    <dgm:pt modelId="{60467AEE-C4CA-4340-854D-37F28FE953B1}">
      <dgm:prSet phldrT="[Text]" phldr="0"/>
      <dgm:spPr/>
      <dgm:t>
        <a:bodyPr/>
        <a:lstStyle/>
        <a:p>
          <a:endParaRPr lang="en-US" sz="1400" b="0">
            <a:solidFill>
              <a:srgbClr val="000000"/>
            </a:solidFill>
            <a:latin typeface="Segoe UI"/>
            <a:ea typeface="Calibri"/>
            <a:cs typeface="Segoe UI"/>
          </a:endParaRPr>
        </a:p>
      </dgm:t>
    </dgm:pt>
    <dgm:pt modelId="{9E24D785-780C-44E2-8621-706F4BC79531}" type="parTrans" cxnId="{7C16221C-AA3B-44F8-9685-4A201FE0DAFA}">
      <dgm:prSet/>
      <dgm:spPr/>
    </dgm:pt>
    <dgm:pt modelId="{C1BA9100-2C11-43DE-ABDB-B4747DD08BBE}" type="sibTrans" cxnId="{7C16221C-AA3B-44F8-9685-4A201FE0DAFA}">
      <dgm:prSet/>
      <dgm:spPr/>
    </dgm:pt>
    <dgm:pt modelId="{2F312F91-06F6-4975-A750-767AF1708D0D}">
      <dgm:prSet phldrT="[Text]" phldr="0"/>
      <dgm:spPr/>
      <dgm:t>
        <a:bodyPr/>
        <a:lstStyle/>
        <a:p>
          <a:endParaRPr lang="en-US" sz="1400" b="0">
            <a:solidFill>
              <a:srgbClr val="000000"/>
            </a:solidFill>
            <a:latin typeface="Segoe UI"/>
            <a:ea typeface="Calibri"/>
            <a:cs typeface="Segoe UI"/>
          </a:endParaRPr>
        </a:p>
      </dgm:t>
    </dgm:pt>
    <dgm:pt modelId="{EAB6D54E-2427-49FA-ADD9-C91BF6C2441D}" type="parTrans" cxnId="{468D5087-C1D1-4DB8-BBB1-47B851D92D0B}">
      <dgm:prSet/>
      <dgm:spPr/>
    </dgm:pt>
    <dgm:pt modelId="{21A8ABBF-08F2-46EC-BBC6-DE8EC49436BB}" type="sibTrans" cxnId="{468D5087-C1D1-4DB8-BBB1-47B851D92D0B}">
      <dgm:prSet/>
      <dgm:spPr/>
    </dgm:pt>
    <dgm:pt modelId="{18F81E4A-33CF-4DE6-BCEF-3DFE7C99138B}">
      <dgm:prSet phldrT="[Text]" phldr="0"/>
      <dgm:spPr/>
      <dgm:t>
        <a:bodyPr/>
        <a:lstStyle/>
        <a:p>
          <a:endParaRPr lang="en-US" sz="1400">
            <a:latin typeface="Calibri Light"/>
          </a:endParaRPr>
        </a:p>
      </dgm:t>
    </dgm:pt>
    <dgm:pt modelId="{D10C613F-4EDC-469A-B175-96E688068D79}" type="parTrans" cxnId="{A778AE4D-1900-4B1B-80C1-1F5FF1C09FD7}">
      <dgm:prSet/>
      <dgm:spPr/>
    </dgm:pt>
    <dgm:pt modelId="{3C067028-5A74-4935-82B6-92A8A6C1892C}" type="sibTrans" cxnId="{A778AE4D-1900-4B1B-80C1-1F5FF1C09FD7}">
      <dgm:prSet/>
      <dgm:spPr/>
    </dgm:pt>
    <dgm:pt modelId="{5F67F15A-E67B-45B5-8920-D4C79DCF6924}">
      <dgm:prSet phldrT="[Text]" phldr="0"/>
      <dgm:spPr/>
      <dgm:t>
        <a:bodyPr/>
        <a:lstStyle/>
        <a:p>
          <a:endParaRPr lang="en-US" sz="1400">
            <a:latin typeface="Calibri Light"/>
          </a:endParaRPr>
        </a:p>
      </dgm:t>
    </dgm:pt>
    <dgm:pt modelId="{9939C875-EF8A-489C-B416-29B2426F5047}" type="parTrans" cxnId="{2AEB763E-BAB6-4140-A605-8FCEA0BF9EE2}">
      <dgm:prSet/>
      <dgm:spPr/>
    </dgm:pt>
    <dgm:pt modelId="{0B0DC7A1-4293-4049-8913-F123161A5A09}" type="sibTrans" cxnId="{2AEB763E-BAB6-4140-A605-8FCEA0BF9EE2}">
      <dgm:prSet/>
      <dgm:spPr/>
    </dgm:pt>
    <dgm:pt modelId="{F34EC200-A450-4CD0-B5E3-8A5B890DD2BC}">
      <dgm:prSet phldrT="[Text]" phldr="0"/>
      <dgm:spPr/>
      <dgm:t>
        <a:bodyPr/>
        <a:lstStyle/>
        <a:p>
          <a:endParaRPr lang="en-US" sz="1800">
            <a:latin typeface="Calibri Light"/>
          </a:endParaRPr>
        </a:p>
      </dgm:t>
    </dgm:pt>
    <dgm:pt modelId="{5D3B827D-DDB4-478D-8431-655281602578}" type="parTrans" cxnId="{BAF63634-D306-4298-9FE1-ED5D502DCDB3}">
      <dgm:prSet/>
      <dgm:spPr/>
    </dgm:pt>
    <dgm:pt modelId="{95C01834-15E4-476D-A308-5ACFCC7D8526}" type="sibTrans" cxnId="{BAF63634-D306-4298-9FE1-ED5D502DCDB3}">
      <dgm:prSet/>
      <dgm:spPr/>
    </dgm:pt>
    <dgm:pt modelId="{65325725-3FA4-4303-8FD3-69653E5DB1D5}">
      <dgm:prSet phldrT="[Text]" phldr="0"/>
      <dgm:spPr/>
      <dgm:t>
        <a:bodyPr/>
        <a:lstStyle/>
        <a:p>
          <a:endParaRPr lang="en-US" sz="1800">
            <a:latin typeface="Calibri Light"/>
          </a:endParaRPr>
        </a:p>
      </dgm:t>
    </dgm:pt>
    <dgm:pt modelId="{8F9F2927-D9E4-46AF-863B-1E832D60187F}" type="parTrans" cxnId="{9EC7669F-D7FA-48DF-9BC0-A334ADFBD378}">
      <dgm:prSet/>
      <dgm:spPr/>
    </dgm:pt>
    <dgm:pt modelId="{519AE5BE-9D88-4BAE-938B-E5680175F110}" type="sibTrans" cxnId="{9EC7669F-D7FA-48DF-9BC0-A334ADFBD378}">
      <dgm:prSet/>
      <dgm:spPr/>
    </dgm:pt>
    <dgm:pt modelId="{F89995E4-8D80-457F-A990-1AEEDE17CF8C}">
      <dgm:prSet phldrT="[Text]" phldr="0"/>
      <dgm:spPr/>
      <dgm:t>
        <a:bodyPr/>
        <a:lstStyle/>
        <a:p>
          <a:endParaRPr lang="en-US" sz="1800">
            <a:latin typeface="Calibri Light"/>
          </a:endParaRPr>
        </a:p>
      </dgm:t>
    </dgm:pt>
    <dgm:pt modelId="{6091BF91-8CA9-4BD7-98CE-1DE090EB4E08}" type="parTrans" cxnId="{59C4ED80-574B-44C6-8AFA-61FA8D70F869}">
      <dgm:prSet/>
      <dgm:spPr/>
    </dgm:pt>
    <dgm:pt modelId="{8E9DBFD2-A38E-460D-A4EA-181F41BE9D59}" type="sibTrans" cxnId="{59C4ED80-574B-44C6-8AFA-61FA8D70F869}">
      <dgm:prSet/>
      <dgm:spPr/>
    </dgm:pt>
    <dgm:pt modelId="{FAF56BFB-B7A7-49D2-9A75-E93FF12655B1}">
      <dgm:prSet phldrT="[Text]" phldr="0"/>
      <dgm:spPr/>
      <dgm:t>
        <a:bodyPr/>
        <a:lstStyle/>
        <a:p>
          <a:endParaRPr lang="en-US" sz="1800">
            <a:latin typeface="Calibri Light"/>
          </a:endParaRPr>
        </a:p>
      </dgm:t>
    </dgm:pt>
    <dgm:pt modelId="{FA4B0AE5-F490-494F-A064-5E9CF78B27C6}" type="parTrans" cxnId="{374C7AD1-A3B4-419D-9386-853DAC3047F3}">
      <dgm:prSet/>
      <dgm:spPr/>
    </dgm:pt>
    <dgm:pt modelId="{669287C7-95D9-4242-966B-92C6FB786128}" type="sibTrans" cxnId="{374C7AD1-A3B4-419D-9386-853DAC3047F3}">
      <dgm:prSet/>
      <dgm:spPr/>
    </dgm:pt>
    <dgm:pt modelId="{4F419DAC-B0B5-41AD-9143-6159AD07AD58}" type="pres">
      <dgm:prSet presAssocID="{DB4EF2BC-2530-4488-9BD0-99D1D5BD9E01}" presName="Name0" presStyleCnt="0">
        <dgm:presLayoutVars>
          <dgm:dir/>
          <dgm:animLvl val="lvl"/>
          <dgm:resizeHandles val="exact"/>
        </dgm:presLayoutVars>
      </dgm:prSet>
      <dgm:spPr/>
    </dgm:pt>
    <dgm:pt modelId="{71C569A6-9C65-4BF4-9DBF-A8C2B62BDFB1}" type="pres">
      <dgm:prSet presAssocID="{C7683AEC-5654-444B-AA39-60AFDE8D866B}" presName="compositeNode" presStyleCnt="0">
        <dgm:presLayoutVars>
          <dgm:bulletEnabled val="1"/>
        </dgm:presLayoutVars>
      </dgm:prSet>
      <dgm:spPr/>
    </dgm:pt>
    <dgm:pt modelId="{81FD4983-4EA9-4229-ACF7-86793C40B721}" type="pres">
      <dgm:prSet presAssocID="{C7683AEC-5654-444B-AA39-60AFDE8D866B}" presName="bgRect" presStyleLbl="node1" presStyleIdx="0" presStyleCnt="5"/>
      <dgm:spPr/>
    </dgm:pt>
    <dgm:pt modelId="{BDA7ADB1-404D-4BE0-A5DB-7CDC5BBCBB9C}" type="pres">
      <dgm:prSet presAssocID="{C7683AEC-5654-444B-AA39-60AFDE8D866B}" presName="parentNode" presStyleLbl="node1" presStyleIdx="0" presStyleCnt="5">
        <dgm:presLayoutVars>
          <dgm:chMax val="0"/>
          <dgm:bulletEnabled val="1"/>
        </dgm:presLayoutVars>
      </dgm:prSet>
      <dgm:spPr/>
    </dgm:pt>
    <dgm:pt modelId="{E027F01B-1442-4096-A7BD-AE6A138AAE2B}" type="pres">
      <dgm:prSet presAssocID="{C7683AEC-5654-444B-AA39-60AFDE8D866B}" presName="childNode" presStyleLbl="node1" presStyleIdx="0" presStyleCnt="5">
        <dgm:presLayoutVars>
          <dgm:bulletEnabled val="1"/>
        </dgm:presLayoutVars>
      </dgm:prSet>
      <dgm:spPr/>
    </dgm:pt>
    <dgm:pt modelId="{676DF43F-CAA3-4010-B00E-FF5E558D807A}" type="pres">
      <dgm:prSet presAssocID="{183CCA26-7A57-446E-9A09-403D89317796}" presName="hSp" presStyleCnt="0"/>
      <dgm:spPr/>
    </dgm:pt>
    <dgm:pt modelId="{495DCBE1-B9B1-4042-AF0C-AA54A0C9D755}" type="pres">
      <dgm:prSet presAssocID="{183CCA26-7A57-446E-9A09-403D89317796}" presName="vProcSp" presStyleCnt="0"/>
      <dgm:spPr/>
    </dgm:pt>
    <dgm:pt modelId="{D84F4B31-0A47-48C1-A941-0CDF890706D7}" type="pres">
      <dgm:prSet presAssocID="{183CCA26-7A57-446E-9A09-403D89317796}" presName="vSp1" presStyleCnt="0"/>
      <dgm:spPr/>
    </dgm:pt>
    <dgm:pt modelId="{CCCF6059-B0D6-461F-9E79-6E9B8E266509}" type="pres">
      <dgm:prSet presAssocID="{183CCA26-7A57-446E-9A09-403D89317796}" presName="simulatedConn" presStyleLbl="solidFgAcc1" presStyleIdx="0" presStyleCnt="4"/>
      <dgm:spPr/>
    </dgm:pt>
    <dgm:pt modelId="{30F2AFE0-8742-4429-9B3A-470F985412D2}" type="pres">
      <dgm:prSet presAssocID="{183CCA26-7A57-446E-9A09-403D89317796}" presName="vSp2" presStyleCnt="0"/>
      <dgm:spPr/>
    </dgm:pt>
    <dgm:pt modelId="{E06A0DF5-3C70-4CC3-9230-F7F4AB383C50}" type="pres">
      <dgm:prSet presAssocID="{183CCA26-7A57-446E-9A09-403D89317796}" presName="sibTrans" presStyleCnt="0"/>
      <dgm:spPr/>
    </dgm:pt>
    <dgm:pt modelId="{9BF9F60A-2A5F-497B-9B34-3B4351A4F566}" type="pres">
      <dgm:prSet presAssocID="{E2F4E435-052E-46D0-BCD5-A3CEABD43BFD}" presName="compositeNode" presStyleCnt="0">
        <dgm:presLayoutVars>
          <dgm:bulletEnabled val="1"/>
        </dgm:presLayoutVars>
      </dgm:prSet>
      <dgm:spPr/>
    </dgm:pt>
    <dgm:pt modelId="{15709E00-EC49-4DC7-86A7-035B2C5DC2F9}" type="pres">
      <dgm:prSet presAssocID="{E2F4E435-052E-46D0-BCD5-A3CEABD43BFD}" presName="bgRect" presStyleLbl="node1" presStyleIdx="1" presStyleCnt="5"/>
      <dgm:spPr/>
    </dgm:pt>
    <dgm:pt modelId="{F6FDDDDD-E393-40D9-8E2C-8448D69DA7C8}" type="pres">
      <dgm:prSet presAssocID="{E2F4E435-052E-46D0-BCD5-A3CEABD43BFD}" presName="parentNode" presStyleLbl="node1" presStyleIdx="1" presStyleCnt="5">
        <dgm:presLayoutVars>
          <dgm:chMax val="0"/>
          <dgm:bulletEnabled val="1"/>
        </dgm:presLayoutVars>
      </dgm:prSet>
      <dgm:spPr/>
    </dgm:pt>
    <dgm:pt modelId="{D90FCAD1-96D9-48E6-B60D-92704E3D6288}" type="pres">
      <dgm:prSet presAssocID="{E2F4E435-052E-46D0-BCD5-A3CEABD43BFD}" presName="childNode" presStyleLbl="node1" presStyleIdx="1" presStyleCnt="5">
        <dgm:presLayoutVars>
          <dgm:bulletEnabled val="1"/>
        </dgm:presLayoutVars>
      </dgm:prSet>
      <dgm:spPr/>
    </dgm:pt>
    <dgm:pt modelId="{B8E59346-1737-4F64-AFFF-07B4B95A44B0}" type="pres">
      <dgm:prSet presAssocID="{DD2578BA-8316-423D-98BE-3EF2C3F95984}" presName="hSp" presStyleCnt="0"/>
      <dgm:spPr/>
    </dgm:pt>
    <dgm:pt modelId="{5F28690F-7A54-43B7-820F-3F60492B1272}" type="pres">
      <dgm:prSet presAssocID="{DD2578BA-8316-423D-98BE-3EF2C3F95984}" presName="vProcSp" presStyleCnt="0"/>
      <dgm:spPr/>
    </dgm:pt>
    <dgm:pt modelId="{5B6CE506-1173-4FC4-94D9-BA0BED89428B}" type="pres">
      <dgm:prSet presAssocID="{DD2578BA-8316-423D-98BE-3EF2C3F95984}" presName="vSp1" presStyleCnt="0"/>
      <dgm:spPr/>
    </dgm:pt>
    <dgm:pt modelId="{4F0FDF45-B9A6-4959-92C0-119B1EFEA345}" type="pres">
      <dgm:prSet presAssocID="{DD2578BA-8316-423D-98BE-3EF2C3F95984}" presName="simulatedConn" presStyleLbl="solidFgAcc1" presStyleIdx="1" presStyleCnt="4"/>
      <dgm:spPr/>
    </dgm:pt>
    <dgm:pt modelId="{E9A605DE-9D5D-42C2-ABA7-BAA86448B6E2}" type="pres">
      <dgm:prSet presAssocID="{DD2578BA-8316-423D-98BE-3EF2C3F95984}" presName="vSp2" presStyleCnt="0"/>
      <dgm:spPr/>
    </dgm:pt>
    <dgm:pt modelId="{6A09D049-7F7F-4848-B9C3-0EB927547EC0}" type="pres">
      <dgm:prSet presAssocID="{DD2578BA-8316-423D-98BE-3EF2C3F95984}" presName="sibTrans" presStyleCnt="0"/>
      <dgm:spPr/>
    </dgm:pt>
    <dgm:pt modelId="{39EA4C9B-EAF7-48E3-B02C-CD0F9410B7A7}" type="pres">
      <dgm:prSet presAssocID="{C3D79CAD-4686-4AD0-B746-2BC60E0C468B}" presName="compositeNode" presStyleCnt="0">
        <dgm:presLayoutVars>
          <dgm:bulletEnabled val="1"/>
        </dgm:presLayoutVars>
      </dgm:prSet>
      <dgm:spPr/>
    </dgm:pt>
    <dgm:pt modelId="{B31EB655-71F3-4471-B6C1-EF8F1166194B}" type="pres">
      <dgm:prSet presAssocID="{C3D79CAD-4686-4AD0-B746-2BC60E0C468B}" presName="bgRect" presStyleLbl="node1" presStyleIdx="2" presStyleCnt="5"/>
      <dgm:spPr/>
    </dgm:pt>
    <dgm:pt modelId="{70C902A2-7572-45BC-90BD-ED34BD17756D}" type="pres">
      <dgm:prSet presAssocID="{C3D79CAD-4686-4AD0-B746-2BC60E0C468B}" presName="parentNode" presStyleLbl="node1" presStyleIdx="2" presStyleCnt="5">
        <dgm:presLayoutVars>
          <dgm:chMax val="0"/>
          <dgm:bulletEnabled val="1"/>
        </dgm:presLayoutVars>
      </dgm:prSet>
      <dgm:spPr/>
    </dgm:pt>
    <dgm:pt modelId="{DE672490-EDD0-44B4-855D-A067A1957C83}" type="pres">
      <dgm:prSet presAssocID="{C3D79CAD-4686-4AD0-B746-2BC60E0C468B}" presName="childNode" presStyleLbl="node1" presStyleIdx="2" presStyleCnt="5">
        <dgm:presLayoutVars>
          <dgm:bulletEnabled val="1"/>
        </dgm:presLayoutVars>
      </dgm:prSet>
      <dgm:spPr/>
    </dgm:pt>
    <dgm:pt modelId="{1B662098-EBD5-4C0C-88EF-AC867A2A8814}" type="pres">
      <dgm:prSet presAssocID="{0C58111A-6DEC-4AA6-B10F-0B757754114B}" presName="hSp" presStyleCnt="0"/>
      <dgm:spPr/>
    </dgm:pt>
    <dgm:pt modelId="{77FBA34A-EF46-4FDC-913A-758FBBD69AB7}" type="pres">
      <dgm:prSet presAssocID="{0C58111A-6DEC-4AA6-B10F-0B757754114B}" presName="vProcSp" presStyleCnt="0"/>
      <dgm:spPr/>
    </dgm:pt>
    <dgm:pt modelId="{165C644C-E24A-41DD-990E-482EDAC31E4B}" type="pres">
      <dgm:prSet presAssocID="{0C58111A-6DEC-4AA6-B10F-0B757754114B}" presName="vSp1" presStyleCnt="0"/>
      <dgm:spPr/>
    </dgm:pt>
    <dgm:pt modelId="{961CC94E-B3E7-475A-A28B-67419BD538DD}" type="pres">
      <dgm:prSet presAssocID="{0C58111A-6DEC-4AA6-B10F-0B757754114B}" presName="simulatedConn" presStyleLbl="solidFgAcc1" presStyleIdx="2" presStyleCnt="4"/>
      <dgm:spPr/>
    </dgm:pt>
    <dgm:pt modelId="{A6AD9EE8-1D2B-4E65-AB48-A771E456935C}" type="pres">
      <dgm:prSet presAssocID="{0C58111A-6DEC-4AA6-B10F-0B757754114B}" presName="vSp2" presStyleCnt="0"/>
      <dgm:spPr/>
    </dgm:pt>
    <dgm:pt modelId="{C269E896-294A-4418-BDC8-3C5A39B728FD}" type="pres">
      <dgm:prSet presAssocID="{0C58111A-6DEC-4AA6-B10F-0B757754114B}" presName="sibTrans" presStyleCnt="0"/>
      <dgm:spPr/>
    </dgm:pt>
    <dgm:pt modelId="{41D8906A-2E68-48AC-8D0E-5865A0401240}" type="pres">
      <dgm:prSet presAssocID="{90E8712B-8F4E-42BC-8EBA-3254150F567C}" presName="compositeNode" presStyleCnt="0">
        <dgm:presLayoutVars>
          <dgm:bulletEnabled val="1"/>
        </dgm:presLayoutVars>
      </dgm:prSet>
      <dgm:spPr/>
    </dgm:pt>
    <dgm:pt modelId="{96725F8B-66ED-47AE-B593-6739792A4951}" type="pres">
      <dgm:prSet presAssocID="{90E8712B-8F4E-42BC-8EBA-3254150F567C}" presName="bgRect" presStyleLbl="node1" presStyleIdx="3" presStyleCnt="5"/>
      <dgm:spPr/>
    </dgm:pt>
    <dgm:pt modelId="{58324B45-1915-4EF1-93D1-0FC56C7AF523}" type="pres">
      <dgm:prSet presAssocID="{90E8712B-8F4E-42BC-8EBA-3254150F567C}" presName="parentNode" presStyleLbl="node1" presStyleIdx="3" presStyleCnt="5">
        <dgm:presLayoutVars>
          <dgm:chMax val="0"/>
          <dgm:bulletEnabled val="1"/>
        </dgm:presLayoutVars>
      </dgm:prSet>
      <dgm:spPr/>
    </dgm:pt>
    <dgm:pt modelId="{2308CB15-473E-4DF9-A17A-8CC15124A1C1}" type="pres">
      <dgm:prSet presAssocID="{90E8712B-8F4E-42BC-8EBA-3254150F567C}" presName="childNode" presStyleLbl="node1" presStyleIdx="3" presStyleCnt="5">
        <dgm:presLayoutVars>
          <dgm:bulletEnabled val="1"/>
        </dgm:presLayoutVars>
      </dgm:prSet>
      <dgm:spPr/>
    </dgm:pt>
    <dgm:pt modelId="{BCA15A86-F6E0-4703-A8DB-4B6354025266}" type="pres">
      <dgm:prSet presAssocID="{9426C464-5332-40D1-BDD9-3864DF553FAB}" presName="hSp" presStyleCnt="0"/>
      <dgm:spPr/>
    </dgm:pt>
    <dgm:pt modelId="{6251ECB3-28D0-4C03-943F-E4BB0291E803}" type="pres">
      <dgm:prSet presAssocID="{9426C464-5332-40D1-BDD9-3864DF553FAB}" presName="vProcSp" presStyleCnt="0"/>
      <dgm:spPr/>
    </dgm:pt>
    <dgm:pt modelId="{B292EEF2-4D6C-42C9-8178-BDCD8BE28A11}" type="pres">
      <dgm:prSet presAssocID="{9426C464-5332-40D1-BDD9-3864DF553FAB}" presName="vSp1" presStyleCnt="0"/>
      <dgm:spPr/>
    </dgm:pt>
    <dgm:pt modelId="{98053944-CC0A-4EEA-968B-0AC0BFD657C2}" type="pres">
      <dgm:prSet presAssocID="{9426C464-5332-40D1-BDD9-3864DF553FAB}" presName="simulatedConn" presStyleLbl="solidFgAcc1" presStyleIdx="3" presStyleCnt="4"/>
      <dgm:spPr/>
    </dgm:pt>
    <dgm:pt modelId="{58299C37-3781-4571-A098-05C3DD3927A5}" type="pres">
      <dgm:prSet presAssocID="{9426C464-5332-40D1-BDD9-3864DF553FAB}" presName="vSp2" presStyleCnt="0"/>
      <dgm:spPr/>
    </dgm:pt>
    <dgm:pt modelId="{849536A5-B6CD-4104-91D7-A2038F9C4022}" type="pres">
      <dgm:prSet presAssocID="{9426C464-5332-40D1-BDD9-3864DF553FAB}" presName="sibTrans" presStyleCnt="0"/>
      <dgm:spPr/>
    </dgm:pt>
    <dgm:pt modelId="{3B5029A3-7762-42DD-BDB8-36D20E8FF9D8}" type="pres">
      <dgm:prSet presAssocID="{92144ACB-BD7C-4E73-A371-068CEA035246}" presName="compositeNode" presStyleCnt="0">
        <dgm:presLayoutVars>
          <dgm:bulletEnabled val="1"/>
        </dgm:presLayoutVars>
      </dgm:prSet>
      <dgm:spPr/>
    </dgm:pt>
    <dgm:pt modelId="{25394455-84A8-40AA-8C0A-BEFB9E46793A}" type="pres">
      <dgm:prSet presAssocID="{92144ACB-BD7C-4E73-A371-068CEA035246}" presName="bgRect" presStyleLbl="node1" presStyleIdx="4" presStyleCnt="5"/>
      <dgm:spPr/>
    </dgm:pt>
    <dgm:pt modelId="{0D51821A-2694-4A54-B244-2BB184EAE2F4}" type="pres">
      <dgm:prSet presAssocID="{92144ACB-BD7C-4E73-A371-068CEA035246}" presName="parentNode" presStyleLbl="node1" presStyleIdx="4" presStyleCnt="5">
        <dgm:presLayoutVars>
          <dgm:chMax val="0"/>
          <dgm:bulletEnabled val="1"/>
        </dgm:presLayoutVars>
      </dgm:prSet>
      <dgm:spPr/>
    </dgm:pt>
    <dgm:pt modelId="{F83D11EE-68C9-4650-80AD-E2C2AE5643F4}" type="pres">
      <dgm:prSet presAssocID="{92144ACB-BD7C-4E73-A371-068CEA035246}" presName="childNode" presStyleLbl="node1" presStyleIdx="4" presStyleCnt="5">
        <dgm:presLayoutVars>
          <dgm:bulletEnabled val="1"/>
        </dgm:presLayoutVars>
      </dgm:prSet>
      <dgm:spPr/>
    </dgm:pt>
  </dgm:ptLst>
  <dgm:cxnLst>
    <dgm:cxn modelId="{A584EC0D-49AF-4F21-AF7C-1FE28E1C8237}" type="presOf" srcId="{DB4EF2BC-2530-4488-9BD0-99D1D5BD9E01}" destId="{4F419DAC-B0B5-41AD-9143-6159AD07AD58}" srcOrd="0" destOrd="0" presId="urn:microsoft.com/office/officeart/2005/8/layout/hProcess7"/>
    <dgm:cxn modelId="{06A05F10-9FC5-463E-A76A-AEDC6C5812D4}" type="presOf" srcId="{846F2470-3053-4D2D-ADDE-165D23A2443E}" destId="{E027F01B-1442-4096-A7BD-AE6A138AAE2B}" srcOrd="0" destOrd="2" presId="urn:microsoft.com/office/officeart/2005/8/layout/hProcess7"/>
    <dgm:cxn modelId="{A2C93911-7104-4098-B4DF-EC682B27079A}" type="presOf" srcId="{90E8712B-8F4E-42BC-8EBA-3254150F567C}" destId="{58324B45-1915-4EF1-93D1-0FC56C7AF523}" srcOrd="1" destOrd="0" presId="urn:microsoft.com/office/officeart/2005/8/layout/hProcess7"/>
    <dgm:cxn modelId="{DB411618-5F14-4E8A-A8C4-81E74ADCB3F5}" srcId="{DB4EF2BC-2530-4488-9BD0-99D1D5BD9E01}" destId="{C7683AEC-5654-444B-AA39-60AFDE8D866B}" srcOrd="0" destOrd="0" parTransId="{6B9197A7-E828-43BF-AD87-E269D22C99AE}" sibTransId="{183CCA26-7A57-446E-9A09-403D89317796}"/>
    <dgm:cxn modelId="{7C16221C-AA3B-44F8-9685-4A201FE0DAFA}" srcId="{E2F4E435-052E-46D0-BCD5-A3CEABD43BFD}" destId="{60467AEE-C4CA-4340-854D-37F28FE953B1}" srcOrd="0" destOrd="0" parTransId="{9E24D785-780C-44E2-8621-706F4BC79531}" sibTransId="{C1BA9100-2C11-43DE-ABDB-B4747DD08BBE}"/>
    <dgm:cxn modelId="{4F1F9A1F-C30B-4C3C-B54A-BBED52092613}" type="presOf" srcId="{C7683AEC-5654-444B-AA39-60AFDE8D866B}" destId="{81FD4983-4EA9-4229-ACF7-86793C40B721}" srcOrd="0" destOrd="0" presId="urn:microsoft.com/office/officeart/2005/8/layout/hProcess7"/>
    <dgm:cxn modelId="{4D4A1722-0F85-4EF2-A8AC-723BB9F4206D}" srcId="{DB4EF2BC-2530-4488-9BD0-99D1D5BD9E01}" destId="{E2F4E435-052E-46D0-BCD5-A3CEABD43BFD}" srcOrd="1" destOrd="0" parTransId="{344EE762-CD1D-4EF9-AFDB-CD5F23CD48C2}" sibTransId="{DD2578BA-8316-423D-98BE-3EF2C3F95984}"/>
    <dgm:cxn modelId="{A8D02E26-6B72-4240-A0CD-F36657722A4E}" type="presOf" srcId="{2F312F91-06F6-4975-A750-767AF1708D0D}" destId="{D90FCAD1-96D9-48E6-B60D-92704E3D6288}" srcOrd="0" destOrd="1" presId="urn:microsoft.com/office/officeart/2005/8/layout/hProcess7"/>
    <dgm:cxn modelId="{9D7A8E29-E5E3-4523-A23B-9DBEFD38FFF1}" type="presOf" srcId="{E2F4E435-052E-46D0-BCD5-A3CEABD43BFD}" destId="{F6FDDDDD-E393-40D9-8E2C-8448D69DA7C8}" srcOrd="1" destOrd="0" presId="urn:microsoft.com/office/officeart/2005/8/layout/hProcess7"/>
    <dgm:cxn modelId="{5F8BCC29-51E3-45FA-9C57-3237818170D9}" srcId="{C7683AEC-5654-444B-AA39-60AFDE8D866B}" destId="{BA8CFCFD-C556-4DC1-9B7C-19CFCFE7F0E3}" srcOrd="0" destOrd="0" parTransId="{B9F9AA33-F6E6-4738-8422-9AAA6D9E5E07}" sibTransId="{C2BFD58E-D72A-43BF-BDB0-80A5B0A6C84F}"/>
    <dgm:cxn modelId="{7DEF672B-A041-4C81-A3E1-BE0D89CA283C}" srcId="{DB4EF2BC-2530-4488-9BD0-99D1D5BD9E01}" destId="{C3D79CAD-4686-4AD0-B746-2BC60E0C468B}" srcOrd="2" destOrd="0" parTransId="{7457189A-F18C-466D-8A80-B09578249F29}" sibTransId="{0C58111A-6DEC-4AA6-B10F-0B757754114B}"/>
    <dgm:cxn modelId="{03BF8B2B-AF8C-4583-BE7D-88831B0A3DAE}" type="presOf" srcId="{05BC303C-115A-4A6A-BADE-FCD0D6226DB0}" destId="{D90FCAD1-96D9-48E6-B60D-92704E3D6288}" srcOrd="0" destOrd="2" presId="urn:microsoft.com/office/officeart/2005/8/layout/hProcess7"/>
    <dgm:cxn modelId="{46A2E82B-BD62-49C1-A7AA-3D3E795AC294}" type="presOf" srcId="{60467AEE-C4CA-4340-854D-37F28FE953B1}" destId="{D90FCAD1-96D9-48E6-B60D-92704E3D6288}" srcOrd="0" destOrd="0" presId="urn:microsoft.com/office/officeart/2005/8/layout/hProcess7"/>
    <dgm:cxn modelId="{1554232F-B58A-4227-9E72-E852AF3741D5}" type="presOf" srcId="{F5AE91C5-1D51-4A4D-A27F-BA197FE5A4D1}" destId="{E027F01B-1442-4096-A7BD-AE6A138AAE2B}" srcOrd="0" destOrd="1" presId="urn:microsoft.com/office/officeart/2005/8/layout/hProcess7"/>
    <dgm:cxn modelId="{BAF63634-D306-4298-9FE1-ED5D502DCDB3}" srcId="{90E8712B-8F4E-42BC-8EBA-3254150F567C}" destId="{F34EC200-A450-4CD0-B5E3-8A5B890DD2BC}" srcOrd="0" destOrd="0" parTransId="{5D3B827D-DDB4-478D-8431-655281602578}" sibTransId="{95C01834-15E4-476D-A308-5ACFCC7D8526}"/>
    <dgm:cxn modelId="{A231BC39-4D84-464D-AA50-369544001D53}" type="presOf" srcId="{F89995E4-8D80-457F-A990-1AEEDE17CF8C}" destId="{F83D11EE-68C9-4650-80AD-E2C2AE5643F4}" srcOrd="0" destOrd="0" presId="urn:microsoft.com/office/officeart/2005/8/layout/hProcess7"/>
    <dgm:cxn modelId="{5017163D-61E9-4CE6-B144-5AC0A5E2BFE6}" type="presOf" srcId="{C3D79CAD-4686-4AD0-B746-2BC60E0C468B}" destId="{B31EB655-71F3-4471-B6C1-EF8F1166194B}" srcOrd="0" destOrd="0" presId="urn:microsoft.com/office/officeart/2005/8/layout/hProcess7"/>
    <dgm:cxn modelId="{2AEB763E-BAB6-4140-A605-8FCEA0BF9EE2}" srcId="{C3D79CAD-4686-4AD0-B746-2BC60E0C468B}" destId="{5F67F15A-E67B-45B5-8920-D4C79DCF6924}" srcOrd="1" destOrd="0" parTransId="{9939C875-EF8A-489C-B416-29B2426F5047}" sibTransId="{0B0DC7A1-4293-4049-8913-F123161A5A09}"/>
    <dgm:cxn modelId="{AD46C461-C84D-45EC-A5B4-4F2C9A842C78}" type="presOf" srcId="{C7683AEC-5654-444B-AA39-60AFDE8D866B}" destId="{BDA7ADB1-404D-4BE0-A5DB-7CDC5BBCBB9C}" srcOrd="1" destOrd="0" presId="urn:microsoft.com/office/officeart/2005/8/layout/hProcess7"/>
    <dgm:cxn modelId="{BDF9D761-E8BD-48D5-9713-89B7B73CA9EE}" type="presOf" srcId="{BA8CFCFD-C556-4DC1-9B7C-19CFCFE7F0E3}" destId="{E027F01B-1442-4096-A7BD-AE6A138AAE2B}" srcOrd="0" destOrd="0" presId="urn:microsoft.com/office/officeart/2005/8/layout/hProcess7"/>
    <dgm:cxn modelId="{F96AFA67-A717-4775-83CA-11122E6CA1F5}" srcId="{C7683AEC-5654-444B-AA39-60AFDE8D866B}" destId="{F5AE91C5-1D51-4A4D-A27F-BA197FE5A4D1}" srcOrd="1" destOrd="0" parTransId="{52B75AA3-041F-4242-AA6A-474019E3DE55}" sibTransId="{A28A2818-00B3-4E65-93FD-C0265D198AB4}"/>
    <dgm:cxn modelId="{72C4E748-3E4D-4A7B-B26F-E8AC25BE95C2}" type="presOf" srcId="{53C7FAA5-4E56-4331-A61B-7E06957F26A5}" destId="{F83D11EE-68C9-4650-80AD-E2C2AE5643F4}" srcOrd="0" destOrd="2" presId="urn:microsoft.com/office/officeart/2005/8/layout/hProcess7"/>
    <dgm:cxn modelId="{35264F6A-0D49-4118-94A2-4A94032687C2}" type="presOf" srcId="{92144ACB-BD7C-4E73-A371-068CEA035246}" destId="{25394455-84A8-40AA-8C0A-BEFB9E46793A}" srcOrd="0" destOrd="0" presId="urn:microsoft.com/office/officeart/2005/8/layout/hProcess7"/>
    <dgm:cxn modelId="{A778AE4D-1900-4B1B-80C1-1F5FF1C09FD7}" srcId="{C3D79CAD-4686-4AD0-B746-2BC60E0C468B}" destId="{18F81E4A-33CF-4DE6-BCEF-3DFE7C99138B}" srcOrd="0" destOrd="0" parTransId="{D10C613F-4EDC-469A-B175-96E688068D79}" sibTransId="{3C067028-5A74-4935-82B6-92A8A6C1892C}"/>
    <dgm:cxn modelId="{7EB53953-C6BD-4699-9856-37C7F13863FF}" srcId="{C3D79CAD-4686-4AD0-B746-2BC60E0C468B}" destId="{1D2092FF-3859-4833-A7C7-809AA7498BDF}" srcOrd="2" destOrd="0" parTransId="{CE533BCC-9CDE-4CFB-9800-D98BED9952B2}" sibTransId="{D4DCFF5F-CD1A-46BF-B0D6-951C097D790B}"/>
    <dgm:cxn modelId="{BBA0367B-8F0B-41B0-8447-4184D2D6F193}" type="presOf" srcId="{1D2092FF-3859-4833-A7C7-809AA7498BDF}" destId="{DE672490-EDD0-44B4-855D-A067A1957C83}" srcOrd="0" destOrd="2" presId="urn:microsoft.com/office/officeart/2005/8/layout/hProcess7"/>
    <dgm:cxn modelId="{59C4ED80-574B-44C6-8AFA-61FA8D70F869}" srcId="{92144ACB-BD7C-4E73-A371-068CEA035246}" destId="{F89995E4-8D80-457F-A990-1AEEDE17CF8C}" srcOrd="0" destOrd="0" parTransId="{6091BF91-8CA9-4BD7-98CE-1DE090EB4E08}" sibTransId="{8E9DBFD2-A38E-460D-A4EA-181F41BE9D59}"/>
    <dgm:cxn modelId="{468D5087-C1D1-4DB8-BBB1-47B851D92D0B}" srcId="{E2F4E435-052E-46D0-BCD5-A3CEABD43BFD}" destId="{2F312F91-06F6-4975-A750-767AF1708D0D}" srcOrd="1" destOrd="0" parTransId="{EAB6D54E-2427-49FA-ADD9-C91BF6C2441D}" sibTransId="{21A8ABBF-08F2-46EC-BBC6-DE8EC49436BB}"/>
    <dgm:cxn modelId="{F8124F8C-2A58-4EE9-881D-5DF29529C48F}" type="presOf" srcId="{FAF56BFB-B7A7-49D2-9A75-E93FF12655B1}" destId="{F83D11EE-68C9-4650-80AD-E2C2AE5643F4}" srcOrd="0" destOrd="1" presId="urn:microsoft.com/office/officeart/2005/8/layout/hProcess7"/>
    <dgm:cxn modelId="{BFC50392-7F6A-4952-A9E6-02C0BFACE917}" type="presOf" srcId="{C3D79CAD-4686-4AD0-B746-2BC60E0C468B}" destId="{70C902A2-7572-45BC-90BD-ED34BD17756D}" srcOrd="1" destOrd="0" presId="urn:microsoft.com/office/officeart/2005/8/layout/hProcess7"/>
    <dgm:cxn modelId="{F6F3B797-CC9B-4ED4-A4F9-42AFABE3C631}" srcId="{90E8712B-8F4E-42BC-8EBA-3254150F567C}" destId="{7F925077-9D92-4AD3-B55D-50B7CCE8D75E}" srcOrd="2" destOrd="0" parTransId="{DE0B2D6C-1295-4295-9C50-A91CA97789D2}" sibTransId="{E25DFF55-BB2D-4B5D-AAA7-5D10267DEB7A}"/>
    <dgm:cxn modelId="{5DE5D09C-9448-4E0F-A33B-3ABDB7EED496}" type="presOf" srcId="{7F925077-9D92-4AD3-B55D-50B7CCE8D75E}" destId="{2308CB15-473E-4DF9-A17A-8CC15124A1C1}" srcOrd="0" destOrd="2" presId="urn:microsoft.com/office/officeart/2005/8/layout/hProcess7"/>
    <dgm:cxn modelId="{9EC7669F-D7FA-48DF-9BC0-A334ADFBD378}" srcId="{90E8712B-8F4E-42BC-8EBA-3254150F567C}" destId="{65325725-3FA4-4303-8FD3-69653E5DB1D5}" srcOrd="1" destOrd="0" parTransId="{8F9F2927-D9E4-46AF-863B-1E832D60187F}" sibTransId="{519AE5BE-9D88-4BAE-938B-E5680175F110}"/>
    <dgm:cxn modelId="{4BDA01A0-7D0B-4E2E-BFB5-0937A87513A0}" type="presOf" srcId="{369145DB-4AD4-4949-B8EE-D880F7510681}" destId="{F83D11EE-68C9-4650-80AD-E2C2AE5643F4}" srcOrd="0" destOrd="3" presId="urn:microsoft.com/office/officeart/2005/8/layout/hProcess7"/>
    <dgm:cxn modelId="{634354A3-3401-480D-95F3-AAA2468FD709}" srcId="{DB4EF2BC-2530-4488-9BD0-99D1D5BD9E01}" destId="{92144ACB-BD7C-4E73-A371-068CEA035246}" srcOrd="4" destOrd="0" parTransId="{7BFCF59F-0911-43C1-B728-207F4D0C2F58}" sibTransId="{0F63E3C4-5FAC-46FA-8770-8E4D822CD25A}"/>
    <dgm:cxn modelId="{DDBEF6AA-0108-4143-8B1C-EA6D55B61067}" srcId="{E2F4E435-052E-46D0-BCD5-A3CEABD43BFD}" destId="{05BC303C-115A-4A6A-BADE-FCD0D6226DB0}" srcOrd="2" destOrd="0" parTransId="{1B6F1747-802E-4CEE-86C3-75CDCD0EF47B}" sibTransId="{4B67CC1A-5876-431B-A559-9C263F293E12}"/>
    <dgm:cxn modelId="{EE90F4AE-7EFE-46DD-B5B0-4CCD8BF2DFA8}" srcId="{92144ACB-BD7C-4E73-A371-068CEA035246}" destId="{369145DB-4AD4-4949-B8EE-D880F7510681}" srcOrd="3" destOrd="0" parTransId="{E6AF846B-15B2-478C-964F-9C38A84A4E29}" sibTransId="{F510B1F2-D26B-4A72-A715-D953C5596FE4}"/>
    <dgm:cxn modelId="{7A5FDEC2-BE7B-4298-B323-805B3D593B5C}" srcId="{92144ACB-BD7C-4E73-A371-068CEA035246}" destId="{53C7FAA5-4E56-4331-A61B-7E06957F26A5}" srcOrd="2" destOrd="0" parTransId="{0A257CB3-454D-4CAA-9057-C80504F0184A}" sibTransId="{423F5BD8-B707-44D9-9EC3-B154864B4CE6}"/>
    <dgm:cxn modelId="{DC217BC7-682A-4A2F-A6A0-55243CEC15EA}" type="presOf" srcId="{5F67F15A-E67B-45B5-8920-D4C79DCF6924}" destId="{DE672490-EDD0-44B4-855D-A067A1957C83}" srcOrd="0" destOrd="1" presId="urn:microsoft.com/office/officeart/2005/8/layout/hProcess7"/>
    <dgm:cxn modelId="{C0172CCF-673A-4814-8916-7E5C03F3E4DD}" type="presOf" srcId="{E2F4E435-052E-46D0-BCD5-A3CEABD43BFD}" destId="{15709E00-EC49-4DC7-86A7-035B2C5DC2F9}" srcOrd="0" destOrd="0" presId="urn:microsoft.com/office/officeart/2005/8/layout/hProcess7"/>
    <dgm:cxn modelId="{374C7AD1-A3B4-419D-9386-853DAC3047F3}" srcId="{92144ACB-BD7C-4E73-A371-068CEA035246}" destId="{FAF56BFB-B7A7-49D2-9A75-E93FF12655B1}" srcOrd="1" destOrd="0" parTransId="{FA4B0AE5-F490-494F-A064-5E9CF78B27C6}" sibTransId="{669287C7-95D9-4242-966B-92C6FB786128}"/>
    <dgm:cxn modelId="{673B07D4-E211-4585-8C5D-1DC43C228C2C}" type="presOf" srcId="{18F81E4A-33CF-4DE6-BCEF-3DFE7C99138B}" destId="{DE672490-EDD0-44B4-855D-A067A1957C83}" srcOrd="0" destOrd="0" presId="urn:microsoft.com/office/officeart/2005/8/layout/hProcess7"/>
    <dgm:cxn modelId="{D07671D9-BA88-42D8-A496-5D988BA1734F}" type="presOf" srcId="{90E8712B-8F4E-42BC-8EBA-3254150F567C}" destId="{96725F8B-66ED-47AE-B593-6739792A4951}" srcOrd="0" destOrd="0" presId="urn:microsoft.com/office/officeart/2005/8/layout/hProcess7"/>
    <dgm:cxn modelId="{EB3237DE-BB51-4E93-8DD6-541065A4D767}" srcId="{DB4EF2BC-2530-4488-9BD0-99D1D5BD9E01}" destId="{90E8712B-8F4E-42BC-8EBA-3254150F567C}" srcOrd="3" destOrd="0" parTransId="{2C300C1C-BAA9-4728-BD1A-EBF6E6BF6E9B}" sibTransId="{9426C464-5332-40D1-BDD9-3864DF553FAB}"/>
    <dgm:cxn modelId="{FE4680E0-FA2B-4DF0-A2D5-3C467915903D}" type="presOf" srcId="{F34EC200-A450-4CD0-B5E3-8A5B890DD2BC}" destId="{2308CB15-473E-4DF9-A17A-8CC15124A1C1}" srcOrd="0" destOrd="0" presId="urn:microsoft.com/office/officeart/2005/8/layout/hProcess7"/>
    <dgm:cxn modelId="{588E96EC-15FD-47ED-8865-1FFEABE446FC}" type="presOf" srcId="{65325725-3FA4-4303-8FD3-69653E5DB1D5}" destId="{2308CB15-473E-4DF9-A17A-8CC15124A1C1}" srcOrd="0" destOrd="1" presId="urn:microsoft.com/office/officeart/2005/8/layout/hProcess7"/>
    <dgm:cxn modelId="{AC2C4AF5-EB8E-4D85-9307-5DE8B596172E}" type="presOf" srcId="{92144ACB-BD7C-4E73-A371-068CEA035246}" destId="{0D51821A-2694-4A54-B244-2BB184EAE2F4}" srcOrd="1" destOrd="0" presId="urn:microsoft.com/office/officeart/2005/8/layout/hProcess7"/>
    <dgm:cxn modelId="{6685E8F6-DB36-468E-A429-A7BE0FEE2234}" srcId="{C7683AEC-5654-444B-AA39-60AFDE8D866B}" destId="{846F2470-3053-4D2D-ADDE-165D23A2443E}" srcOrd="2" destOrd="0" parTransId="{026FCB58-7D10-48DC-9B70-2B00CF4953F4}" sibTransId="{F2259793-0818-4E8F-A319-4468841D84BB}"/>
    <dgm:cxn modelId="{5524161F-8C21-4FE8-8208-12B797B0A6E4}" type="presParOf" srcId="{4F419DAC-B0B5-41AD-9143-6159AD07AD58}" destId="{71C569A6-9C65-4BF4-9DBF-A8C2B62BDFB1}" srcOrd="0" destOrd="0" presId="urn:microsoft.com/office/officeart/2005/8/layout/hProcess7"/>
    <dgm:cxn modelId="{34076AF3-2CCF-4DE7-9CB4-051E826A52B8}" type="presParOf" srcId="{71C569A6-9C65-4BF4-9DBF-A8C2B62BDFB1}" destId="{81FD4983-4EA9-4229-ACF7-86793C40B721}" srcOrd="0" destOrd="0" presId="urn:microsoft.com/office/officeart/2005/8/layout/hProcess7"/>
    <dgm:cxn modelId="{45168A6C-25E5-4B6A-B3F4-25F97F1ADC51}" type="presParOf" srcId="{71C569A6-9C65-4BF4-9DBF-A8C2B62BDFB1}" destId="{BDA7ADB1-404D-4BE0-A5DB-7CDC5BBCBB9C}" srcOrd="1" destOrd="0" presId="urn:microsoft.com/office/officeart/2005/8/layout/hProcess7"/>
    <dgm:cxn modelId="{DA50A392-3FC3-4792-B5A9-9A0C922C67E3}" type="presParOf" srcId="{71C569A6-9C65-4BF4-9DBF-A8C2B62BDFB1}" destId="{E027F01B-1442-4096-A7BD-AE6A138AAE2B}" srcOrd="2" destOrd="0" presId="urn:microsoft.com/office/officeart/2005/8/layout/hProcess7"/>
    <dgm:cxn modelId="{1A25DC48-0974-4BED-B67C-7E4837BF41ED}" type="presParOf" srcId="{4F419DAC-B0B5-41AD-9143-6159AD07AD58}" destId="{676DF43F-CAA3-4010-B00E-FF5E558D807A}" srcOrd="1" destOrd="0" presId="urn:microsoft.com/office/officeart/2005/8/layout/hProcess7"/>
    <dgm:cxn modelId="{9A13BB9F-153C-466E-9E6D-0836A8D605AA}" type="presParOf" srcId="{4F419DAC-B0B5-41AD-9143-6159AD07AD58}" destId="{495DCBE1-B9B1-4042-AF0C-AA54A0C9D755}" srcOrd="2" destOrd="0" presId="urn:microsoft.com/office/officeart/2005/8/layout/hProcess7"/>
    <dgm:cxn modelId="{8274BD48-BB8E-4183-AA9D-1DBC7ABCA912}" type="presParOf" srcId="{495DCBE1-B9B1-4042-AF0C-AA54A0C9D755}" destId="{D84F4B31-0A47-48C1-A941-0CDF890706D7}" srcOrd="0" destOrd="0" presId="urn:microsoft.com/office/officeart/2005/8/layout/hProcess7"/>
    <dgm:cxn modelId="{81036676-2F50-4EFD-9B5F-37C781A60C10}" type="presParOf" srcId="{495DCBE1-B9B1-4042-AF0C-AA54A0C9D755}" destId="{CCCF6059-B0D6-461F-9E79-6E9B8E266509}" srcOrd="1" destOrd="0" presId="urn:microsoft.com/office/officeart/2005/8/layout/hProcess7"/>
    <dgm:cxn modelId="{78592734-827A-4FCA-B317-A72E0BFAFE17}" type="presParOf" srcId="{495DCBE1-B9B1-4042-AF0C-AA54A0C9D755}" destId="{30F2AFE0-8742-4429-9B3A-470F985412D2}" srcOrd="2" destOrd="0" presId="urn:microsoft.com/office/officeart/2005/8/layout/hProcess7"/>
    <dgm:cxn modelId="{63F79DC3-D687-4D24-BA44-A8BB8BB0B25D}" type="presParOf" srcId="{4F419DAC-B0B5-41AD-9143-6159AD07AD58}" destId="{E06A0DF5-3C70-4CC3-9230-F7F4AB383C50}" srcOrd="3" destOrd="0" presId="urn:microsoft.com/office/officeart/2005/8/layout/hProcess7"/>
    <dgm:cxn modelId="{51ABE63E-B306-4C84-AC9C-488B814DA9F7}" type="presParOf" srcId="{4F419DAC-B0B5-41AD-9143-6159AD07AD58}" destId="{9BF9F60A-2A5F-497B-9B34-3B4351A4F566}" srcOrd="4" destOrd="0" presId="urn:microsoft.com/office/officeart/2005/8/layout/hProcess7"/>
    <dgm:cxn modelId="{574ECA5B-DEEE-451A-A4CE-6F9B47F45DCB}" type="presParOf" srcId="{9BF9F60A-2A5F-497B-9B34-3B4351A4F566}" destId="{15709E00-EC49-4DC7-86A7-035B2C5DC2F9}" srcOrd="0" destOrd="0" presId="urn:microsoft.com/office/officeart/2005/8/layout/hProcess7"/>
    <dgm:cxn modelId="{D4EA95BB-882A-484B-9E9C-9BF932714060}" type="presParOf" srcId="{9BF9F60A-2A5F-497B-9B34-3B4351A4F566}" destId="{F6FDDDDD-E393-40D9-8E2C-8448D69DA7C8}" srcOrd="1" destOrd="0" presId="urn:microsoft.com/office/officeart/2005/8/layout/hProcess7"/>
    <dgm:cxn modelId="{594ADA8C-CC8A-4F8C-BE38-5C13DD7DB716}" type="presParOf" srcId="{9BF9F60A-2A5F-497B-9B34-3B4351A4F566}" destId="{D90FCAD1-96D9-48E6-B60D-92704E3D6288}" srcOrd="2" destOrd="0" presId="urn:microsoft.com/office/officeart/2005/8/layout/hProcess7"/>
    <dgm:cxn modelId="{B54A9380-820D-4104-95F7-552E24015BFE}" type="presParOf" srcId="{4F419DAC-B0B5-41AD-9143-6159AD07AD58}" destId="{B8E59346-1737-4F64-AFFF-07B4B95A44B0}" srcOrd="5" destOrd="0" presId="urn:microsoft.com/office/officeart/2005/8/layout/hProcess7"/>
    <dgm:cxn modelId="{623FB01A-1F49-416F-BDE6-EA99A4DE1A98}" type="presParOf" srcId="{4F419DAC-B0B5-41AD-9143-6159AD07AD58}" destId="{5F28690F-7A54-43B7-820F-3F60492B1272}" srcOrd="6" destOrd="0" presId="urn:microsoft.com/office/officeart/2005/8/layout/hProcess7"/>
    <dgm:cxn modelId="{8607AA82-C1D6-411E-AA39-8FB4FD4A568C}" type="presParOf" srcId="{5F28690F-7A54-43B7-820F-3F60492B1272}" destId="{5B6CE506-1173-4FC4-94D9-BA0BED89428B}" srcOrd="0" destOrd="0" presId="urn:microsoft.com/office/officeart/2005/8/layout/hProcess7"/>
    <dgm:cxn modelId="{BDAFE0A0-D8E6-49D8-A3F3-661FFBB10956}" type="presParOf" srcId="{5F28690F-7A54-43B7-820F-3F60492B1272}" destId="{4F0FDF45-B9A6-4959-92C0-119B1EFEA345}" srcOrd="1" destOrd="0" presId="urn:microsoft.com/office/officeart/2005/8/layout/hProcess7"/>
    <dgm:cxn modelId="{A1A04A17-D0B0-4F2C-BC3D-EA25636B8665}" type="presParOf" srcId="{5F28690F-7A54-43B7-820F-3F60492B1272}" destId="{E9A605DE-9D5D-42C2-ABA7-BAA86448B6E2}" srcOrd="2" destOrd="0" presId="urn:microsoft.com/office/officeart/2005/8/layout/hProcess7"/>
    <dgm:cxn modelId="{71913847-C180-4B2A-8FBA-955A6B1A5BCB}" type="presParOf" srcId="{4F419DAC-B0B5-41AD-9143-6159AD07AD58}" destId="{6A09D049-7F7F-4848-B9C3-0EB927547EC0}" srcOrd="7" destOrd="0" presId="urn:microsoft.com/office/officeart/2005/8/layout/hProcess7"/>
    <dgm:cxn modelId="{AA05A384-6B59-4D35-84FB-B8672E390FA5}" type="presParOf" srcId="{4F419DAC-B0B5-41AD-9143-6159AD07AD58}" destId="{39EA4C9B-EAF7-48E3-B02C-CD0F9410B7A7}" srcOrd="8" destOrd="0" presId="urn:microsoft.com/office/officeart/2005/8/layout/hProcess7"/>
    <dgm:cxn modelId="{A5B5D915-E373-448D-B820-B59E365C9202}" type="presParOf" srcId="{39EA4C9B-EAF7-48E3-B02C-CD0F9410B7A7}" destId="{B31EB655-71F3-4471-B6C1-EF8F1166194B}" srcOrd="0" destOrd="0" presId="urn:microsoft.com/office/officeart/2005/8/layout/hProcess7"/>
    <dgm:cxn modelId="{4CD0AB21-25B0-4BD9-BEC6-65BE640CAD3F}" type="presParOf" srcId="{39EA4C9B-EAF7-48E3-B02C-CD0F9410B7A7}" destId="{70C902A2-7572-45BC-90BD-ED34BD17756D}" srcOrd="1" destOrd="0" presId="urn:microsoft.com/office/officeart/2005/8/layout/hProcess7"/>
    <dgm:cxn modelId="{D00F8D42-ED9F-4266-846D-5B7EE76F3894}" type="presParOf" srcId="{39EA4C9B-EAF7-48E3-B02C-CD0F9410B7A7}" destId="{DE672490-EDD0-44B4-855D-A067A1957C83}" srcOrd="2" destOrd="0" presId="urn:microsoft.com/office/officeart/2005/8/layout/hProcess7"/>
    <dgm:cxn modelId="{84141307-F9AE-4E40-805C-E1DACD8A55FA}" type="presParOf" srcId="{4F419DAC-B0B5-41AD-9143-6159AD07AD58}" destId="{1B662098-EBD5-4C0C-88EF-AC867A2A8814}" srcOrd="9" destOrd="0" presId="urn:microsoft.com/office/officeart/2005/8/layout/hProcess7"/>
    <dgm:cxn modelId="{D51A377C-14CD-4BD5-89CE-45FB57DA0098}" type="presParOf" srcId="{4F419DAC-B0B5-41AD-9143-6159AD07AD58}" destId="{77FBA34A-EF46-4FDC-913A-758FBBD69AB7}" srcOrd="10" destOrd="0" presId="urn:microsoft.com/office/officeart/2005/8/layout/hProcess7"/>
    <dgm:cxn modelId="{62AC3492-FBC5-495F-BDB7-13C272CF1527}" type="presParOf" srcId="{77FBA34A-EF46-4FDC-913A-758FBBD69AB7}" destId="{165C644C-E24A-41DD-990E-482EDAC31E4B}" srcOrd="0" destOrd="0" presId="urn:microsoft.com/office/officeart/2005/8/layout/hProcess7"/>
    <dgm:cxn modelId="{6631883B-E813-4C0B-8376-5AA35B096A9C}" type="presParOf" srcId="{77FBA34A-EF46-4FDC-913A-758FBBD69AB7}" destId="{961CC94E-B3E7-475A-A28B-67419BD538DD}" srcOrd="1" destOrd="0" presId="urn:microsoft.com/office/officeart/2005/8/layout/hProcess7"/>
    <dgm:cxn modelId="{8C071D1A-7076-423A-899F-AD0BB754BCFA}" type="presParOf" srcId="{77FBA34A-EF46-4FDC-913A-758FBBD69AB7}" destId="{A6AD9EE8-1D2B-4E65-AB48-A771E456935C}" srcOrd="2" destOrd="0" presId="urn:microsoft.com/office/officeart/2005/8/layout/hProcess7"/>
    <dgm:cxn modelId="{D6C94F98-E260-4F14-A26E-937C2F628132}" type="presParOf" srcId="{4F419DAC-B0B5-41AD-9143-6159AD07AD58}" destId="{C269E896-294A-4418-BDC8-3C5A39B728FD}" srcOrd="11" destOrd="0" presId="urn:microsoft.com/office/officeart/2005/8/layout/hProcess7"/>
    <dgm:cxn modelId="{B8CBAE1C-7CA4-47F5-92EE-0CC6DA104C19}" type="presParOf" srcId="{4F419DAC-B0B5-41AD-9143-6159AD07AD58}" destId="{41D8906A-2E68-48AC-8D0E-5865A0401240}" srcOrd="12" destOrd="0" presId="urn:microsoft.com/office/officeart/2005/8/layout/hProcess7"/>
    <dgm:cxn modelId="{4AFC1525-DAB3-47A4-9F0E-EA81EED15160}" type="presParOf" srcId="{41D8906A-2E68-48AC-8D0E-5865A0401240}" destId="{96725F8B-66ED-47AE-B593-6739792A4951}" srcOrd="0" destOrd="0" presId="urn:microsoft.com/office/officeart/2005/8/layout/hProcess7"/>
    <dgm:cxn modelId="{C9C39253-A9A5-43EA-9DE8-E80F9B867814}" type="presParOf" srcId="{41D8906A-2E68-48AC-8D0E-5865A0401240}" destId="{58324B45-1915-4EF1-93D1-0FC56C7AF523}" srcOrd="1" destOrd="0" presId="urn:microsoft.com/office/officeart/2005/8/layout/hProcess7"/>
    <dgm:cxn modelId="{9CD8231F-F574-4208-8463-977901BD4F7F}" type="presParOf" srcId="{41D8906A-2E68-48AC-8D0E-5865A0401240}" destId="{2308CB15-473E-4DF9-A17A-8CC15124A1C1}" srcOrd="2" destOrd="0" presId="urn:microsoft.com/office/officeart/2005/8/layout/hProcess7"/>
    <dgm:cxn modelId="{355C7DFB-D1DE-48E7-9525-EF586A083ED3}" type="presParOf" srcId="{4F419DAC-B0B5-41AD-9143-6159AD07AD58}" destId="{BCA15A86-F6E0-4703-A8DB-4B6354025266}" srcOrd="13" destOrd="0" presId="urn:microsoft.com/office/officeart/2005/8/layout/hProcess7"/>
    <dgm:cxn modelId="{8000222C-DEAC-4C4A-A7BA-DF3986794766}" type="presParOf" srcId="{4F419DAC-B0B5-41AD-9143-6159AD07AD58}" destId="{6251ECB3-28D0-4C03-943F-E4BB0291E803}" srcOrd="14" destOrd="0" presId="urn:microsoft.com/office/officeart/2005/8/layout/hProcess7"/>
    <dgm:cxn modelId="{4CF6D9BC-E213-4EF1-8C3F-1357AB445B36}" type="presParOf" srcId="{6251ECB3-28D0-4C03-943F-E4BB0291E803}" destId="{B292EEF2-4D6C-42C9-8178-BDCD8BE28A11}" srcOrd="0" destOrd="0" presId="urn:microsoft.com/office/officeart/2005/8/layout/hProcess7"/>
    <dgm:cxn modelId="{073D299B-74AC-4337-AD3A-FE65AB24EB9B}" type="presParOf" srcId="{6251ECB3-28D0-4C03-943F-E4BB0291E803}" destId="{98053944-CC0A-4EEA-968B-0AC0BFD657C2}" srcOrd="1" destOrd="0" presId="urn:microsoft.com/office/officeart/2005/8/layout/hProcess7"/>
    <dgm:cxn modelId="{A4769B7C-9D75-4AE8-8F95-5FAB5151C16F}" type="presParOf" srcId="{6251ECB3-28D0-4C03-943F-E4BB0291E803}" destId="{58299C37-3781-4571-A098-05C3DD3927A5}" srcOrd="2" destOrd="0" presId="urn:microsoft.com/office/officeart/2005/8/layout/hProcess7"/>
    <dgm:cxn modelId="{F636D775-C671-48A9-8D77-8A19268520F0}" type="presParOf" srcId="{4F419DAC-B0B5-41AD-9143-6159AD07AD58}" destId="{849536A5-B6CD-4104-91D7-A2038F9C4022}" srcOrd="15" destOrd="0" presId="urn:microsoft.com/office/officeart/2005/8/layout/hProcess7"/>
    <dgm:cxn modelId="{90884877-EDBC-4C5A-81F9-2DC2B908CE73}" type="presParOf" srcId="{4F419DAC-B0B5-41AD-9143-6159AD07AD58}" destId="{3B5029A3-7762-42DD-BDB8-36D20E8FF9D8}" srcOrd="16" destOrd="0" presId="urn:microsoft.com/office/officeart/2005/8/layout/hProcess7"/>
    <dgm:cxn modelId="{20D6CC14-389C-4CA3-90CE-BBF4F0523F7B}" type="presParOf" srcId="{3B5029A3-7762-42DD-BDB8-36D20E8FF9D8}" destId="{25394455-84A8-40AA-8C0A-BEFB9E46793A}" srcOrd="0" destOrd="0" presId="urn:microsoft.com/office/officeart/2005/8/layout/hProcess7"/>
    <dgm:cxn modelId="{00B280B8-52B0-4F78-948C-AAB9A9A7D8BC}" type="presParOf" srcId="{3B5029A3-7762-42DD-BDB8-36D20E8FF9D8}" destId="{0D51821A-2694-4A54-B244-2BB184EAE2F4}" srcOrd="1" destOrd="0" presId="urn:microsoft.com/office/officeart/2005/8/layout/hProcess7"/>
    <dgm:cxn modelId="{C054E377-B5C5-4021-AB8E-4FEB58AA9F07}" type="presParOf" srcId="{3B5029A3-7762-42DD-BDB8-36D20E8FF9D8}" destId="{F83D11EE-68C9-4650-80AD-E2C2AE5643F4}" srcOrd="2" destOrd="0" presId="urn:microsoft.com/office/officeart/2005/8/layout/hProcess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C56924E-B089-4657-AA0A-2E5B77F2C942}" type="doc">
      <dgm:prSet loTypeId="urn:microsoft.com/office/officeart/2005/8/layout/hList6" loCatId="list" qsTypeId="urn:microsoft.com/office/officeart/2005/8/quickstyle/simple1" qsCatId="simple" csTypeId="urn:microsoft.com/office/officeart/2005/8/colors/colorful1" csCatId="colorful" phldr="1"/>
      <dgm:spPr/>
      <dgm:t>
        <a:bodyPr/>
        <a:lstStyle/>
        <a:p>
          <a:endParaRPr lang="en-US"/>
        </a:p>
      </dgm:t>
    </dgm:pt>
    <dgm:pt modelId="{534CA98F-97B7-415F-8935-EB6D80DBD76D}">
      <dgm:prSet phldrT="[Text]" phldr="0"/>
      <dgm:spPr/>
      <dgm:t>
        <a:bodyPr/>
        <a:lstStyle/>
        <a:p>
          <a:pPr rtl="0"/>
          <a:r>
            <a:rPr lang="en-US" sz="1500" b="1">
              <a:latin typeface="Calibri Light"/>
            </a:rPr>
            <a:t>LLM output verification</a:t>
          </a:r>
          <a:endParaRPr lang="en-US" sz="1500">
            <a:latin typeface="Calibri Light"/>
          </a:endParaRPr>
        </a:p>
      </dgm:t>
    </dgm:pt>
    <dgm:pt modelId="{813AEFAD-F9E9-4949-9BBC-DAD26453F818}" type="parTrans" cxnId="{28B8ADE4-6FEA-4F6A-A8D2-1D8E80AE651A}">
      <dgm:prSet/>
      <dgm:spPr/>
    </dgm:pt>
    <dgm:pt modelId="{2C666F57-8CF1-4655-A149-32A9FAB1EA0A}" type="sibTrans" cxnId="{28B8ADE4-6FEA-4F6A-A8D2-1D8E80AE651A}">
      <dgm:prSet/>
      <dgm:spPr/>
    </dgm:pt>
    <dgm:pt modelId="{0F4D3F95-1372-4C87-896E-E5650553EF70}">
      <dgm:prSet phldrT="[Text]" phldr="0"/>
      <dgm:spPr/>
      <dgm:t>
        <a:bodyPr/>
        <a:lstStyle/>
        <a:p>
          <a:pPr rtl="0"/>
          <a:r>
            <a:rPr lang="en-US" sz="1500" b="1">
              <a:latin typeface="Calibri Light"/>
            </a:rPr>
            <a:t>Reasoning consistency</a:t>
          </a:r>
          <a:endParaRPr lang="en-US" sz="1500">
            <a:latin typeface="Calibri Light"/>
          </a:endParaRPr>
        </a:p>
      </dgm:t>
    </dgm:pt>
    <dgm:pt modelId="{490F36CB-31B7-49AE-B95F-49CE4C76895B}" type="parTrans" cxnId="{8D649B70-70F6-4467-B0F3-43F0DAB5790D}">
      <dgm:prSet/>
      <dgm:spPr/>
    </dgm:pt>
    <dgm:pt modelId="{29C5A49A-61AF-464D-87F1-76B14AC8CCEA}" type="sibTrans" cxnId="{8D649B70-70F6-4467-B0F3-43F0DAB5790D}">
      <dgm:prSet/>
      <dgm:spPr/>
    </dgm:pt>
    <dgm:pt modelId="{37BB8ECE-FF03-4319-861C-4FC975576758}">
      <dgm:prSet phldrT="[Text]" phldr="0"/>
      <dgm:spPr/>
      <dgm:t>
        <a:bodyPr/>
        <a:lstStyle/>
        <a:p>
          <a:pPr rtl="0"/>
          <a:r>
            <a:rPr lang="en-US" sz="1500" b="1">
              <a:latin typeface="Calibri Light"/>
            </a:rPr>
            <a:t>Agent guardrails</a:t>
          </a:r>
          <a:endParaRPr lang="en-US" sz="1500">
            <a:latin typeface="Calibri Light"/>
          </a:endParaRPr>
        </a:p>
      </dgm:t>
    </dgm:pt>
    <dgm:pt modelId="{2B5146D1-B1AE-491C-A8E9-E4BCF109985C}" type="parTrans" cxnId="{85D710B6-7080-40D2-A53F-957A4FE32296}">
      <dgm:prSet/>
      <dgm:spPr/>
    </dgm:pt>
    <dgm:pt modelId="{5210D941-F2DD-4A0C-B6B6-66C3C5142F31}" type="sibTrans" cxnId="{85D710B6-7080-40D2-A53F-957A4FE32296}">
      <dgm:prSet/>
      <dgm:spPr/>
    </dgm:pt>
    <dgm:pt modelId="{7EDD59B4-D97B-4821-9E06-BF09EEB468B6}">
      <dgm:prSet phldrT="[Text]" phldr="0"/>
      <dgm:spPr/>
      <dgm:t>
        <a:bodyPr/>
        <a:lstStyle/>
        <a:p>
          <a:pPr rtl="0"/>
          <a:r>
            <a:rPr lang="en-US" sz="1500" b="1">
              <a:latin typeface="Calibri Light"/>
            </a:rPr>
            <a:t>Domain libraries</a:t>
          </a:r>
          <a:endParaRPr lang="en-US" sz="1500">
            <a:latin typeface="Calibri Light"/>
          </a:endParaRPr>
        </a:p>
      </dgm:t>
    </dgm:pt>
    <dgm:pt modelId="{1BE4B0B0-69CB-45F5-BF72-80A4DC188971}" type="parTrans" cxnId="{EB29B03F-C6FB-4FD7-8886-08BC86D3E1CA}">
      <dgm:prSet/>
      <dgm:spPr/>
    </dgm:pt>
    <dgm:pt modelId="{5D537FE8-E045-4FB7-855C-8EB9A3D0270E}" type="sibTrans" cxnId="{EB29B03F-C6FB-4FD7-8886-08BC86D3E1CA}">
      <dgm:prSet/>
      <dgm:spPr/>
    </dgm:pt>
    <dgm:pt modelId="{AB7E6241-B4D1-4E97-9B32-51059429FDCF}">
      <dgm:prSet phldrT="[Text]" phldr="0"/>
      <dgm:spPr/>
      <dgm:t>
        <a:bodyPr/>
        <a:lstStyle/>
        <a:p>
          <a:pPr rtl="0"/>
          <a:r>
            <a:rPr lang="en-US" sz="1500" b="1">
              <a:latin typeface="Calibri Light"/>
            </a:rPr>
            <a:t>Learning loop</a:t>
          </a:r>
          <a:endParaRPr lang="en-US" sz="1500" b="0">
            <a:latin typeface="Calibri Light"/>
          </a:endParaRPr>
        </a:p>
      </dgm:t>
    </dgm:pt>
    <dgm:pt modelId="{7C3286E4-C85E-4970-984E-7ADB0A15DAF2}" type="parTrans" cxnId="{89D3319B-E8DC-407F-95E4-91D93868F6E1}">
      <dgm:prSet/>
      <dgm:spPr/>
    </dgm:pt>
    <dgm:pt modelId="{A717B5B3-9DED-4D75-B3B6-A7C6D597979E}" type="sibTrans" cxnId="{89D3319B-E8DC-407F-95E4-91D93868F6E1}">
      <dgm:prSet/>
      <dgm:spPr/>
    </dgm:pt>
    <dgm:pt modelId="{9E061411-4060-4389-BA69-66B6912978AA}">
      <dgm:prSet phldrT="[Text]" phldr="0"/>
      <dgm:spPr/>
      <dgm:t>
        <a:bodyPr/>
        <a:lstStyle/>
        <a:p>
          <a:pPr rtl="0"/>
          <a:r>
            <a:rPr lang="en-US" sz="1100" b="0">
              <a:latin typeface="Calibri"/>
              <a:ea typeface="Calibri"/>
              <a:cs typeface="Calibri"/>
            </a:rPr>
            <a:t>Later optimization </a:t>
          </a:r>
        </a:p>
      </dgm:t>
    </dgm:pt>
    <dgm:pt modelId="{21588AE1-EC2E-4FDE-8AF6-BC7964B56C87}" type="parTrans" cxnId="{675D8B66-687D-4BF4-B78A-B08558AFF27D}">
      <dgm:prSet/>
      <dgm:spPr/>
    </dgm:pt>
    <dgm:pt modelId="{AC6CF07C-2212-428E-87C2-4BDCDED012CC}" type="sibTrans" cxnId="{675D8B66-687D-4BF4-B78A-B08558AFF27D}">
      <dgm:prSet/>
      <dgm:spPr/>
    </dgm:pt>
    <dgm:pt modelId="{3245C91C-05C2-4255-9FDA-A7C636CBE45A}">
      <dgm:prSet phldrT="[Text]" phldr="0"/>
      <dgm:spPr/>
      <dgm:t>
        <a:bodyPr/>
        <a:lstStyle/>
        <a:p>
          <a:pPr rtl="0"/>
          <a:r>
            <a:rPr lang="en-US" sz="1100" b="0" err="1">
              <a:latin typeface="Calibri"/>
              <a:ea typeface="Calibri"/>
              <a:cs typeface="Calibri"/>
            </a:rPr>
            <a:t>Reduc</a:t>
          </a:r>
          <a:r>
            <a:rPr lang="en-US" sz="1100" b="0">
              <a:latin typeface="Calibri"/>
              <a:ea typeface="Calibri"/>
              <a:cs typeface="Calibri"/>
            </a:rPr>
            <a:t>e latency and bring </a:t>
          </a:r>
          <a:r>
            <a:rPr lang="en-US" sz="1100" b="0" err="1">
              <a:latin typeface="Calibri"/>
              <a:ea typeface="Calibri"/>
              <a:cs typeface="Calibri"/>
            </a:rPr>
            <a:t>ondevice</a:t>
          </a:r>
          <a:r>
            <a:rPr lang="en-US" sz="1100" b="0">
              <a:latin typeface="Calibri"/>
              <a:ea typeface="Calibri"/>
              <a:cs typeface="Calibri"/>
            </a:rPr>
            <a:t> capabilities using seq to seq approach.</a:t>
          </a:r>
        </a:p>
      </dgm:t>
    </dgm:pt>
    <dgm:pt modelId="{655D3F24-BCD9-4451-B269-05B35FBCA7CE}" type="parTrans" cxnId="{0540F72E-D2A2-47E7-BF50-1FB06DF65350}">
      <dgm:prSet/>
      <dgm:spPr/>
    </dgm:pt>
    <dgm:pt modelId="{D497FF14-D3F5-47DC-8EAF-81A147A47117}" type="sibTrans" cxnId="{0540F72E-D2A2-47E7-BF50-1FB06DF65350}">
      <dgm:prSet/>
      <dgm:spPr/>
    </dgm:pt>
    <dgm:pt modelId="{D9360900-57DE-46B4-B083-B30DF7255B94}">
      <dgm:prSet phldrT="[Text]" phldr="0"/>
      <dgm:spPr/>
      <dgm:t>
        <a:bodyPr/>
        <a:lstStyle/>
        <a:p>
          <a:pPr rtl="0"/>
          <a:r>
            <a:rPr lang="en-US" sz="1100">
              <a:latin typeface="Calibri Light"/>
            </a:rPr>
            <a:t>Convert critical claims into formal obligations before acceptance.</a:t>
          </a:r>
        </a:p>
      </dgm:t>
    </dgm:pt>
    <dgm:pt modelId="{8EB29788-793C-4B4E-9284-3B201148A98F}" type="parTrans" cxnId="{3A9EDB62-C4C5-4771-AC01-31A2757B7175}">
      <dgm:prSet/>
      <dgm:spPr/>
    </dgm:pt>
    <dgm:pt modelId="{A83EF69C-DEB9-44ED-AF0C-EE5318873AED}" type="sibTrans" cxnId="{3A9EDB62-C4C5-4771-AC01-31A2757B7175}">
      <dgm:prSet/>
      <dgm:spPr/>
    </dgm:pt>
    <dgm:pt modelId="{D10F8BFB-6739-4B94-B380-EC05D9E98D92}">
      <dgm:prSet phldrT="[Text]" phldr="0"/>
      <dgm:spPr/>
      <dgm:t>
        <a:bodyPr/>
        <a:lstStyle/>
        <a:p>
          <a:pPr rtl="0"/>
          <a:r>
            <a:rPr lang="en-US" sz="1100">
              <a:solidFill>
                <a:schemeClr val="bg1"/>
              </a:solidFill>
              <a:latin typeface="Calibri Light"/>
            </a:rPr>
            <a:t>Check whether conclusions logically follow from extracted premises.</a:t>
          </a:r>
        </a:p>
      </dgm:t>
    </dgm:pt>
    <dgm:pt modelId="{6B67E256-F843-4D5D-8F35-D4E45A9FCCB5}" type="parTrans" cxnId="{D45297FD-B0C7-4776-AB00-39B531167E8F}">
      <dgm:prSet/>
      <dgm:spPr/>
    </dgm:pt>
    <dgm:pt modelId="{F40BF68F-BBC7-4A2C-B4B2-14ACEB5B5F28}" type="sibTrans" cxnId="{D45297FD-B0C7-4776-AB00-39B531167E8F}">
      <dgm:prSet/>
      <dgm:spPr/>
    </dgm:pt>
    <dgm:pt modelId="{52481EA2-F742-4B1B-8F72-E2E39BB493FF}">
      <dgm:prSet phldrT="[Text]" phldr="0"/>
      <dgm:spPr/>
      <dgm:t>
        <a:bodyPr/>
        <a:lstStyle/>
        <a:p>
          <a:pPr rtl="0"/>
          <a:r>
            <a:rPr lang="en-US" sz="1100" b="0">
              <a:solidFill>
                <a:schemeClr val="bg1"/>
              </a:solidFill>
              <a:latin typeface="Calibri Light"/>
            </a:rPr>
            <a:t>Verify plans against policies, permissions and resource limits.</a:t>
          </a:r>
        </a:p>
      </dgm:t>
    </dgm:pt>
    <dgm:pt modelId="{ED6C4C20-27FB-4F35-A723-680AC523602F}" type="parTrans" cxnId="{CA726DD3-2CF3-4F96-981D-DE4DC8DBBBC2}">
      <dgm:prSet/>
      <dgm:spPr/>
    </dgm:pt>
    <dgm:pt modelId="{F5BD1DE1-14C2-4911-A6D9-44B9D796FA0F}" type="sibTrans" cxnId="{CA726DD3-2CF3-4F96-981D-DE4DC8DBBBC2}">
      <dgm:prSet/>
      <dgm:spPr/>
    </dgm:pt>
    <dgm:pt modelId="{2C448823-B31C-4E0B-9397-7EADB3B0F413}">
      <dgm:prSet phldrT="[Text]" phldr="0"/>
      <dgm:spPr/>
      <dgm:t>
        <a:bodyPr/>
        <a:lstStyle/>
        <a:p>
          <a:pPr rtl="0"/>
          <a:r>
            <a:rPr lang="en-US" sz="1100" b="0">
              <a:solidFill>
                <a:schemeClr val="bg1"/>
              </a:solidFill>
              <a:latin typeface="Calibri Light"/>
            </a:rPr>
            <a:t>Add reusable theorem templates for finance, safety, operations and compliance.</a:t>
          </a:r>
        </a:p>
      </dgm:t>
    </dgm:pt>
    <dgm:pt modelId="{2C865E0C-436B-421D-BBB6-D07FA73E8063}" type="parTrans" cxnId="{EBFD3186-4E76-4A1F-9E97-A63B9FF62FB5}">
      <dgm:prSet/>
      <dgm:spPr/>
    </dgm:pt>
    <dgm:pt modelId="{44E1B085-31B5-48BC-B092-D5135F1978EF}" type="sibTrans" cxnId="{EBFD3186-4E76-4A1F-9E97-A63B9FF62FB5}">
      <dgm:prSet/>
      <dgm:spPr/>
    </dgm:pt>
    <dgm:pt modelId="{253BA9A6-C836-486F-B0ED-DA12F8FDA816}">
      <dgm:prSet phldrT="[Text]" phldr="0"/>
      <dgm:spPr/>
      <dgm:t>
        <a:bodyPr/>
        <a:lstStyle/>
        <a:p>
          <a:pPr rtl="0"/>
          <a:r>
            <a:rPr lang="en-US" sz="1100" b="0">
              <a:solidFill>
                <a:schemeClr val="bg1"/>
              </a:solidFill>
              <a:latin typeface="Calibri Light"/>
            </a:rPr>
            <a:t>Use failed proofs to improve schemas, extraction prompts and test cases.</a:t>
          </a:r>
        </a:p>
      </dgm:t>
    </dgm:pt>
    <dgm:pt modelId="{0FA6F58D-B07B-485D-AECC-15A1FCED7516}" type="parTrans" cxnId="{13C32084-BDB9-4F88-A828-1C38CF7BD05A}">
      <dgm:prSet/>
      <dgm:spPr/>
    </dgm:pt>
    <dgm:pt modelId="{D87DB64B-CAF1-46C9-ADBD-B1C9BC2D7ED7}" type="sibTrans" cxnId="{13C32084-BDB9-4F88-A828-1C38CF7BD05A}">
      <dgm:prSet/>
      <dgm:spPr/>
    </dgm:pt>
    <dgm:pt modelId="{6CE0EAE0-498B-4FD9-B917-FB45E75230D4}" type="pres">
      <dgm:prSet presAssocID="{3C56924E-B089-4657-AA0A-2E5B77F2C942}" presName="Name0" presStyleCnt="0">
        <dgm:presLayoutVars>
          <dgm:dir/>
          <dgm:resizeHandles val="exact"/>
        </dgm:presLayoutVars>
      </dgm:prSet>
      <dgm:spPr/>
    </dgm:pt>
    <dgm:pt modelId="{F496281A-DDB7-475D-9C64-16831AAF4A20}" type="pres">
      <dgm:prSet presAssocID="{534CA98F-97B7-415F-8935-EB6D80DBD76D}" presName="node" presStyleLbl="node1" presStyleIdx="0" presStyleCnt="6">
        <dgm:presLayoutVars>
          <dgm:bulletEnabled val="1"/>
        </dgm:presLayoutVars>
      </dgm:prSet>
      <dgm:spPr/>
    </dgm:pt>
    <dgm:pt modelId="{7B36FA87-07C6-44C6-B10B-FDE8A79F3642}" type="pres">
      <dgm:prSet presAssocID="{2C666F57-8CF1-4655-A149-32A9FAB1EA0A}" presName="sibTrans" presStyleCnt="0"/>
      <dgm:spPr/>
    </dgm:pt>
    <dgm:pt modelId="{9FD4A71B-2E49-4668-AF22-FFE146F10750}" type="pres">
      <dgm:prSet presAssocID="{0F4D3F95-1372-4C87-896E-E5650553EF70}" presName="node" presStyleLbl="node1" presStyleIdx="1" presStyleCnt="6">
        <dgm:presLayoutVars>
          <dgm:bulletEnabled val="1"/>
        </dgm:presLayoutVars>
      </dgm:prSet>
      <dgm:spPr/>
    </dgm:pt>
    <dgm:pt modelId="{FD378629-D0B5-4FA8-9BCB-953B4831047E}" type="pres">
      <dgm:prSet presAssocID="{29C5A49A-61AF-464D-87F1-76B14AC8CCEA}" presName="sibTrans" presStyleCnt="0"/>
      <dgm:spPr/>
    </dgm:pt>
    <dgm:pt modelId="{14DCEF34-F8CB-4554-93A7-B6AB22B12752}" type="pres">
      <dgm:prSet presAssocID="{37BB8ECE-FF03-4319-861C-4FC975576758}" presName="node" presStyleLbl="node1" presStyleIdx="2" presStyleCnt="6">
        <dgm:presLayoutVars>
          <dgm:bulletEnabled val="1"/>
        </dgm:presLayoutVars>
      </dgm:prSet>
      <dgm:spPr/>
    </dgm:pt>
    <dgm:pt modelId="{B0294580-BB77-46AA-AE66-E08C8AEC7E4B}" type="pres">
      <dgm:prSet presAssocID="{5210D941-F2DD-4A0C-B6B6-66C3C5142F31}" presName="sibTrans" presStyleCnt="0"/>
      <dgm:spPr/>
    </dgm:pt>
    <dgm:pt modelId="{C18EDF56-7F6A-4E6B-9E18-FEAA543C4081}" type="pres">
      <dgm:prSet presAssocID="{7EDD59B4-D97B-4821-9E06-BF09EEB468B6}" presName="node" presStyleLbl="node1" presStyleIdx="3" presStyleCnt="6">
        <dgm:presLayoutVars>
          <dgm:bulletEnabled val="1"/>
        </dgm:presLayoutVars>
      </dgm:prSet>
      <dgm:spPr/>
    </dgm:pt>
    <dgm:pt modelId="{9764B962-4628-4B16-B4AB-F3917CB0727D}" type="pres">
      <dgm:prSet presAssocID="{5D537FE8-E045-4FB7-855C-8EB9A3D0270E}" presName="sibTrans" presStyleCnt="0"/>
      <dgm:spPr/>
    </dgm:pt>
    <dgm:pt modelId="{8212CEAC-A9DF-49CB-853E-E4973F4FA15D}" type="pres">
      <dgm:prSet presAssocID="{AB7E6241-B4D1-4E97-9B32-51059429FDCF}" presName="node" presStyleLbl="node1" presStyleIdx="4" presStyleCnt="6">
        <dgm:presLayoutVars>
          <dgm:bulletEnabled val="1"/>
        </dgm:presLayoutVars>
      </dgm:prSet>
      <dgm:spPr/>
    </dgm:pt>
    <dgm:pt modelId="{DD4C88C1-1864-4520-9B4B-A1351D18AB56}" type="pres">
      <dgm:prSet presAssocID="{A717B5B3-9DED-4D75-B3B6-A7C6D597979E}" presName="sibTrans" presStyleCnt="0"/>
      <dgm:spPr/>
    </dgm:pt>
    <dgm:pt modelId="{515054AB-6892-4C18-A6E7-6D09BD1F3A57}" type="pres">
      <dgm:prSet presAssocID="{9E061411-4060-4389-BA69-66B6912978AA}" presName="node" presStyleLbl="node1" presStyleIdx="5" presStyleCnt="6">
        <dgm:presLayoutVars>
          <dgm:bulletEnabled val="1"/>
        </dgm:presLayoutVars>
      </dgm:prSet>
      <dgm:spPr/>
    </dgm:pt>
  </dgm:ptLst>
  <dgm:cxnLst>
    <dgm:cxn modelId="{B6D39003-ECE4-44DA-985B-C681B695ADAD}" type="presOf" srcId="{3245C91C-05C2-4255-9FDA-A7C636CBE45A}" destId="{515054AB-6892-4C18-A6E7-6D09BD1F3A57}" srcOrd="0" destOrd="1" presId="urn:microsoft.com/office/officeart/2005/8/layout/hList6"/>
    <dgm:cxn modelId="{0540F72E-D2A2-47E7-BF50-1FB06DF65350}" srcId="{9E061411-4060-4389-BA69-66B6912978AA}" destId="{3245C91C-05C2-4255-9FDA-A7C636CBE45A}" srcOrd="0" destOrd="0" parTransId="{655D3F24-BCD9-4451-B269-05B35FBCA7CE}" sibTransId="{D497FF14-D3F5-47DC-8EAF-81A147A47117}"/>
    <dgm:cxn modelId="{FCC9023C-0B47-4D7F-AC6F-6D3824D4D958}" type="presOf" srcId="{534CA98F-97B7-415F-8935-EB6D80DBD76D}" destId="{F496281A-DDB7-475D-9C64-16831AAF4A20}" srcOrd="0" destOrd="0" presId="urn:microsoft.com/office/officeart/2005/8/layout/hList6"/>
    <dgm:cxn modelId="{EB29B03F-C6FB-4FD7-8886-08BC86D3E1CA}" srcId="{3C56924E-B089-4657-AA0A-2E5B77F2C942}" destId="{7EDD59B4-D97B-4821-9E06-BF09EEB468B6}" srcOrd="3" destOrd="0" parTransId="{1BE4B0B0-69CB-45F5-BF72-80A4DC188971}" sibTransId="{5D537FE8-E045-4FB7-855C-8EB9A3D0270E}"/>
    <dgm:cxn modelId="{24BA8E60-3C7F-4748-89D2-CA71A540A21A}" type="presOf" srcId="{9E061411-4060-4389-BA69-66B6912978AA}" destId="{515054AB-6892-4C18-A6E7-6D09BD1F3A57}" srcOrd="0" destOrd="0" presId="urn:microsoft.com/office/officeart/2005/8/layout/hList6"/>
    <dgm:cxn modelId="{3A9EDB62-C4C5-4771-AC01-31A2757B7175}" srcId="{534CA98F-97B7-415F-8935-EB6D80DBD76D}" destId="{D9360900-57DE-46B4-B083-B30DF7255B94}" srcOrd="0" destOrd="0" parTransId="{8EB29788-793C-4B4E-9284-3B201148A98F}" sibTransId="{A83EF69C-DEB9-44ED-AF0C-EE5318873AED}"/>
    <dgm:cxn modelId="{8682F362-1EF1-479E-9CA9-A33651E1588B}" type="presOf" srcId="{0F4D3F95-1372-4C87-896E-E5650553EF70}" destId="{9FD4A71B-2E49-4668-AF22-FFE146F10750}" srcOrd="0" destOrd="0" presId="urn:microsoft.com/office/officeart/2005/8/layout/hList6"/>
    <dgm:cxn modelId="{675D8B66-687D-4BF4-B78A-B08558AFF27D}" srcId="{3C56924E-B089-4657-AA0A-2E5B77F2C942}" destId="{9E061411-4060-4389-BA69-66B6912978AA}" srcOrd="5" destOrd="0" parTransId="{21588AE1-EC2E-4FDE-8AF6-BC7964B56C87}" sibTransId="{AC6CF07C-2212-428E-87C2-4BDCDED012CC}"/>
    <dgm:cxn modelId="{68A67667-5D82-4A0D-A000-6EE4C8107CBF}" type="presOf" srcId="{52481EA2-F742-4B1B-8F72-E2E39BB493FF}" destId="{14DCEF34-F8CB-4554-93A7-B6AB22B12752}" srcOrd="0" destOrd="1" presId="urn:microsoft.com/office/officeart/2005/8/layout/hList6"/>
    <dgm:cxn modelId="{8D649B70-70F6-4467-B0F3-43F0DAB5790D}" srcId="{3C56924E-B089-4657-AA0A-2E5B77F2C942}" destId="{0F4D3F95-1372-4C87-896E-E5650553EF70}" srcOrd="1" destOrd="0" parTransId="{490F36CB-31B7-49AE-B95F-49CE4C76895B}" sibTransId="{29C5A49A-61AF-464D-87F1-76B14AC8CCEA}"/>
    <dgm:cxn modelId="{9600677D-DC4A-4A49-B1D4-4AEC49B40B38}" type="presOf" srcId="{D10F8BFB-6739-4B94-B380-EC05D9E98D92}" destId="{9FD4A71B-2E49-4668-AF22-FFE146F10750}" srcOrd="0" destOrd="1" presId="urn:microsoft.com/office/officeart/2005/8/layout/hList6"/>
    <dgm:cxn modelId="{13C32084-BDB9-4F88-A828-1C38CF7BD05A}" srcId="{AB7E6241-B4D1-4E97-9B32-51059429FDCF}" destId="{253BA9A6-C836-486F-B0ED-DA12F8FDA816}" srcOrd="0" destOrd="0" parTransId="{0FA6F58D-B07B-485D-AECC-15A1FCED7516}" sibTransId="{D87DB64B-CAF1-46C9-ADBD-B1C9BC2D7ED7}"/>
    <dgm:cxn modelId="{EBFD3186-4E76-4A1F-9E97-A63B9FF62FB5}" srcId="{7EDD59B4-D97B-4821-9E06-BF09EEB468B6}" destId="{2C448823-B31C-4E0B-9397-7EADB3B0F413}" srcOrd="0" destOrd="0" parTransId="{2C865E0C-436B-421D-BBB6-D07FA73E8063}" sibTransId="{44E1B085-31B5-48BC-B092-D5135F1978EF}"/>
    <dgm:cxn modelId="{89D3319B-E8DC-407F-95E4-91D93868F6E1}" srcId="{3C56924E-B089-4657-AA0A-2E5B77F2C942}" destId="{AB7E6241-B4D1-4E97-9B32-51059429FDCF}" srcOrd="4" destOrd="0" parTransId="{7C3286E4-C85E-4970-984E-7ADB0A15DAF2}" sibTransId="{A717B5B3-9DED-4D75-B3B6-A7C6D597979E}"/>
    <dgm:cxn modelId="{8E621BA1-9B81-462D-B0AE-ED72D08A6A09}" type="presOf" srcId="{2C448823-B31C-4E0B-9397-7EADB3B0F413}" destId="{C18EDF56-7F6A-4E6B-9E18-FEAA543C4081}" srcOrd="0" destOrd="1" presId="urn:microsoft.com/office/officeart/2005/8/layout/hList6"/>
    <dgm:cxn modelId="{85D710B6-7080-40D2-A53F-957A4FE32296}" srcId="{3C56924E-B089-4657-AA0A-2E5B77F2C942}" destId="{37BB8ECE-FF03-4319-861C-4FC975576758}" srcOrd="2" destOrd="0" parTransId="{2B5146D1-B1AE-491C-A8E9-E4BCF109985C}" sibTransId="{5210D941-F2DD-4A0C-B6B6-66C3C5142F31}"/>
    <dgm:cxn modelId="{B6AD35BE-8F3E-48EE-AA85-45105BF5B82E}" type="presOf" srcId="{253BA9A6-C836-486F-B0ED-DA12F8FDA816}" destId="{8212CEAC-A9DF-49CB-853E-E4973F4FA15D}" srcOrd="0" destOrd="1" presId="urn:microsoft.com/office/officeart/2005/8/layout/hList6"/>
    <dgm:cxn modelId="{818367CA-D08E-45A9-B1A7-34CFB0B620BD}" type="presOf" srcId="{D9360900-57DE-46B4-B083-B30DF7255B94}" destId="{F496281A-DDB7-475D-9C64-16831AAF4A20}" srcOrd="0" destOrd="1" presId="urn:microsoft.com/office/officeart/2005/8/layout/hList6"/>
    <dgm:cxn modelId="{933250CD-895D-40FD-807A-94280E648831}" type="presOf" srcId="{3C56924E-B089-4657-AA0A-2E5B77F2C942}" destId="{6CE0EAE0-498B-4FD9-B917-FB45E75230D4}" srcOrd="0" destOrd="0" presId="urn:microsoft.com/office/officeart/2005/8/layout/hList6"/>
    <dgm:cxn modelId="{CA726DD3-2CF3-4F96-981D-DE4DC8DBBBC2}" srcId="{37BB8ECE-FF03-4319-861C-4FC975576758}" destId="{52481EA2-F742-4B1B-8F72-E2E39BB493FF}" srcOrd="0" destOrd="0" parTransId="{ED6C4C20-27FB-4F35-A723-680AC523602F}" sibTransId="{F5BD1DE1-14C2-4911-A6D9-44B9D796FA0F}"/>
    <dgm:cxn modelId="{58A4C6D5-FA56-48BC-BB43-40A2FAACEF22}" type="presOf" srcId="{7EDD59B4-D97B-4821-9E06-BF09EEB468B6}" destId="{C18EDF56-7F6A-4E6B-9E18-FEAA543C4081}" srcOrd="0" destOrd="0" presId="urn:microsoft.com/office/officeart/2005/8/layout/hList6"/>
    <dgm:cxn modelId="{B08322E3-95C4-4B0C-A3AA-BEA835323204}" type="presOf" srcId="{AB7E6241-B4D1-4E97-9B32-51059429FDCF}" destId="{8212CEAC-A9DF-49CB-853E-E4973F4FA15D}" srcOrd="0" destOrd="0" presId="urn:microsoft.com/office/officeart/2005/8/layout/hList6"/>
    <dgm:cxn modelId="{28B8ADE4-6FEA-4F6A-A8D2-1D8E80AE651A}" srcId="{3C56924E-B089-4657-AA0A-2E5B77F2C942}" destId="{534CA98F-97B7-415F-8935-EB6D80DBD76D}" srcOrd="0" destOrd="0" parTransId="{813AEFAD-F9E9-4949-9BBC-DAD26453F818}" sibTransId="{2C666F57-8CF1-4655-A149-32A9FAB1EA0A}"/>
    <dgm:cxn modelId="{DFD686F3-C131-4990-8738-F7EFE59F1650}" type="presOf" srcId="{37BB8ECE-FF03-4319-861C-4FC975576758}" destId="{14DCEF34-F8CB-4554-93A7-B6AB22B12752}" srcOrd="0" destOrd="0" presId="urn:microsoft.com/office/officeart/2005/8/layout/hList6"/>
    <dgm:cxn modelId="{D45297FD-B0C7-4776-AB00-39B531167E8F}" srcId="{0F4D3F95-1372-4C87-896E-E5650553EF70}" destId="{D10F8BFB-6739-4B94-B380-EC05D9E98D92}" srcOrd="0" destOrd="0" parTransId="{6B67E256-F843-4D5D-8F35-D4E45A9FCCB5}" sibTransId="{F40BF68F-BBC7-4A2C-B4B2-14ACEB5B5F28}"/>
    <dgm:cxn modelId="{ED027247-106B-4106-B0D0-EFBCF3BD9257}" type="presParOf" srcId="{6CE0EAE0-498B-4FD9-B917-FB45E75230D4}" destId="{F496281A-DDB7-475D-9C64-16831AAF4A20}" srcOrd="0" destOrd="0" presId="urn:microsoft.com/office/officeart/2005/8/layout/hList6"/>
    <dgm:cxn modelId="{8A7741E7-961B-4026-B73F-ADC46ABE0020}" type="presParOf" srcId="{6CE0EAE0-498B-4FD9-B917-FB45E75230D4}" destId="{7B36FA87-07C6-44C6-B10B-FDE8A79F3642}" srcOrd="1" destOrd="0" presId="urn:microsoft.com/office/officeart/2005/8/layout/hList6"/>
    <dgm:cxn modelId="{01CCFE78-E7AD-4996-9B22-37306819798B}" type="presParOf" srcId="{6CE0EAE0-498B-4FD9-B917-FB45E75230D4}" destId="{9FD4A71B-2E49-4668-AF22-FFE146F10750}" srcOrd="2" destOrd="0" presId="urn:microsoft.com/office/officeart/2005/8/layout/hList6"/>
    <dgm:cxn modelId="{5DD2118E-81ED-4C7E-9571-F64A5F917917}" type="presParOf" srcId="{6CE0EAE0-498B-4FD9-B917-FB45E75230D4}" destId="{FD378629-D0B5-4FA8-9BCB-953B4831047E}" srcOrd="3" destOrd="0" presId="urn:microsoft.com/office/officeart/2005/8/layout/hList6"/>
    <dgm:cxn modelId="{A973946C-3C0F-48F6-853E-EE5026F19FF9}" type="presParOf" srcId="{6CE0EAE0-498B-4FD9-B917-FB45E75230D4}" destId="{14DCEF34-F8CB-4554-93A7-B6AB22B12752}" srcOrd="4" destOrd="0" presId="urn:microsoft.com/office/officeart/2005/8/layout/hList6"/>
    <dgm:cxn modelId="{0641AEDB-65CF-4006-B508-3B35E2463819}" type="presParOf" srcId="{6CE0EAE0-498B-4FD9-B917-FB45E75230D4}" destId="{B0294580-BB77-46AA-AE66-E08C8AEC7E4B}" srcOrd="5" destOrd="0" presId="urn:microsoft.com/office/officeart/2005/8/layout/hList6"/>
    <dgm:cxn modelId="{1EE79E1A-9896-42CA-8A1C-CFFDEA961643}" type="presParOf" srcId="{6CE0EAE0-498B-4FD9-B917-FB45E75230D4}" destId="{C18EDF56-7F6A-4E6B-9E18-FEAA543C4081}" srcOrd="6" destOrd="0" presId="urn:microsoft.com/office/officeart/2005/8/layout/hList6"/>
    <dgm:cxn modelId="{70E77196-A111-4515-9B97-1E56CF037492}" type="presParOf" srcId="{6CE0EAE0-498B-4FD9-B917-FB45E75230D4}" destId="{9764B962-4628-4B16-B4AB-F3917CB0727D}" srcOrd="7" destOrd="0" presId="urn:microsoft.com/office/officeart/2005/8/layout/hList6"/>
    <dgm:cxn modelId="{6A9A21CD-538B-429C-A260-7E19E705F726}" type="presParOf" srcId="{6CE0EAE0-498B-4FD9-B917-FB45E75230D4}" destId="{8212CEAC-A9DF-49CB-853E-E4973F4FA15D}" srcOrd="8" destOrd="0" presId="urn:microsoft.com/office/officeart/2005/8/layout/hList6"/>
    <dgm:cxn modelId="{467C6C17-6EC8-49BC-B25A-1C66556184A7}" type="presParOf" srcId="{6CE0EAE0-498B-4FD9-B917-FB45E75230D4}" destId="{DD4C88C1-1864-4520-9B4B-A1351D18AB56}" srcOrd="9" destOrd="0" presId="urn:microsoft.com/office/officeart/2005/8/layout/hList6"/>
    <dgm:cxn modelId="{836EDE0F-DEAE-464B-9FDA-1828AE9E5025}" type="presParOf" srcId="{6CE0EAE0-498B-4FD9-B917-FB45E75230D4}" destId="{515054AB-6892-4C18-A6E7-6D09BD1F3A57}" srcOrd="10"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00BBA32-EB83-4FF1-9F4B-194D35115A09}" type="doc">
      <dgm:prSet loTypeId="urn:microsoft.com/office/officeart/2005/8/layout/bProcess4" loCatId="process" qsTypeId="urn:microsoft.com/office/officeart/2005/8/quickstyle/simple1" qsCatId="simple" csTypeId="urn:microsoft.com/office/officeart/2005/8/colors/accent1_2" csCatId="accent1" phldr="1"/>
      <dgm:spPr/>
      <dgm:t>
        <a:bodyPr/>
        <a:lstStyle/>
        <a:p>
          <a:endParaRPr lang="en-US"/>
        </a:p>
      </dgm:t>
    </dgm:pt>
    <dgm:pt modelId="{C9665C47-4006-46F2-9C9C-A24A054D0470}">
      <dgm:prSet phldrT="[Text]" phldr="0"/>
      <dgm:spPr/>
      <dgm:t>
        <a:bodyPr/>
        <a:lstStyle/>
        <a:p>
          <a:pPr rtl="0"/>
          <a:endParaRPr lang="en-US" sz="1500" b="1">
            <a:solidFill>
              <a:srgbClr val="111827"/>
            </a:solidFill>
            <a:latin typeface="Calibri Light"/>
          </a:endParaRPr>
        </a:p>
      </dgm:t>
    </dgm:pt>
    <dgm:pt modelId="{F7B73AB4-1E87-4AED-8FE9-CDDB5CC0048D}" type="parTrans" cxnId="{99EAF1F4-0538-4BBB-9C23-2534755B34FC}">
      <dgm:prSet/>
      <dgm:spPr/>
    </dgm:pt>
    <dgm:pt modelId="{8AA987A7-F8AF-4499-8579-098567B8BC89}" type="sibTrans" cxnId="{99EAF1F4-0538-4BBB-9C23-2534755B34FC}">
      <dgm:prSet/>
      <dgm:spPr/>
    </dgm:pt>
    <dgm:pt modelId="{E67BE1E8-4CAF-40D4-86EE-B5903E9A1EDA}" type="pres">
      <dgm:prSet presAssocID="{400BBA32-EB83-4FF1-9F4B-194D35115A09}" presName="Name0" presStyleCnt="0">
        <dgm:presLayoutVars>
          <dgm:dir/>
          <dgm:resizeHandles/>
        </dgm:presLayoutVars>
      </dgm:prSet>
      <dgm:spPr/>
    </dgm:pt>
    <dgm:pt modelId="{DB8D6FDA-86F9-4D92-9602-C397FC7631ED}" type="pres">
      <dgm:prSet presAssocID="{C9665C47-4006-46F2-9C9C-A24A054D0470}" presName="compNode" presStyleCnt="0"/>
      <dgm:spPr/>
    </dgm:pt>
    <dgm:pt modelId="{B0488F8A-0C4F-4448-8AA3-E283C2AEE5A8}" type="pres">
      <dgm:prSet presAssocID="{C9665C47-4006-46F2-9C9C-A24A054D0470}" presName="dummyConnPt" presStyleCnt="0"/>
      <dgm:spPr/>
    </dgm:pt>
    <dgm:pt modelId="{9272F29A-0572-4BC2-B149-CC1B7E5860C5}" type="pres">
      <dgm:prSet presAssocID="{C9665C47-4006-46F2-9C9C-A24A054D0470}" presName="node" presStyleLbl="node1" presStyleIdx="0" presStyleCnt="1">
        <dgm:presLayoutVars>
          <dgm:bulletEnabled val="1"/>
        </dgm:presLayoutVars>
      </dgm:prSet>
      <dgm:spPr/>
    </dgm:pt>
  </dgm:ptLst>
  <dgm:cxnLst>
    <dgm:cxn modelId="{5D527F38-ADED-4C24-B02B-721795877C3D}" type="presOf" srcId="{C9665C47-4006-46F2-9C9C-A24A054D0470}" destId="{9272F29A-0572-4BC2-B149-CC1B7E5860C5}" srcOrd="0" destOrd="0" presId="urn:microsoft.com/office/officeart/2005/8/layout/bProcess4"/>
    <dgm:cxn modelId="{46EECB6E-BCC8-480E-A139-F322D1D6E814}" type="presOf" srcId="{400BBA32-EB83-4FF1-9F4B-194D35115A09}" destId="{E67BE1E8-4CAF-40D4-86EE-B5903E9A1EDA}" srcOrd="0" destOrd="0" presId="urn:microsoft.com/office/officeart/2005/8/layout/bProcess4"/>
    <dgm:cxn modelId="{99EAF1F4-0538-4BBB-9C23-2534755B34FC}" srcId="{400BBA32-EB83-4FF1-9F4B-194D35115A09}" destId="{C9665C47-4006-46F2-9C9C-A24A054D0470}" srcOrd="0" destOrd="0" parTransId="{F7B73AB4-1E87-4AED-8FE9-CDDB5CC0048D}" sibTransId="{8AA987A7-F8AF-4499-8579-098567B8BC89}"/>
    <dgm:cxn modelId="{BC5DEA67-BA0D-4924-B021-E35FCE202EFE}" type="presParOf" srcId="{E67BE1E8-4CAF-40D4-86EE-B5903E9A1EDA}" destId="{DB8D6FDA-86F9-4D92-9602-C397FC7631ED}" srcOrd="0" destOrd="0" presId="urn:microsoft.com/office/officeart/2005/8/layout/bProcess4"/>
    <dgm:cxn modelId="{B82563A4-EED7-4A92-92E5-9058D2AEBEAD}" type="presParOf" srcId="{DB8D6FDA-86F9-4D92-9602-C397FC7631ED}" destId="{B0488F8A-0C4F-4448-8AA3-E283C2AEE5A8}" srcOrd="0" destOrd="0" presId="urn:microsoft.com/office/officeart/2005/8/layout/bProcess4"/>
    <dgm:cxn modelId="{290208C6-74E8-4C69-8036-49C858246C24}" type="presParOf" srcId="{DB8D6FDA-86F9-4D92-9602-C397FC7631ED}" destId="{9272F29A-0572-4BC2-B149-CC1B7E5860C5}"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FD4983-4EA9-4229-ACF7-86793C40B721}">
      <dsp:nvSpPr>
        <dsp:cNvPr id="0" name=""/>
        <dsp:cNvSpPr/>
      </dsp:nvSpPr>
      <dsp:spPr>
        <a:xfrm>
          <a:off x="6787" y="1437484"/>
          <a:ext cx="2369811" cy="2843773"/>
        </a:xfrm>
        <a:prstGeom prst="roundRect">
          <a:avLst>
            <a:gd name="adj" fmla="val 5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92583" rIns="120015" bIns="0" numCol="1" spcCol="1270" anchor="t" anchorCtr="0">
          <a:noAutofit/>
        </a:bodyPr>
        <a:lstStyle/>
        <a:p>
          <a:pPr marL="0" lvl="0" indent="0" algn="r" defTabSz="1200150" rtl="0">
            <a:lnSpc>
              <a:spcPct val="90000"/>
            </a:lnSpc>
            <a:spcBef>
              <a:spcPct val="0"/>
            </a:spcBef>
            <a:spcAft>
              <a:spcPct val="35000"/>
            </a:spcAft>
            <a:buNone/>
          </a:pPr>
          <a:endParaRPr lang="en-US" sz="2700" b="1" kern="1200">
            <a:latin typeface="Calibri Light"/>
          </a:endParaRPr>
        </a:p>
      </dsp:txBody>
      <dsp:txXfrm rot="16200000">
        <a:off x="-922178" y="2366450"/>
        <a:ext cx="2331894" cy="473962"/>
      </dsp:txXfrm>
    </dsp:sp>
    <dsp:sp modelId="{E027F01B-1442-4096-A7BD-AE6A138AAE2B}">
      <dsp:nvSpPr>
        <dsp:cNvPr id="0" name=""/>
        <dsp:cNvSpPr/>
      </dsp:nvSpPr>
      <dsp:spPr>
        <a:xfrm>
          <a:off x="480750" y="1437484"/>
          <a:ext cx="1765509" cy="2843773"/>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8006" rIns="0" bIns="0" numCol="1" spcCol="1270" anchor="t" anchorCtr="0">
          <a:noAutofit/>
        </a:bodyPr>
        <a:lstStyle/>
        <a:p>
          <a:pPr marL="0" lvl="0" indent="0" algn="l" defTabSz="622300">
            <a:lnSpc>
              <a:spcPct val="90000"/>
            </a:lnSpc>
            <a:spcBef>
              <a:spcPct val="0"/>
            </a:spcBef>
            <a:spcAft>
              <a:spcPct val="35000"/>
            </a:spcAft>
            <a:buNone/>
          </a:pPr>
          <a:endParaRPr lang="en-US" sz="1400" b="1" kern="1200">
            <a:latin typeface="Calibri Light"/>
            <a:ea typeface="Calibri Light"/>
            <a:cs typeface="Calibri Light"/>
          </a:endParaRPr>
        </a:p>
        <a:p>
          <a:pPr marL="0" lvl="0" indent="0" algn="l" defTabSz="622300">
            <a:lnSpc>
              <a:spcPct val="90000"/>
            </a:lnSpc>
            <a:spcBef>
              <a:spcPct val="0"/>
            </a:spcBef>
            <a:spcAft>
              <a:spcPct val="35000"/>
            </a:spcAft>
            <a:buNone/>
          </a:pPr>
          <a:endParaRPr lang="en-US" sz="1400" b="1" kern="1200">
            <a:latin typeface="Calibri Light"/>
            <a:ea typeface="Calibri Light"/>
            <a:cs typeface="Calibri Light"/>
          </a:endParaRPr>
        </a:p>
        <a:p>
          <a:pPr marL="0" lvl="0" indent="0" algn="l" defTabSz="622300" rtl="0">
            <a:lnSpc>
              <a:spcPct val="90000"/>
            </a:lnSpc>
            <a:spcBef>
              <a:spcPct val="0"/>
            </a:spcBef>
            <a:spcAft>
              <a:spcPct val="35000"/>
            </a:spcAft>
            <a:buNone/>
          </a:pPr>
          <a:r>
            <a:rPr lang="en-US" sz="1400" b="1" kern="1200">
              <a:latin typeface="Segoe UI"/>
              <a:cs typeface="Segoe UI"/>
            </a:rPr>
            <a:t>Controlled LLM Dependency</a:t>
          </a:r>
          <a:br>
            <a:rPr lang="en-US" sz="1400" b="1" kern="1200">
              <a:latin typeface="Segoe UI"/>
              <a:cs typeface="Segoe UI"/>
            </a:rPr>
          </a:br>
          <a:r>
            <a:rPr lang="en-US" sz="1400" b="1" kern="1200">
              <a:latin typeface="Segoe UI"/>
              <a:cs typeface="Segoe UI"/>
            </a:rPr>
            <a:t> Formal engines validate LLM-generated representations</a:t>
          </a:r>
        </a:p>
      </dsp:txBody>
      <dsp:txXfrm>
        <a:off x="480750" y="1437484"/>
        <a:ext cx="1765509" cy="2843773"/>
      </dsp:txXfrm>
    </dsp:sp>
    <dsp:sp modelId="{15709E00-EC49-4DC7-86A7-035B2C5DC2F9}">
      <dsp:nvSpPr>
        <dsp:cNvPr id="0" name=""/>
        <dsp:cNvSpPr/>
      </dsp:nvSpPr>
      <dsp:spPr>
        <a:xfrm>
          <a:off x="2459542" y="1437484"/>
          <a:ext cx="2369811" cy="2843773"/>
        </a:xfrm>
        <a:prstGeom prst="roundRect">
          <a:avLst>
            <a:gd name="adj" fmla="val 5000"/>
          </a:avLst>
        </a:prstGeom>
        <a:solidFill>
          <a:schemeClr val="accent3">
            <a:hueOff val="677650"/>
            <a:satOff val="25000"/>
            <a:lumOff val="-36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5725" rIns="111125" bIns="0" numCol="1" spcCol="1270" anchor="t" anchorCtr="0">
          <a:noAutofit/>
        </a:bodyPr>
        <a:lstStyle/>
        <a:p>
          <a:pPr marL="0" lvl="0" indent="0" algn="r" defTabSz="1111250" rtl="0">
            <a:lnSpc>
              <a:spcPct val="90000"/>
            </a:lnSpc>
            <a:spcBef>
              <a:spcPct val="0"/>
            </a:spcBef>
            <a:spcAft>
              <a:spcPct val="35000"/>
            </a:spcAft>
            <a:buNone/>
          </a:pPr>
          <a:endParaRPr lang="en-US" sz="2500" b="0" kern="1200">
            <a:latin typeface="Segoe UI"/>
            <a:cs typeface="Segoe UI"/>
          </a:endParaRPr>
        </a:p>
      </dsp:txBody>
      <dsp:txXfrm rot="16200000">
        <a:off x="1530576" y="2366450"/>
        <a:ext cx="2331894" cy="473962"/>
      </dsp:txXfrm>
    </dsp:sp>
    <dsp:sp modelId="{CCCF6059-B0D6-461F-9E79-6E9B8E266509}">
      <dsp:nvSpPr>
        <dsp:cNvPr id="0" name=""/>
        <dsp:cNvSpPr/>
      </dsp:nvSpPr>
      <dsp:spPr>
        <a:xfrm rot="5400000">
          <a:off x="2262305" y="3699090"/>
          <a:ext cx="418172" cy="355471"/>
        </a:xfrm>
        <a:prstGeom prst="flowChartExtract">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90FCAD1-96D9-48E6-B60D-92704E3D6288}">
      <dsp:nvSpPr>
        <dsp:cNvPr id="0" name=""/>
        <dsp:cNvSpPr/>
      </dsp:nvSpPr>
      <dsp:spPr>
        <a:xfrm>
          <a:off x="2933504" y="1437484"/>
          <a:ext cx="1765509" cy="2843773"/>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4864" rIns="0" bIns="0" numCol="1" spcCol="1270" anchor="t" anchorCtr="0">
          <a:noAutofit/>
        </a:bodyPr>
        <a:lstStyle/>
        <a:p>
          <a:pPr marL="0" lvl="0" indent="0" algn="l" defTabSz="622300">
            <a:lnSpc>
              <a:spcPct val="90000"/>
            </a:lnSpc>
            <a:spcBef>
              <a:spcPct val="0"/>
            </a:spcBef>
            <a:spcAft>
              <a:spcPct val="35000"/>
            </a:spcAft>
            <a:buNone/>
          </a:pPr>
          <a:endParaRPr lang="en-US" sz="1400" b="0" kern="1200">
            <a:solidFill>
              <a:srgbClr val="000000"/>
            </a:solidFill>
            <a:latin typeface="Segoe UI"/>
            <a:ea typeface="Calibri"/>
            <a:cs typeface="Segoe UI"/>
          </a:endParaRPr>
        </a:p>
        <a:p>
          <a:pPr marL="0" lvl="0" indent="0" algn="l" defTabSz="622300">
            <a:lnSpc>
              <a:spcPct val="90000"/>
            </a:lnSpc>
            <a:spcBef>
              <a:spcPct val="0"/>
            </a:spcBef>
            <a:spcAft>
              <a:spcPct val="35000"/>
            </a:spcAft>
            <a:buNone/>
          </a:pPr>
          <a:endParaRPr lang="en-US" sz="1400" b="0" kern="1200">
            <a:solidFill>
              <a:srgbClr val="000000"/>
            </a:solidFill>
            <a:latin typeface="Segoe UI"/>
            <a:ea typeface="Calibri"/>
            <a:cs typeface="Segoe UI"/>
          </a:endParaRPr>
        </a:p>
        <a:p>
          <a:pPr marL="0" lvl="0" indent="0" algn="l" defTabSz="711200" rtl="0">
            <a:lnSpc>
              <a:spcPct val="90000"/>
            </a:lnSpc>
            <a:spcBef>
              <a:spcPct val="0"/>
            </a:spcBef>
            <a:spcAft>
              <a:spcPct val="35000"/>
            </a:spcAft>
            <a:buNone/>
          </a:pPr>
          <a:r>
            <a:rPr lang="en-US" sz="1600" b="1" kern="1200">
              <a:solidFill>
                <a:schemeClr val="bg1"/>
              </a:solidFill>
              <a:latin typeface="Segoe UI"/>
              <a:ea typeface="Calibri"/>
              <a:cs typeface="Segoe UI"/>
            </a:rPr>
            <a:t>Verification using Lean for proof-based reasoning</a:t>
          </a:r>
          <a:br>
            <a:rPr lang="en-US" sz="1600" b="1" kern="1200">
              <a:solidFill>
                <a:schemeClr val="bg1"/>
              </a:solidFill>
              <a:latin typeface="Segoe UI"/>
              <a:ea typeface="Calibri"/>
              <a:cs typeface="Segoe UI"/>
            </a:rPr>
          </a:br>
          <a:r>
            <a:rPr lang="en-US" sz="1600" b="1" kern="1200">
              <a:solidFill>
                <a:schemeClr val="bg1"/>
              </a:solidFill>
              <a:latin typeface="Segoe UI"/>
              <a:ea typeface="Calibri"/>
              <a:cs typeface="Segoe UI"/>
            </a:rPr>
            <a:t> Z3 for constraint solving</a:t>
          </a:r>
        </a:p>
      </dsp:txBody>
      <dsp:txXfrm>
        <a:off x="2933504" y="1437484"/>
        <a:ext cx="1765509" cy="2843773"/>
      </dsp:txXfrm>
    </dsp:sp>
    <dsp:sp modelId="{B31EB655-71F3-4471-B6C1-EF8F1166194B}">
      <dsp:nvSpPr>
        <dsp:cNvPr id="0" name=""/>
        <dsp:cNvSpPr/>
      </dsp:nvSpPr>
      <dsp:spPr>
        <a:xfrm>
          <a:off x="4912296" y="1437484"/>
          <a:ext cx="2369811" cy="2843773"/>
        </a:xfrm>
        <a:prstGeom prst="roundRect">
          <a:avLst>
            <a:gd name="adj" fmla="val 5000"/>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92583" rIns="120015" bIns="0" numCol="1" spcCol="1270" anchor="t" anchorCtr="0">
          <a:noAutofit/>
        </a:bodyPr>
        <a:lstStyle/>
        <a:p>
          <a:pPr marL="0" lvl="0" indent="0" algn="r" defTabSz="1200150" rtl="0">
            <a:lnSpc>
              <a:spcPct val="90000"/>
            </a:lnSpc>
            <a:spcBef>
              <a:spcPct val="0"/>
            </a:spcBef>
            <a:spcAft>
              <a:spcPct val="35000"/>
            </a:spcAft>
            <a:buNone/>
          </a:pPr>
          <a:endParaRPr lang="en-US" sz="2700" kern="1200">
            <a:latin typeface="Calibri Light"/>
          </a:endParaRPr>
        </a:p>
      </dsp:txBody>
      <dsp:txXfrm rot="16200000">
        <a:off x="3983330" y="2366450"/>
        <a:ext cx="2331894" cy="473962"/>
      </dsp:txXfrm>
    </dsp:sp>
    <dsp:sp modelId="{4F0FDF45-B9A6-4959-92C0-119B1EFEA345}">
      <dsp:nvSpPr>
        <dsp:cNvPr id="0" name=""/>
        <dsp:cNvSpPr/>
      </dsp:nvSpPr>
      <dsp:spPr>
        <a:xfrm rot="5400000">
          <a:off x="4715059" y="3699090"/>
          <a:ext cx="418172" cy="355471"/>
        </a:xfrm>
        <a:prstGeom prst="flowChartExtract">
          <a:avLst/>
        </a:prstGeom>
        <a:solidFill>
          <a:schemeClr val="lt1">
            <a:hueOff val="0"/>
            <a:satOff val="0"/>
            <a:lumOff val="0"/>
            <a:alphaOff val="0"/>
          </a:schemeClr>
        </a:solidFill>
        <a:ln w="12700" cap="flat" cmpd="sng" algn="ctr">
          <a:solidFill>
            <a:schemeClr val="accent3">
              <a:hueOff val="903533"/>
              <a:satOff val="33333"/>
              <a:lumOff val="-4902"/>
              <a:alphaOff val="0"/>
            </a:schemeClr>
          </a:solidFill>
          <a:prstDash val="solid"/>
          <a:miter lim="800000"/>
        </a:ln>
        <a:effectLst/>
      </dsp:spPr>
      <dsp:style>
        <a:lnRef idx="2">
          <a:scrgbClr r="0" g="0" b="0"/>
        </a:lnRef>
        <a:fillRef idx="1">
          <a:scrgbClr r="0" g="0" b="0"/>
        </a:fillRef>
        <a:effectRef idx="0">
          <a:scrgbClr r="0" g="0" b="0"/>
        </a:effectRef>
        <a:fontRef idx="minor"/>
      </dsp:style>
    </dsp:sp>
    <dsp:sp modelId="{DE672490-EDD0-44B4-855D-A067A1957C83}">
      <dsp:nvSpPr>
        <dsp:cNvPr id="0" name=""/>
        <dsp:cNvSpPr/>
      </dsp:nvSpPr>
      <dsp:spPr>
        <a:xfrm>
          <a:off x="5386259" y="1437484"/>
          <a:ext cx="1765509" cy="2843773"/>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4864" rIns="0" bIns="0" numCol="1" spcCol="1270" anchor="t" anchorCtr="0">
          <a:noAutofit/>
        </a:bodyPr>
        <a:lstStyle/>
        <a:p>
          <a:pPr marL="0" lvl="0" indent="0" algn="l" defTabSz="711200">
            <a:lnSpc>
              <a:spcPct val="90000"/>
            </a:lnSpc>
            <a:spcBef>
              <a:spcPct val="0"/>
            </a:spcBef>
            <a:spcAft>
              <a:spcPct val="35000"/>
            </a:spcAft>
            <a:buNone/>
          </a:pPr>
          <a:endParaRPr lang="en-US" sz="1600" kern="1200">
            <a:latin typeface="Calibri Light"/>
          </a:endParaRPr>
        </a:p>
        <a:p>
          <a:pPr marL="0" lvl="0" indent="0" algn="l" defTabSz="711200">
            <a:lnSpc>
              <a:spcPct val="90000"/>
            </a:lnSpc>
            <a:spcBef>
              <a:spcPct val="0"/>
            </a:spcBef>
            <a:spcAft>
              <a:spcPct val="35000"/>
            </a:spcAft>
            <a:buNone/>
          </a:pPr>
          <a:endParaRPr lang="en-US" sz="1600" kern="1200">
            <a:latin typeface="Calibri Light"/>
          </a:endParaRPr>
        </a:p>
        <a:p>
          <a:pPr marL="0" lvl="0" indent="0" algn="l" defTabSz="711200" rtl="0">
            <a:lnSpc>
              <a:spcPct val="90000"/>
            </a:lnSpc>
            <a:spcBef>
              <a:spcPct val="0"/>
            </a:spcBef>
            <a:spcAft>
              <a:spcPct val="35000"/>
            </a:spcAft>
            <a:buNone/>
          </a:pPr>
          <a:r>
            <a:rPr lang="en-US" sz="1600" kern="1200">
              <a:latin typeface="Calibri Light"/>
            </a:rPr>
            <a:t> </a:t>
          </a:r>
          <a:r>
            <a:rPr lang="en-US" sz="1600" b="1" kern="1200">
              <a:latin typeface="Segoe UI"/>
              <a:cs typeface="Segoe UI"/>
            </a:rPr>
            <a:t>Actionable Counterexamples</a:t>
          </a:r>
          <a:br>
            <a:rPr lang="en-US" sz="1600" b="1" kern="1200">
              <a:latin typeface="Segoe UI"/>
              <a:cs typeface="Segoe UI"/>
            </a:rPr>
          </a:br>
          <a:r>
            <a:rPr lang="en-US" sz="1600" b="1" kern="1200">
              <a:latin typeface="Segoe UI"/>
              <a:cs typeface="Segoe UI"/>
            </a:rPr>
            <a:t> Shows exact conditions where requirements conflict</a:t>
          </a:r>
          <a:endParaRPr lang="en-US" sz="1600" kern="1200">
            <a:latin typeface="Segoe UI"/>
            <a:cs typeface="Segoe UI"/>
          </a:endParaRPr>
        </a:p>
      </dsp:txBody>
      <dsp:txXfrm>
        <a:off x="5386259" y="1437484"/>
        <a:ext cx="1765509" cy="2843773"/>
      </dsp:txXfrm>
    </dsp:sp>
    <dsp:sp modelId="{96725F8B-66ED-47AE-B593-6739792A4951}">
      <dsp:nvSpPr>
        <dsp:cNvPr id="0" name=""/>
        <dsp:cNvSpPr/>
      </dsp:nvSpPr>
      <dsp:spPr>
        <a:xfrm>
          <a:off x="7365051" y="1437484"/>
          <a:ext cx="2369811" cy="2843773"/>
        </a:xfrm>
        <a:prstGeom prst="roundRect">
          <a:avLst>
            <a:gd name="adj" fmla="val 5000"/>
          </a:avLst>
        </a:prstGeom>
        <a:solidFill>
          <a:schemeClr val="accent3">
            <a:hueOff val="2032949"/>
            <a:satOff val="75000"/>
            <a:lumOff val="-110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92583" rIns="120015" bIns="0" numCol="1" spcCol="1270" anchor="t" anchorCtr="0">
          <a:noAutofit/>
        </a:bodyPr>
        <a:lstStyle/>
        <a:p>
          <a:pPr marL="0" lvl="0" indent="0" algn="r" defTabSz="1200150" rtl="0">
            <a:lnSpc>
              <a:spcPct val="90000"/>
            </a:lnSpc>
            <a:spcBef>
              <a:spcPct val="0"/>
            </a:spcBef>
            <a:spcAft>
              <a:spcPct val="35000"/>
            </a:spcAft>
            <a:buNone/>
          </a:pPr>
          <a:r>
            <a:rPr lang="en-US" sz="2700" kern="1200">
              <a:latin typeface="Calibri Light"/>
            </a:rPr>
            <a:t> </a:t>
          </a:r>
        </a:p>
      </dsp:txBody>
      <dsp:txXfrm rot="16200000">
        <a:off x="6436085" y="2366450"/>
        <a:ext cx="2331894" cy="473962"/>
      </dsp:txXfrm>
    </dsp:sp>
    <dsp:sp modelId="{961CC94E-B3E7-475A-A28B-67419BD538DD}">
      <dsp:nvSpPr>
        <dsp:cNvPr id="0" name=""/>
        <dsp:cNvSpPr/>
      </dsp:nvSpPr>
      <dsp:spPr>
        <a:xfrm rot="5400000">
          <a:off x="7167814" y="3699090"/>
          <a:ext cx="418172" cy="355471"/>
        </a:xfrm>
        <a:prstGeom prst="flowChartExtract">
          <a:avLst/>
        </a:prstGeom>
        <a:solidFill>
          <a:schemeClr val="lt1">
            <a:hueOff val="0"/>
            <a:satOff val="0"/>
            <a:lumOff val="0"/>
            <a:alphaOff val="0"/>
          </a:schemeClr>
        </a:solidFill>
        <a:ln w="12700" cap="flat" cmpd="sng" algn="ctr">
          <a:solidFill>
            <a:schemeClr val="accent3">
              <a:hueOff val="1807066"/>
              <a:satOff val="66667"/>
              <a:lumOff val="-9804"/>
              <a:alphaOff val="0"/>
            </a:schemeClr>
          </a:solidFill>
          <a:prstDash val="solid"/>
          <a:miter lim="800000"/>
        </a:ln>
        <a:effectLst/>
      </dsp:spPr>
      <dsp:style>
        <a:lnRef idx="2">
          <a:scrgbClr r="0" g="0" b="0"/>
        </a:lnRef>
        <a:fillRef idx="1">
          <a:scrgbClr r="0" g="0" b="0"/>
        </a:fillRef>
        <a:effectRef idx="0">
          <a:scrgbClr r="0" g="0" b="0"/>
        </a:effectRef>
        <a:fontRef idx="minor"/>
      </dsp:style>
    </dsp:sp>
    <dsp:sp modelId="{2308CB15-473E-4DF9-A17A-8CC15124A1C1}">
      <dsp:nvSpPr>
        <dsp:cNvPr id="0" name=""/>
        <dsp:cNvSpPr/>
      </dsp:nvSpPr>
      <dsp:spPr>
        <a:xfrm>
          <a:off x="7839013" y="1437484"/>
          <a:ext cx="1765509" cy="2843773"/>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4864" rIns="0" bIns="0" numCol="1" spcCol="1270" anchor="t" anchorCtr="0">
          <a:noAutofit/>
        </a:bodyPr>
        <a:lstStyle/>
        <a:p>
          <a:pPr marL="0" lvl="0" indent="0" algn="l" defTabSz="711200">
            <a:lnSpc>
              <a:spcPct val="90000"/>
            </a:lnSpc>
            <a:spcBef>
              <a:spcPct val="0"/>
            </a:spcBef>
            <a:spcAft>
              <a:spcPct val="35000"/>
            </a:spcAft>
            <a:buNone/>
          </a:pPr>
          <a:endParaRPr lang="en-US" sz="1600" kern="1200">
            <a:latin typeface="Calibri Light"/>
          </a:endParaRPr>
        </a:p>
        <a:p>
          <a:pPr marL="0" lvl="0" indent="0" algn="l" defTabSz="711200">
            <a:lnSpc>
              <a:spcPct val="90000"/>
            </a:lnSpc>
            <a:spcBef>
              <a:spcPct val="0"/>
            </a:spcBef>
            <a:spcAft>
              <a:spcPct val="35000"/>
            </a:spcAft>
            <a:buNone/>
          </a:pPr>
          <a:endParaRPr lang="en-US" sz="1600" kern="1200">
            <a:latin typeface="Calibri Light"/>
          </a:endParaRPr>
        </a:p>
        <a:p>
          <a:pPr marL="0" lvl="0" indent="0" algn="l" defTabSz="711200" rtl="0">
            <a:lnSpc>
              <a:spcPct val="90000"/>
            </a:lnSpc>
            <a:spcBef>
              <a:spcPct val="0"/>
            </a:spcBef>
            <a:spcAft>
              <a:spcPct val="35000"/>
            </a:spcAft>
            <a:buNone/>
          </a:pPr>
          <a:r>
            <a:rPr lang="en-US" sz="1600" kern="1200">
              <a:latin typeface="Calibri Light"/>
            </a:rPr>
            <a:t>  </a:t>
          </a:r>
          <a:r>
            <a:rPr lang="en-US" sz="1600" b="1" kern="1200">
              <a:latin typeface="Segoe UI"/>
              <a:cs typeface="Segoe UI"/>
            </a:rPr>
            <a:t>Automated Refinement Loop</a:t>
          </a:r>
          <a:br>
            <a:rPr lang="en-US" sz="1600" b="1" kern="1200">
              <a:latin typeface="Segoe UI"/>
              <a:cs typeface="Segoe UI"/>
            </a:rPr>
          </a:br>
          <a:r>
            <a:rPr lang="en-US" sz="1600" b="1" kern="1200">
              <a:latin typeface="Segoe UI"/>
              <a:cs typeface="Segoe UI"/>
            </a:rPr>
            <a:t> Verification failures help refine unclear requirements</a:t>
          </a:r>
          <a:endParaRPr lang="en-US" sz="1600" kern="1200">
            <a:latin typeface="Segoe UI"/>
            <a:cs typeface="Segoe UI"/>
          </a:endParaRPr>
        </a:p>
      </dsp:txBody>
      <dsp:txXfrm>
        <a:off x="7839013" y="1437484"/>
        <a:ext cx="1765509" cy="2843773"/>
      </dsp:txXfrm>
    </dsp:sp>
    <dsp:sp modelId="{25394455-84A8-40AA-8C0A-BEFB9E46793A}">
      <dsp:nvSpPr>
        <dsp:cNvPr id="0" name=""/>
        <dsp:cNvSpPr/>
      </dsp:nvSpPr>
      <dsp:spPr>
        <a:xfrm>
          <a:off x="9817805" y="1437484"/>
          <a:ext cx="2369811" cy="2843773"/>
        </a:xfrm>
        <a:prstGeom prst="roundRect">
          <a:avLst>
            <a:gd name="adj" fmla="val 5000"/>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92583" rIns="120015" bIns="0" numCol="1" spcCol="1270" anchor="t" anchorCtr="0">
          <a:noAutofit/>
        </a:bodyPr>
        <a:lstStyle/>
        <a:p>
          <a:pPr marL="0" lvl="0" indent="0" algn="r" defTabSz="1200150" rtl="0">
            <a:lnSpc>
              <a:spcPct val="90000"/>
            </a:lnSpc>
            <a:spcBef>
              <a:spcPct val="0"/>
            </a:spcBef>
            <a:spcAft>
              <a:spcPct val="35000"/>
            </a:spcAft>
            <a:buNone/>
          </a:pPr>
          <a:r>
            <a:rPr lang="en-US" sz="2700" kern="1200">
              <a:latin typeface="Calibri Light"/>
            </a:rPr>
            <a:t> </a:t>
          </a:r>
          <a:endParaRPr lang="en-US" sz="2700" kern="1200"/>
        </a:p>
      </dsp:txBody>
      <dsp:txXfrm rot="16200000">
        <a:off x="8888840" y="2366450"/>
        <a:ext cx="2331894" cy="473962"/>
      </dsp:txXfrm>
    </dsp:sp>
    <dsp:sp modelId="{98053944-CC0A-4EEA-968B-0AC0BFD657C2}">
      <dsp:nvSpPr>
        <dsp:cNvPr id="0" name=""/>
        <dsp:cNvSpPr/>
      </dsp:nvSpPr>
      <dsp:spPr>
        <a:xfrm rot="5400000">
          <a:off x="9620568" y="3699090"/>
          <a:ext cx="418172" cy="355471"/>
        </a:xfrm>
        <a:prstGeom prst="flowChartExtract">
          <a:avLst/>
        </a:prstGeom>
        <a:solidFill>
          <a:schemeClr val="lt1">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dsp:spPr>
      <dsp:style>
        <a:lnRef idx="2">
          <a:scrgbClr r="0" g="0" b="0"/>
        </a:lnRef>
        <a:fillRef idx="1">
          <a:scrgbClr r="0" g="0" b="0"/>
        </a:fillRef>
        <a:effectRef idx="0">
          <a:scrgbClr r="0" g="0" b="0"/>
        </a:effectRef>
        <a:fontRef idx="minor"/>
      </dsp:style>
    </dsp:sp>
    <dsp:sp modelId="{F83D11EE-68C9-4650-80AD-E2C2AE5643F4}">
      <dsp:nvSpPr>
        <dsp:cNvPr id="0" name=""/>
        <dsp:cNvSpPr/>
      </dsp:nvSpPr>
      <dsp:spPr>
        <a:xfrm>
          <a:off x="10291768" y="1437484"/>
          <a:ext cx="1765509" cy="2843773"/>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4864" rIns="0" bIns="0" numCol="1" spcCol="1270" anchor="t" anchorCtr="0">
          <a:noAutofit/>
        </a:bodyPr>
        <a:lstStyle/>
        <a:p>
          <a:pPr marL="0" lvl="0" indent="0" algn="l" defTabSz="711200">
            <a:lnSpc>
              <a:spcPct val="90000"/>
            </a:lnSpc>
            <a:spcBef>
              <a:spcPct val="0"/>
            </a:spcBef>
            <a:spcAft>
              <a:spcPct val="35000"/>
            </a:spcAft>
            <a:buNone/>
          </a:pPr>
          <a:endParaRPr lang="en-US" sz="1600" kern="1200">
            <a:latin typeface="Calibri Light"/>
          </a:endParaRPr>
        </a:p>
        <a:p>
          <a:pPr marL="0" lvl="0" indent="0" algn="l" defTabSz="711200">
            <a:lnSpc>
              <a:spcPct val="90000"/>
            </a:lnSpc>
            <a:spcBef>
              <a:spcPct val="0"/>
            </a:spcBef>
            <a:spcAft>
              <a:spcPct val="35000"/>
            </a:spcAft>
            <a:buNone/>
          </a:pPr>
          <a:endParaRPr lang="en-US" sz="1600" kern="1200">
            <a:latin typeface="Calibri Light"/>
          </a:endParaRPr>
        </a:p>
        <a:p>
          <a:pPr marL="0" lvl="0" indent="0" algn="l" defTabSz="711200" rtl="0">
            <a:lnSpc>
              <a:spcPct val="90000"/>
            </a:lnSpc>
            <a:spcBef>
              <a:spcPct val="0"/>
            </a:spcBef>
            <a:spcAft>
              <a:spcPct val="35000"/>
            </a:spcAft>
            <a:buNone/>
          </a:pPr>
          <a:r>
            <a:rPr lang="en-US" sz="1600" kern="1200">
              <a:latin typeface="Calibri Light"/>
            </a:rPr>
            <a:t> </a:t>
          </a:r>
          <a:r>
            <a:rPr lang="en-US" sz="1600" b="1" kern="1200">
              <a:latin typeface="Segoe UI"/>
              <a:cs typeface="Segoe UI"/>
            </a:rPr>
            <a:t>Cost-Efficient &amp; Scalable</a:t>
          </a:r>
          <a:br>
            <a:rPr lang="en-US" sz="1600" b="1" kern="1200">
              <a:latin typeface="Segoe UI"/>
              <a:cs typeface="Segoe UI"/>
            </a:rPr>
          </a:br>
          <a:r>
            <a:rPr lang="en-US" sz="1600" b="1" kern="1200">
              <a:latin typeface="Segoe UI"/>
              <a:cs typeface="Segoe UI"/>
            </a:rPr>
            <a:t> Generic LLMs + fast automated verification</a:t>
          </a:r>
          <a:endParaRPr lang="en-US" sz="1600" kern="1200">
            <a:latin typeface="Segoe UI"/>
            <a:cs typeface="Segoe UI"/>
          </a:endParaRPr>
        </a:p>
        <a:p>
          <a:pPr marL="0" lvl="0" indent="0" algn="l" defTabSz="711200">
            <a:lnSpc>
              <a:spcPct val="90000"/>
            </a:lnSpc>
            <a:spcBef>
              <a:spcPct val="0"/>
            </a:spcBef>
            <a:spcAft>
              <a:spcPct val="35000"/>
            </a:spcAft>
            <a:buNone/>
          </a:pPr>
          <a:endParaRPr lang="en-US" sz="1600" kern="1200"/>
        </a:p>
      </dsp:txBody>
      <dsp:txXfrm>
        <a:off x="10291768" y="1437484"/>
        <a:ext cx="1765509" cy="28437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96281A-DDB7-475D-9C64-16831AAF4A20}">
      <dsp:nvSpPr>
        <dsp:cNvPr id="0" name=""/>
        <dsp:cNvSpPr/>
      </dsp:nvSpPr>
      <dsp:spPr>
        <a:xfrm rot="16200000">
          <a:off x="-914427" y="919033"/>
          <a:ext cx="3657600" cy="1819533"/>
        </a:xfrm>
        <a:prstGeom prst="flowChartManualOperati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0" tIns="0" rIns="140860" bIns="0" numCol="1" spcCol="1270" anchor="t" anchorCtr="0">
          <a:noAutofit/>
        </a:bodyPr>
        <a:lstStyle/>
        <a:p>
          <a:pPr marL="0" lvl="0" indent="0" algn="l" defTabSz="977900" rtl="0">
            <a:lnSpc>
              <a:spcPct val="90000"/>
            </a:lnSpc>
            <a:spcBef>
              <a:spcPct val="0"/>
            </a:spcBef>
            <a:spcAft>
              <a:spcPct val="35000"/>
            </a:spcAft>
            <a:buNone/>
          </a:pPr>
          <a:r>
            <a:rPr lang="en-US" sz="2200" b="1" kern="1200">
              <a:latin typeface="Calibri Light"/>
            </a:rPr>
            <a:t>LLM output verification</a:t>
          </a:r>
          <a:endParaRPr lang="en-US" sz="2200" kern="1200">
            <a:latin typeface="Calibri Light"/>
          </a:endParaRPr>
        </a:p>
        <a:p>
          <a:pPr marL="171450" lvl="1" indent="-171450" algn="l" defTabSz="755650" rtl="0">
            <a:lnSpc>
              <a:spcPct val="90000"/>
            </a:lnSpc>
            <a:spcBef>
              <a:spcPct val="0"/>
            </a:spcBef>
            <a:spcAft>
              <a:spcPct val="15000"/>
            </a:spcAft>
            <a:buChar char="•"/>
          </a:pPr>
          <a:r>
            <a:rPr lang="en-US" sz="1700" kern="1200">
              <a:latin typeface="Calibri Light"/>
            </a:rPr>
            <a:t>Convert critical claims into formal obligations before acceptance.</a:t>
          </a:r>
        </a:p>
      </dsp:txBody>
      <dsp:txXfrm rot="5400000">
        <a:off x="4606" y="731520"/>
        <a:ext cx="1819533" cy="2194560"/>
      </dsp:txXfrm>
    </dsp:sp>
    <dsp:sp modelId="{9FD4A71B-2E49-4668-AF22-FFE146F10750}">
      <dsp:nvSpPr>
        <dsp:cNvPr id="0" name=""/>
        <dsp:cNvSpPr/>
      </dsp:nvSpPr>
      <dsp:spPr>
        <a:xfrm rot="16200000">
          <a:off x="1041571" y="919033"/>
          <a:ext cx="3657600" cy="1819533"/>
        </a:xfrm>
        <a:prstGeom prst="flowChartManualOperati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0" tIns="0" rIns="140860" bIns="0" numCol="1" spcCol="1270" anchor="t" anchorCtr="0">
          <a:noAutofit/>
        </a:bodyPr>
        <a:lstStyle/>
        <a:p>
          <a:pPr marL="0" lvl="0" indent="0" algn="l" defTabSz="977900" rtl="0">
            <a:lnSpc>
              <a:spcPct val="90000"/>
            </a:lnSpc>
            <a:spcBef>
              <a:spcPct val="0"/>
            </a:spcBef>
            <a:spcAft>
              <a:spcPct val="35000"/>
            </a:spcAft>
            <a:buNone/>
          </a:pPr>
          <a:r>
            <a:rPr lang="en-US" sz="2200" b="1" kern="1200">
              <a:latin typeface="Calibri Light"/>
            </a:rPr>
            <a:t>Reasoning consistency</a:t>
          </a:r>
          <a:endParaRPr lang="en-US" sz="2200" kern="1200">
            <a:latin typeface="Calibri Light"/>
          </a:endParaRPr>
        </a:p>
        <a:p>
          <a:pPr marL="171450" lvl="1" indent="-171450" algn="l" defTabSz="755650" rtl="0">
            <a:lnSpc>
              <a:spcPct val="90000"/>
            </a:lnSpc>
            <a:spcBef>
              <a:spcPct val="0"/>
            </a:spcBef>
            <a:spcAft>
              <a:spcPct val="15000"/>
            </a:spcAft>
            <a:buChar char="•"/>
          </a:pPr>
          <a:r>
            <a:rPr lang="en-US" sz="1700" kern="1200">
              <a:solidFill>
                <a:schemeClr val="bg1"/>
              </a:solidFill>
              <a:latin typeface="Calibri Light"/>
            </a:rPr>
            <a:t>Check whether conclusions logically follow from extracted premises.</a:t>
          </a:r>
        </a:p>
      </dsp:txBody>
      <dsp:txXfrm rot="5400000">
        <a:off x="1960604" y="731520"/>
        <a:ext cx="1819533" cy="2194560"/>
      </dsp:txXfrm>
    </dsp:sp>
    <dsp:sp modelId="{14DCEF34-F8CB-4554-93A7-B6AB22B12752}">
      <dsp:nvSpPr>
        <dsp:cNvPr id="0" name=""/>
        <dsp:cNvSpPr/>
      </dsp:nvSpPr>
      <dsp:spPr>
        <a:xfrm rot="16200000">
          <a:off x="2997570" y="919033"/>
          <a:ext cx="3657600" cy="1819533"/>
        </a:xfrm>
        <a:prstGeom prst="flowChartManualOperati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0" tIns="0" rIns="140860" bIns="0" numCol="1" spcCol="1270" anchor="t" anchorCtr="0">
          <a:noAutofit/>
        </a:bodyPr>
        <a:lstStyle/>
        <a:p>
          <a:pPr marL="0" lvl="0" indent="0" algn="l" defTabSz="977900" rtl="0">
            <a:lnSpc>
              <a:spcPct val="90000"/>
            </a:lnSpc>
            <a:spcBef>
              <a:spcPct val="0"/>
            </a:spcBef>
            <a:spcAft>
              <a:spcPct val="35000"/>
            </a:spcAft>
            <a:buNone/>
          </a:pPr>
          <a:r>
            <a:rPr lang="en-US" sz="2200" b="1" kern="1200">
              <a:latin typeface="Calibri Light"/>
            </a:rPr>
            <a:t>Agent guardrails</a:t>
          </a:r>
          <a:endParaRPr lang="en-US" sz="2200" kern="1200">
            <a:latin typeface="Calibri Light"/>
          </a:endParaRPr>
        </a:p>
        <a:p>
          <a:pPr marL="171450" lvl="1" indent="-171450" algn="l" defTabSz="755650" rtl="0">
            <a:lnSpc>
              <a:spcPct val="90000"/>
            </a:lnSpc>
            <a:spcBef>
              <a:spcPct val="0"/>
            </a:spcBef>
            <a:spcAft>
              <a:spcPct val="15000"/>
            </a:spcAft>
            <a:buChar char="•"/>
          </a:pPr>
          <a:r>
            <a:rPr lang="en-US" sz="1700" b="0" kern="1200">
              <a:solidFill>
                <a:schemeClr val="bg1"/>
              </a:solidFill>
              <a:latin typeface="Calibri Light"/>
            </a:rPr>
            <a:t>Verify plans against policies, permissions and resource limits.</a:t>
          </a:r>
        </a:p>
      </dsp:txBody>
      <dsp:txXfrm rot="5400000">
        <a:off x="3916603" y="731520"/>
        <a:ext cx="1819533" cy="2194560"/>
      </dsp:txXfrm>
    </dsp:sp>
    <dsp:sp modelId="{C18EDF56-7F6A-4E6B-9E18-FEAA543C4081}">
      <dsp:nvSpPr>
        <dsp:cNvPr id="0" name=""/>
        <dsp:cNvSpPr/>
      </dsp:nvSpPr>
      <dsp:spPr>
        <a:xfrm rot="16200000">
          <a:off x="4953569" y="919033"/>
          <a:ext cx="3657600" cy="1819533"/>
        </a:xfrm>
        <a:prstGeom prst="flowChartManualOperati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0" tIns="0" rIns="140860" bIns="0" numCol="1" spcCol="1270" anchor="t" anchorCtr="0">
          <a:noAutofit/>
        </a:bodyPr>
        <a:lstStyle/>
        <a:p>
          <a:pPr marL="0" lvl="0" indent="0" algn="l" defTabSz="977900" rtl="0">
            <a:lnSpc>
              <a:spcPct val="90000"/>
            </a:lnSpc>
            <a:spcBef>
              <a:spcPct val="0"/>
            </a:spcBef>
            <a:spcAft>
              <a:spcPct val="35000"/>
            </a:spcAft>
            <a:buNone/>
          </a:pPr>
          <a:r>
            <a:rPr lang="en-US" sz="2200" b="1" kern="1200">
              <a:latin typeface="Calibri Light"/>
            </a:rPr>
            <a:t>Domain libraries</a:t>
          </a:r>
          <a:endParaRPr lang="en-US" sz="2200" kern="1200">
            <a:latin typeface="Calibri Light"/>
          </a:endParaRPr>
        </a:p>
        <a:p>
          <a:pPr marL="171450" lvl="1" indent="-171450" algn="l" defTabSz="755650" rtl="0">
            <a:lnSpc>
              <a:spcPct val="90000"/>
            </a:lnSpc>
            <a:spcBef>
              <a:spcPct val="0"/>
            </a:spcBef>
            <a:spcAft>
              <a:spcPct val="15000"/>
            </a:spcAft>
            <a:buChar char="•"/>
          </a:pPr>
          <a:r>
            <a:rPr lang="en-US" sz="1700" b="0" kern="1200">
              <a:solidFill>
                <a:schemeClr val="bg1"/>
              </a:solidFill>
              <a:latin typeface="Calibri Light"/>
            </a:rPr>
            <a:t>Add reusable theorem templates for finance, safety, operations and compliance.</a:t>
          </a:r>
        </a:p>
      </dsp:txBody>
      <dsp:txXfrm rot="5400000">
        <a:off x="5872602" y="731520"/>
        <a:ext cx="1819533" cy="2194560"/>
      </dsp:txXfrm>
    </dsp:sp>
    <dsp:sp modelId="{8212CEAC-A9DF-49CB-853E-E4973F4FA15D}">
      <dsp:nvSpPr>
        <dsp:cNvPr id="0" name=""/>
        <dsp:cNvSpPr/>
      </dsp:nvSpPr>
      <dsp:spPr>
        <a:xfrm rot="16200000">
          <a:off x="6909568" y="919033"/>
          <a:ext cx="3657600" cy="1819533"/>
        </a:xfrm>
        <a:prstGeom prst="flowChartManualOperation">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0" tIns="0" rIns="140860" bIns="0" numCol="1" spcCol="1270" anchor="t" anchorCtr="0">
          <a:noAutofit/>
        </a:bodyPr>
        <a:lstStyle/>
        <a:p>
          <a:pPr marL="0" lvl="0" indent="0" algn="l" defTabSz="977900" rtl="0">
            <a:lnSpc>
              <a:spcPct val="90000"/>
            </a:lnSpc>
            <a:spcBef>
              <a:spcPct val="0"/>
            </a:spcBef>
            <a:spcAft>
              <a:spcPct val="35000"/>
            </a:spcAft>
            <a:buNone/>
          </a:pPr>
          <a:r>
            <a:rPr lang="en-US" sz="2200" b="1" kern="1200">
              <a:latin typeface="Calibri Light"/>
            </a:rPr>
            <a:t>Learning loop</a:t>
          </a:r>
          <a:endParaRPr lang="en-US" sz="2200" b="0" kern="1200">
            <a:latin typeface="Calibri Light"/>
          </a:endParaRPr>
        </a:p>
        <a:p>
          <a:pPr marL="171450" lvl="1" indent="-171450" algn="l" defTabSz="755650" rtl="0">
            <a:lnSpc>
              <a:spcPct val="90000"/>
            </a:lnSpc>
            <a:spcBef>
              <a:spcPct val="0"/>
            </a:spcBef>
            <a:spcAft>
              <a:spcPct val="15000"/>
            </a:spcAft>
            <a:buChar char="•"/>
          </a:pPr>
          <a:r>
            <a:rPr lang="en-US" sz="1700" b="0" kern="1200">
              <a:solidFill>
                <a:schemeClr val="bg1"/>
              </a:solidFill>
              <a:latin typeface="Calibri Light"/>
            </a:rPr>
            <a:t>Use failed proofs to improve schemas, extraction prompts and test cases.</a:t>
          </a:r>
        </a:p>
      </dsp:txBody>
      <dsp:txXfrm rot="5400000">
        <a:off x="7828601" y="731520"/>
        <a:ext cx="1819533" cy="2194560"/>
      </dsp:txXfrm>
    </dsp:sp>
    <dsp:sp modelId="{515054AB-6892-4C18-A6E7-6D09BD1F3A57}">
      <dsp:nvSpPr>
        <dsp:cNvPr id="0" name=""/>
        <dsp:cNvSpPr/>
      </dsp:nvSpPr>
      <dsp:spPr>
        <a:xfrm rot="16200000">
          <a:off x="8865567" y="919033"/>
          <a:ext cx="3657600" cy="1819533"/>
        </a:xfrm>
        <a:prstGeom prst="flowChartManualOperati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0" tIns="0" rIns="140860" bIns="0" numCol="1" spcCol="1270" anchor="t" anchorCtr="0">
          <a:noAutofit/>
        </a:bodyPr>
        <a:lstStyle/>
        <a:p>
          <a:pPr marL="0" lvl="0" indent="0" algn="l" defTabSz="977900" rtl="0">
            <a:lnSpc>
              <a:spcPct val="90000"/>
            </a:lnSpc>
            <a:spcBef>
              <a:spcPct val="0"/>
            </a:spcBef>
            <a:spcAft>
              <a:spcPct val="35000"/>
            </a:spcAft>
            <a:buNone/>
          </a:pPr>
          <a:r>
            <a:rPr lang="en-US" sz="2200" b="0" kern="1200">
              <a:latin typeface="Calibri"/>
              <a:ea typeface="Calibri"/>
              <a:cs typeface="Calibri"/>
            </a:rPr>
            <a:t>Later optimization </a:t>
          </a:r>
        </a:p>
        <a:p>
          <a:pPr marL="171450" lvl="1" indent="-171450" algn="l" defTabSz="755650" rtl="0">
            <a:lnSpc>
              <a:spcPct val="90000"/>
            </a:lnSpc>
            <a:spcBef>
              <a:spcPct val="0"/>
            </a:spcBef>
            <a:spcAft>
              <a:spcPct val="15000"/>
            </a:spcAft>
            <a:buChar char="•"/>
          </a:pPr>
          <a:r>
            <a:rPr lang="en-US" sz="1700" b="0" kern="1200" err="1">
              <a:latin typeface="Calibri"/>
              <a:ea typeface="Calibri"/>
              <a:cs typeface="Calibri"/>
            </a:rPr>
            <a:t>Reduc</a:t>
          </a:r>
          <a:r>
            <a:rPr lang="en-US" sz="1700" b="0" kern="1200">
              <a:latin typeface="Calibri"/>
              <a:ea typeface="Calibri"/>
              <a:cs typeface="Calibri"/>
            </a:rPr>
            <a:t>e latency and bring </a:t>
          </a:r>
          <a:r>
            <a:rPr lang="en-US" sz="1700" b="0" kern="1200" err="1">
              <a:latin typeface="Calibri"/>
              <a:ea typeface="Calibri"/>
              <a:cs typeface="Calibri"/>
            </a:rPr>
            <a:t>ondevice</a:t>
          </a:r>
          <a:r>
            <a:rPr lang="en-US" sz="1700" b="0" kern="1200">
              <a:latin typeface="Calibri"/>
              <a:ea typeface="Calibri"/>
              <a:cs typeface="Calibri"/>
            </a:rPr>
            <a:t> capabilities using seq to seq approach.</a:t>
          </a:r>
        </a:p>
      </dsp:txBody>
      <dsp:txXfrm rot="5400000">
        <a:off x="9784600" y="731520"/>
        <a:ext cx="1819533" cy="21945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72F29A-0572-4BC2-B149-CC1B7E5860C5}">
      <dsp:nvSpPr>
        <dsp:cNvPr id="0" name=""/>
        <dsp:cNvSpPr/>
      </dsp:nvSpPr>
      <dsp:spPr>
        <a:xfrm>
          <a:off x="648973" y="1799"/>
          <a:ext cx="8128274" cy="487696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rtl="0">
            <a:lnSpc>
              <a:spcPct val="90000"/>
            </a:lnSpc>
            <a:spcBef>
              <a:spcPct val="0"/>
            </a:spcBef>
            <a:spcAft>
              <a:spcPct val="35000"/>
            </a:spcAft>
            <a:buNone/>
          </a:pPr>
          <a:endParaRPr lang="en-US" sz="6500" b="1" kern="1200">
            <a:solidFill>
              <a:srgbClr val="111827"/>
            </a:solidFill>
            <a:latin typeface="Calibri Light"/>
          </a:endParaRPr>
        </a:p>
      </dsp:txBody>
      <dsp:txXfrm>
        <a:off x="791814" y="144640"/>
        <a:ext cx="7842592" cy="459128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B2517-DA0A-8E90-581D-48380FB70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1A832-283B-30A4-F3A2-5D6DAEA71D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1115E8-0452-86D3-41C5-719D5D4B83D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EB8E088-45A6-CEE4-EDA0-820F7DBDD50D}"/>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7991605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5F749-9CD9-1FAF-10BC-A9FEE9296A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36D406-C072-5420-1498-05D1602845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F5D27C-72DA-8632-DA05-0678BEFE6EB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C781642-36D8-B526-BD40-1D55D4C707FA}"/>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188448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[Sources]
- Visual on this slide was generated with Microsoft Copilot.
[/Sources]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67178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FFAA22"/>
          </a:solidFill>
          <a:ln w="12700">
            <a:solidFill>
              <a:srgbClr val="FFAA22"/>
            </a:solidFill>
            <a:prstDash val="solid"/>
          </a:ln>
        </p:spPr>
      </p:sp>
      <p:sp>
        <p:nvSpPr>
          <p:cNvPr id="3" name="Text 1"/>
          <p:cNvSpPr/>
          <p:nvPr/>
        </p:nvSpPr>
        <p:spPr>
          <a:xfrm>
            <a:off x="667512" y="6528816"/>
            <a:ext cx="1188720" cy="137160"/>
          </a:xfrm>
          <a:prstGeom prst="rect">
            <a:avLst/>
          </a:prstGeom>
          <a:noFill/>
          <a:ln/>
        </p:spPr>
        <p:txBody>
          <a:bodyPr wrap="square" lIns="0" tIns="0" rIns="0" bIns="0" rtlCol="0" anchor="ctr"/>
          <a:lstStyle/>
          <a:p>
            <a:pPr marL="0" indent="0">
              <a:buNone/>
            </a:pPr>
            <a:r>
              <a:rPr lang="en-US" sz="650">
                <a:solidFill>
                  <a:srgbClr val="667085"/>
                </a:solidFill>
                <a:latin typeface="Arial" pitchFamily="34" charset="0"/>
                <a:ea typeface="Arial" pitchFamily="34" charset="-122"/>
                <a:cs typeface="Arial" pitchFamily="34" charset="-120"/>
              </a:rPr>
              <a:t>TCS confidential</a:t>
            </a:r>
            <a:endParaRPr lang="en-US" sz="650"/>
          </a:p>
        </p:txBody>
      </p:sp>
      <p:sp>
        <p:nvSpPr>
          <p:cNvPr id="4" name="Text 2"/>
          <p:cNvSpPr/>
          <p:nvPr/>
        </p:nvSpPr>
        <p:spPr>
          <a:xfrm>
            <a:off x="11018520" y="6437376"/>
            <a:ext cx="548640" cy="228600"/>
          </a:xfrm>
          <a:prstGeom prst="rect">
            <a:avLst/>
          </a:prstGeom>
          <a:noFill/>
          <a:ln/>
        </p:spPr>
        <p:txBody>
          <a:bodyPr wrap="square" lIns="0" tIns="0" rIns="0" bIns="0" rtlCol="0" anchor="ctr"/>
          <a:lstStyle/>
          <a:p>
            <a:pPr marL="0" indent="0" algn="r">
              <a:buNone/>
            </a:pPr>
            <a:r>
              <a:rPr lang="en-US" sz="1600" b="1" i="1">
                <a:solidFill>
                  <a:srgbClr val="4E84C4"/>
                </a:solidFill>
                <a:latin typeface="Arial" pitchFamily="34" charset="0"/>
                <a:ea typeface="Arial" pitchFamily="34" charset="-122"/>
                <a:cs typeface="Arial" pitchFamily="34" charset="-120"/>
              </a:rPr>
              <a:t>tcs</a:t>
            </a:r>
            <a:endParaRPr lang="en-US" sz="1600"/>
          </a:p>
        </p:txBody>
      </p:sp>
      <p:sp>
        <p:nvSpPr>
          <p:cNvPr id="25" name="Slide Number Placeholder 0"/>
          <p:cNvSpPr>
            <a:spLocks noGrp="1"/>
          </p:cNvSpPr>
          <p:nvPr>
            <p:ph type="sldNum" sz="quarter" idx="4294967295"/>
          </p:nvPr>
        </p:nvSpPr>
        <p:spPr>
          <a:xfrm>
            <a:off x="11750040"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67085"/>
                </a:solidFill>
                <a:latin typeface="Arial"/>
                <a:ea typeface="Arial"/>
                <a:cs typeface="Aria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3904220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CS_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FBB034"/>
          </a:solidFill>
          <a:ln w="12700">
            <a:solidFill>
              <a:srgbClr val="FBB034"/>
            </a:solidFill>
            <a:prstDash val="solid"/>
          </a:ln>
        </p:spPr>
      </p:sp>
      <p:sp>
        <p:nvSpPr>
          <p:cNvPr id="3" name="Text 1"/>
          <p:cNvSpPr/>
          <p:nvPr/>
        </p:nvSpPr>
        <p:spPr>
          <a:xfrm>
            <a:off x="384048" y="6510528"/>
            <a:ext cx="1280160" cy="164592"/>
          </a:xfrm>
          <a:prstGeom prst="rect">
            <a:avLst/>
          </a:prstGeom>
          <a:noFill/>
          <a:ln/>
        </p:spPr>
        <p:txBody>
          <a:bodyPr wrap="square" lIns="0" tIns="0" rIns="0" bIns="0" rtlCol="0" anchor="ctr"/>
          <a:lstStyle/>
          <a:p>
            <a:pPr marL="0" indent="0">
              <a:buNone/>
            </a:pPr>
            <a:r>
              <a:rPr lang="en-US" sz="800">
                <a:solidFill>
                  <a:srgbClr val="666666"/>
                </a:solidFill>
                <a:latin typeface="Calibri Light" pitchFamily="34" charset="0"/>
                <a:ea typeface="Calibri Light" pitchFamily="34" charset="-122"/>
                <a:cs typeface="Calibri Light" pitchFamily="34" charset="-120"/>
              </a:rPr>
              <a:t>TCS confidential</a:t>
            </a:r>
            <a:endParaRPr lang="en-US" sz="800"/>
          </a:p>
        </p:txBody>
      </p:sp>
      <p:sp>
        <p:nvSpPr>
          <p:cNvPr id="4" name="Text 2"/>
          <p:cNvSpPr/>
          <p:nvPr/>
        </p:nvSpPr>
        <p:spPr>
          <a:xfrm>
            <a:off x="11064240" y="6428232"/>
            <a:ext cx="658368" cy="274320"/>
          </a:xfrm>
          <a:prstGeom prst="rect">
            <a:avLst/>
          </a:prstGeom>
          <a:noFill/>
          <a:ln/>
        </p:spPr>
        <p:txBody>
          <a:bodyPr wrap="square" lIns="0" tIns="0" rIns="0" bIns="0" rtlCol="0" anchor="ctr"/>
          <a:lstStyle/>
          <a:p>
            <a:pPr marL="0" indent="0" algn="r">
              <a:buNone/>
            </a:pPr>
            <a:r>
              <a:rPr lang="en-US" sz="1800" b="1">
                <a:solidFill>
                  <a:srgbClr val="4E84C4"/>
                </a:solidFill>
                <a:latin typeface="Calibri" pitchFamily="34" charset="0"/>
                <a:ea typeface="Calibri" pitchFamily="34" charset="-122"/>
                <a:cs typeface="Calibri" pitchFamily="34" charset="-120"/>
              </a:rPr>
              <a:t>tcs</a:t>
            </a:r>
            <a:endParaRPr lang="en-US" sz="1800"/>
          </a:p>
        </p:txBody>
      </p:sp>
      <p:sp>
        <p:nvSpPr>
          <p:cNvPr id="25" name="Slide Number Placeholder 0"/>
          <p:cNvSpPr>
            <a:spLocks noGrp="1"/>
          </p:cNvSpPr>
          <p:nvPr>
            <p:ph type="sldNum" sz="quarter" idx="4294967295"/>
          </p:nvPr>
        </p:nvSpPr>
        <p:spPr>
          <a:xfrm>
            <a:off x="10652760" y="6510528"/>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77777"/>
                </a:solidFill>
              </a:defRPr>
            </a:lvl1pPr>
          </a:lstStyle>
          <a:p>
            <a:pPr algn="ct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52760" y="6510528"/>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77777"/>
                </a:solidFill>
              </a:defRPr>
            </a:lvl1pPr>
          </a:lstStyle>
          <a:p>
            <a:pPr algn="ct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0"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7.jpe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33"/>
        </a:solidFill>
        <a:effectLst/>
      </p:bgPr>
    </p:bg>
    <p:spTree>
      <p:nvGrpSpPr>
        <p:cNvPr id="1" name=""/>
        <p:cNvGrpSpPr/>
        <p:nvPr/>
      </p:nvGrpSpPr>
      <p:grpSpPr>
        <a:xfrm>
          <a:off x="0" y="0"/>
          <a:ext cx="1" cy="1"/>
          <a:chOff x="0" y="0"/>
          <a:chExt cx="1" cy="1"/>
        </a:xfrm>
      </p:grpSpPr>
      <p:sp>
        <p:nvSpPr>
          <p:cNvPr id="2" name="Shape 0"/>
          <p:cNvSpPr/>
          <p:nvPr/>
        </p:nvSpPr>
        <p:spPr>
          <a:xfrm>
            <a:off x="0" y="0"/>
            <a:ext cx="12191695" cy="100584"/>
          </a:xfrm>
          <a:prstGeom prst="rect">
            <a:avLst/>
          </a:prstGeom>
          <a:solidFill>
            <a:srgbClr val="FBB034"/>
          </a:solidFill>
          <a:ln w="12700">
            <a:solidFill>
              <a:srgbClr val="FBB034"/>
            </a:solidFill>
            <a:prstDash val="solid"/>
          </a:ln>
        </p:spPr>
      </p:sp>
      <p:sp>
        <p:nvSpPr>
          <p:cNvPr id="3" name="Text 1"/>
          <p:cNvSpPr/>
          <p:nvPr/>
        </p:nvSpPr>
        <p:spPr>
          <a:xfrm>
            <a:off x="658368" y="1024128"/>
            <a:ext cx="5669280" cy="1417320"/>
          </a:xfrm>
          <a:prstGeom prst="rect">
            <a:avLst/>
          </a:prstGeom>
          <a:noFill/>
          <a:ln/>
        </p:spPr>
        <p:txBody>
          <a:bodyPr wrap="square" lIns="0" tIns="0" rIns="0" bIns="0" rtlCol="0" anchor="ctr"/>
          <a:lstStyle/>
          <a:p>
            <a:r>
              <a:rPr lang="en-US" sz="3600" b="1">
                <a:solidFill>
                  <a:srgbClr val="FFFFFF"/>
                </a:solidFill>
                <a:latin typeface="Calibri Light"/>
                <a:ea typeface="Calibri Light"/>
                <a:cs typeface="Calibri Light"/>
              </a:rPr>
              <a:t>From Requirements</a:t>
            </a:r>
          </a:p>
          <a:p>
            <a:r>
              <a:rPr lang="en-US" sz="3600" b="1">
                <a:solidFill>
                  <a:srgbClr val="FFFFFF"/>
                </a:solidFill>
                <a:latin typeface="Calibri Light"/>
                <a:ea typeface="Calibri Light"/>
                <a:cs typeface="Calibri Light"/>
              </a:rPr>
              <a:t>to Verified Software</a:t>
            </a:r>
            <a:endParaRPr lang="en-US" sz="3600">
              <a:solidFill>
                <a:srgbClr val="000000"/>
              </a:solidFill>
              <a:latin typeface="Calibri Light"/>
              <a:ea typeface="Calibri Light"/>
              <a:cs typeface="Calibri Light"/>
            </a:endParaRPr>
          </a:p>
        </p:txBody>
      </p:sp>
      <p:sp>
        <p:nvSpPr>
          <p:cNvPr id="4" name="Text 2"/>
          <p:cNvSpPr/>
          <p:nvPr/>
        </p:nvSpPr>
        <p:spPr>
          <a:xfrm>
            <a:off x="685800" y="2697480"/>
            <a:ext cx="5303520" cy="960120"/>
          </a:xfrm>
          <a:prstGeom prst="rect">
            <a:avLst/>
          </a:prstGeom>
          <a:noFill/>
          <a:ln/>
        </p:spPr>
        <p:txBody>
          <a:bodyPr wrap="square" lIns="254" tIns="254" rIns="254" bIns="254" rtlCol="0" anchor="ctr"/>
          <a:lstStyle/>
          <a:p>
            <a:pPr marL="0" indent="0">
              <a:buNone/>
            </a:pPr>
            <a:r>
              <a:rPr lang="en-US" sz="1800">
                <a:solidFill>
                  <a:srgbClr val="DDE8F6"/>
                </a:solidFill>
              </a:rPr>
              <a:t>A formal verification pipeline for ambiguity, consistency and conflict detection across SDLC documents</a:t>
            </a:r>
            <a:endParaRPr lang="en-US" sz="1800"/>
          </a:p>
        </p:txBody>
      </p:sp>
      <p:sp>
        <p:nvSpPr>
          <p:cNvPr id="5" name="Shape 3"/>
          <p:cNvSpPr/>
          <p:nvPr/>
        </p:nvSpPr>
        <p:spPr>
          <a:xfrm>
            <a:off x="685800" y="3913632"/>
            <a:ext cx="1097280" cy="1"/>
          </a:xfrm>
          <a:prstGeom prst="line">
            <a:avLst/>
          </a:prstGeom>
          <a:noFill/>
          <a:ln w="50800">
            <a:solidFill>
              <a:srgbClr val="FBB034"/>
            </a:solidFill>
            <a:prstDash val="solid"/>
          </a:ln>
        </p:spPr>
      </p:sp>
      <p:sp>
        <p:nvSpPr>
          <p:cNvPr id="6" name="Text 4"/>
          <p:cNvSpPr/>
          <p:nvPr/>
        </p:nvSpPr>
        <p:spPr>
          <a:xfrm>
            <a:off x="694944" y="4114800"/>
            <a:ext cx="5120640" cy="320040"/>
          </a:xfrm>
          <a:prstGeom prst="rect">
            <a:avLst/>
          </a:prstGeom>
          <a:noFill/>
          <a:ln/>
        </p:spPr>
        <p:txBody>
          <a:bodyPr wrap="square" lIns="0" tIns="0" rIns="0" bIns="0" rtlCol="0" anchor="ctr"/>
          <a:lstStyle/>
          <a:p>
            <a:r>
              <a:rPr lang="en-US" sz="1300">
                <a:solidFill>
                  <a:srgbClr val="FFFFFF"/>
                </a:solidFill>
              </a:rPr>
              <a:t>Proof-guided SDLC verification</a:t>
            </a:r>
            <a:endParaRPr lang="en-US" sz="1300"/>
          </a:p>
        </p:txBody>
      </p:sp>
      <p:pic>
        <p:nvPicPr>
          <p:cNvPr id="7" name="Image 0" descr="/mnt/data/052d8a5f43.png"/>
          <p:cNvPicPr>
            <a:picLocks noChangeAspect="1"/>
          </p:cNvPicPr>
          <p:nvPr/>
        </p:nvPicPr>
        <p:blipFill>
          <a:blip r:embed="rId3"/>
          <a:srcRect l="18271" r="18271"/>
          <a:stretch/>
        </p:blipFill>
        <p:spPr>
          <a:xfrm>
            <a:off x="6400800" y="320040"/>
            <a:ext cx="5788152" cy="6080760"/>
          </a:xfrm>
          <a:prstGeom prst="rect">
            <a:avLst/>
          </a:prstGeom>
        </p:spPr>
      </p:pic>
      <p:sp>
        <p:nvSpPr>
          <p:cNvPr id="25" name="Slide Number Placeholder 0"/>
          <p:cNvSpPr>
            <a:spLocks noGrp="1"/>
          </p:cNvSpPr>
          <p:nvPr>
            <p:ph type="sldNum" sz="quarter" idx="4294967295"/>
          </p:nvPr>
        </p:nvSpPr>
        <p:spPr>
          <a:xfrm>
            <a:off x="10652760" y="6510528"/>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77777"/>
                </a:solidFill>
              </a:defRPr>
            </a:lvl1pPr>
          </a:lstStyle>
          <a:p>
            <a:pPr algn="ctr"/>
            <a:fld id="{F7021451-1387-4CA6-816F-3879F97B5CBC}" type="slidenum">
              <a:rPr lang="en-US" b="0"/>
              <a:t>1</a:t>
            </a:fld>
            <a:endParaRPr lang="en-US"/>
          </a:p>
        </p:txBody>
      </p:sp>
      <p:sp>
        <p:nvSpPr>
          <p:cNvPr id="12" name="Text 2">
            <a:extLst>
              <a:ext uri="{FF2B5EF4-FFF2-40B4-BE49-F238E27FC236}">
                <a16:creationId xmlns:a16="http://schemas.microsoft.com/office/drawing/2014/main" id="{FC4DA3EA-243C-8F7B-D670-28A920B43AA1}"/>
              </a:ext>
            </a:extLst>
          </p:cNvPr>
          <p:cNvSpPr/>
          <p:nvPr/>
        </p:nvSpPr>
        <p:spPr>
          <a:xfrm>
            <a:off x="675903" y="4647012"/>
            <a:ext cx="5303520" cy="1524197"/>
          </a:xfrm>
          <a:prstGeom prst="rect">
            <a:avLst/>
          </a:prstGeom>
          <a:noFill/>
          <a:ln/>
        </p:spPr>
        <p:txBody>
          <a:bodyPr wrap="square" lIns="254" tIns="254" rIns="254" bIns="254" rtlCol="0" anchor="ctr"/>
          <a:lstStyle/>
          <a:p>
            <a:r>
              <a:rPr lang="en-US">
                <a:solidFill>
                  <a:srgbClr val="DDE8F6"/>
                </a:solidFill>
                <a:ea typeface="Calibri Light"/>
                <a:cs typeface="Calibri Light"/>
              </a:rPr>
              <a:t>Rohit Patil</a:t>
            </a:r>
          </a:p>
          <a:p>
            <a:r>
              <a:rPr lang="en-US">
                <a:solidFill>
                  <a:srgbClr val="DDE8F6"/>
                </a:solidFill>
                <a:ea typeface="Calibri Light"/>
                <a:cs typeface="Calibri Light"/>
              </a:rPr>
              <a:t>Swaraj </a:t>
            </a:r>
            <a:r>
              <a:rPr lang="en-US" err="1">
                <a:solidFill>
                  <a:srgbClr val="DDE8F6"/>
                </a:solidFill>
                <a:ea typeface="Calibri Light"/>
                <a:cs typeface="Calibri Light"/>
              </a:rPr>
              <a:t>Jahirabadkar</a:t>
            </a:r>
            <a:endParaRPr lang="en-US">
              <a:solidFill>
                <a:srgbClr val="DDE8F6"/>
              </a:solidFill>
              <a:ea typeface="Calibri Light"/>
              <a:cs typeface="Calibri Light"/>
            </a:endParaRPr>
          </a:p>
          <a:p>
            <a:r>
              <a:rPr lang="en-US">
                <a:solidFill>
                  <a:srgbClr val="DDE8F6"/>
                </a:solidFill>
                <a:ea typeface="Calibri Light"/>
                <a:cs typeface="Calibri Light"/>
              </a:rPr>
              <a:t>Sia Mittal</a:t>
            </a:r>
            <a:br>
              <a:rPr lang="en-US">
                <a:ea typeface="Calibri Light"/>
                <a:cs typeface="Calibri Light"/>
              </a:rPr>
            </a:br>
            <a:r>
              <a:rPr lang="en-US">
                <a:solidFill>
                  <a:srgbClr val="DDE8F6"/>
                </a:solidFill>
                <a:ea typeface="Calibri Light"/>
                <a:cs typeface="Calibri Light"/>
              </a:rPr>
              <a:t>Jay Shorey</a:t>
            </a:r>
          </a:p>
          <a:p>
            <a:r>
              <a:rPr lang="en-US">
                <a:solidFill>
                  <a:srgbClr val="DDE8F6"/>
                </a:solidFill>
                <a:ea typeface="Calibri Light"/>
                <a:cs typeface="Calibri Light"/>
              </a:rPr>
              <a:t>Mentor – Anand Yeolekar</a:t>
            </a:r>
          </a:p>
        </p:txBody>
      </p:sp>
      <p:sp>
        <p:nvSpPr>
          <p:cNvPr id="9" name="Freeform 2">
            <a:extLst>
              <a:ext uri="{FF2B5EF4-FFF2-40B4-BE49-F238E27FC236}">
                <a16:creationId xmlns:a16="http://schemas.microsoft.com/office/drawing/2014/main" id="{1400AFA4-1877-F40E-B261-A485418CC0AB}"/>
              </a:ext>
            </a:extLst>
          </p:cNvPr>
          <p:cNvSpPr/>
          <p:nvPr/>
        </p:nvSpPr>
        <p:spPr>
          <a:xfrm>
            <a:off x="5142104" y="6380991"/>
            <a:ext cx="1903592" cy="476247"/>
          </a:xfrm>
          <a:custGeom>
            <a:avLst/>
            <a:gdLst/>
            <a:ahLst/>
            <a:cxnLst/>
            <a:rect l="l" t="t" r="r" b="b"/>
            <a:pathLst>
              <a:path w="2855388" h="714371">
                <a:moveTo>
                  <a:pt x="0" y="0"/>
                </a:moveTo>
                <a:lnTo>
                  <a:pt x="2855388" y="0"/>
                </a:lnTo>
                <a:lnTo>
                  <a:pt x="2855388" y="714371"/>
                </a:lnTo>
                <a:lnTo>
                  <a:pt x="0" y="714371"/>
                </a:lnTo>
                <a:lnTo>
                  <a:pt x="0" y="0"/>
                </a:lnTo>
                <a:close/>
              </a:path>
            </a:pathLst>
          </a:custGeom>
          <a:blipFill>
            <a:blip r:embed="rId4"/>
            <a:stretch>
              <a:fillRect t="-1162" b="-1162"/>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E8C58-1B09-DB90-46D6-EE84FC6B007A}"/>
            </a:ext>
          </a:extLst>
        </p:cNvPr>
        <p:cNvGrpSpPr/>
        <p:nvPr/>
      </p:nvGrpSpPr>
      <p:grpSpPr>
        <a:xfrm>
          <a:off x="0" y="0"/>
          <a:ext cx="1" cy="1"/>
          <a:chOff x="0" y="0"/>
          <a:chExt cx="1" cy="1"/>
        </a:xfrm>
      </p:grpSpPr>
      <p:sp>
        <p:nvSpPr>
          <p:cNvPr id="2" name="Text 0">
            <a:extLst>
              <a:ext uri="{FF2B5EF4-FFF2-40B4-BE49-F238E27FC236}">
                <a16:creationId xmlns:a16="http://schemas.microsoft.com/office/drawing/2014/main" id="{89EE7781-7057-ADD3-8308-A42BEFF32CDD}"/>
              </a:ext>
            </a:extLst>
          </p:cNvPr>
          <p:cNvSpPr/>
          <p:nvPr/>
        </p:nvSpPr>
        <p:spPr>
          <a:xfrm>
            <a:off x="475488" y="320040"/>
            <a:ext cx="11064240" cy="502920"/>
          </a:xfrm>
          <a:prstGeom prst="rect">
            <a:avLst/>
          </a:prstGeom>
          <a:noFill/>
          <a:ln/>
        </p:spPr>
        <p:txBody>
          <a:bodyPr wrap="square" lIns="0" tIns="0" rIns="0" bIns="0" rtlCol="0" anchor="ctr"/>
          <a:lstStyle/>
          <a:p>
            <a:pPr marL="0" indent="0">
              <a:buNone/>
            </a:pPr>
            <a:r>
              <a:rPr lang="en-US" sz="2600" b="1">
                <a:solidFill>
                  <a:srgbClr val="111827"/>
                </a:solidFill>
                <a:latin typeface="Calibri Light" pitchFamily="34" charset="0"/>
                <a:ea typeface="Calibri Light" pitchFamily="34" charset="-122"/>
                <a:cs typeface="Calibri Light" pitchFamily="34" charset="-120"/>
              </a:rPr>
              <a:t>The big picture: idea to dependable software</a:t>
            </a:r>
            <a:endParaRPr lang="en-US" sz="2600"/>
          </a:p>
        </p:txBody>
      </p:sp>
      <p:sp>
        <p:nvSpPr>
          <p:cNvPr id="3" name="Text 1">
            <a:extLst>
              <a:ext uri="{FF2B5EF4-FFF2-40B4-BE49-F238E27FC236}">
                <a16:creationId xmlns:a16="http://schemas.microsoft.com/office/drawing/2014/main" id="{8B92A3FF-2D53-386B-91DB-CB0B754B2686}"/>
              </a:ext>
            </a:extLst>
          </p:cNvPr>
          <p:cNvSpPr/>
          <p:nvPr/>
        </p:nvSpPr>
        <p:spPr>
          <a:xfrm>
            <a:off x="493776" y="859536"/>
            <a:ext cx="10881360" cy="320040"/>
          </a:xfrm>
          <a:prstGeom prst="rect">
            <a:avLst/>
          </a:prstGeom>
          <a:noFill/>
          <a:ln/>
        </p:spPr>
        <p:txBody>
          <a:bodyPr wrap="square" lIns="0" tIns="0" rIns="0" bIns="0" rtlCol="0" anchor="ctr"/>
          <a:lstStyle/>
          <a:p>
            <a:pPr marL="0" indent="0">
              <a:buNone/>
            </a:pPr>
            <a:r>
              <a:rPr lang="en-US" sz="1400">
                <a:solidFill>
                  <a:srgbClr val="667085"/>
                </a:solidFill>
              </a:rPr>
              <a:t>SDLC verification is the trust layer between intent and implementation.</a:t>
            </a:r>
            <a:endParaRPr lang="en-US" sz="1400">
              <a:ea typeface="Calibri Light"/>
              <a:cs typeface="Calibri Light"/>
            </a:endParaRPr>
          </a:p>
        </p:txBody>
      </p:sp>
      <p:sp>
        <p:nvSpPr>
          <p:cNvPr id="4" name="Shape 2">
            <a:extLst>
              <a:ext uri="{FF2B5EF4-FFF2-40B4-BE49-F238E27FC236}">
                <a16:creationId xmlns:a16="http://schemas.microsoft.com/office/drawing/2014/main" id="{A520C3D6-4811-4D61-39D9-519E5ACF4F67}"/>
              </a:ext>
            </a:extLst>
          </p:cNvPr>
          <p:cNvSpPr/>
          <p:nvPr/>
        </p:nvSpPr>
        <p:spPr>
          <a:xfrm>
            <a:off x="502920" y="1874520"/>
            <a:ext cx="1783080" cy="2194560"/>
          </a:xfrm>
          <a:prstGeom prst="roundRect">
            <a:avLst>
              <a:gd name="adj" fmla="val 5128"/>
            </a:avLst>
          </a:prstGeom>
          <a:solidFill>
            <a:srgbClr val="FFFFFF"/>
          </a:solidFill>
          <a:ln w="12700">
            <a:solidFill>
              <a:srgbClr val="4E84C4"/>
            </a:solidFill>
            <a:prstDash val="solid"/>
          </a:ln>
          <a:effectLst>
            <a:outerShdw blurRad="25400" dist="12700" dir="2700000" algn="bl" rotWithShape="0">
              <a:srgbClr val="000000">
                <a:alpha val="16000"/>
              </a:srgbClr>
            </a:outerShdw>
          </a:effectLst>
        </p:spPr>
      </p:sp>
      <p:sp>
        <p:nvSpPr>
          <p:cNvPr id="5" name="Shape 3">
            <a:extLst>
              <a:ext uri="{FF2B5EF4-FFF2-40B4-BE49-F238E27FC236}">
                <a16:creationId xmlns:a16="http://schemas.microsoft.com/office/drawing/2014/main" id="{8A552803-32B5-EFFC-298F-BB1E7B2D30BE}"/>
              </a:ext>
            </a:extLst>
          </p:cNvPr>
          <p:cNvSpPr/>
          <p:nvPr/>
        </p:nvSpPr>
        <p:spPr>
          <a:xfrm>
            <a:off x="1097280" y="2176272"/>
            <a:ext cx="594360" cy="594360"/>
          </a:xfrm>
          <a:prstGeom prst="ellipse">
            <a:avLst/>
          </a:prstGeom>
          <a:solidFill>
            <a:srgbClr val="4E84C4"/>
          </a:solidFill>
          <a:ln w="12700">
            <a:solidFill>
              <a:srgbClr val="4E84C4"/>
            </a:solidFill>
            <a:prstDash val="solid"/>
          </a:ln>
        </p:spPr>
      </p:sp>
      <p:sp>
        <p:nvSpPr>
          <p:cNvPr id="6" name="Text 4">
            <a:extLst>
              <a:ext uri="{FF2B5EF4-FFF2-40B4-BE49-F238E27FC236}">
                <a16:creationId xmlns:a16="http://schemas.microsoft.com/office/drawing/2014/main" id="{DCD6A23F-BAF6-3401-A98B-1C2115717C12}"/>
              </a:ext>
            </a:extLst>
          </p:cNvPr>
          <p:cNvSpPr/>
          <p:nvPr/>
        </p:nvSpPr>
        <p:spPr>
          <a:xfrm>
            <a:off x="1097280" y="2322576"/>
            <a:ext cx="594360" cy="182880"/>
          </a:xfrm>
          <a:prstGeom prst="rect">
            <a:avLst/>
          </a:prstGeom>
          <a:noFill/>
          <a:ln/>
        </p:spPr>
        <p:txBody>
          <a:bodyPr wrap="square" lIns="0" tIns="0" rIns="0" bIns="0" rtlCol="0" anchor="ctr"/>
          <a:lstStyle/>
          <a:p>
            <a:pPr marL="0" indent="0" algn="ctr">
              <a:buNone/>
            </a:pPr>
            <a:r>
              <a:rPr lang="en-US" sz="1300" b="1">
                <a:solidFill>
                  <a:srgbClr val="FFFFFF"/>
                </a:solidFill>
              </a:rPr>
              <a:t>1</a:t>
            </a:r>
            <a:endParaRPr lang="en-US" sz="1300"/>
          </a:p>
        </p:txBody>
      </p:sp>
      <p:sp>
        <p:nvSpPr>
          <p:cNvPr id="7" name="Text 5">
            <a:extLst>
              <a:ext uri="{FF2B5EF4-FFF2-40B4-BE49-F238E27FC236}">
                <a16:creationId xmlns:a16="http://schemas.microsoft.com/office/drawing/2014/main" id="{0F35D72F-01A1-190A-FB45-B7E698F3CC97}"/>
              </a:ext>
            </a:extLst>
          </p:cNvPr>
          <p:cNvSpPr/>
          <p:nvPr/>
        </p:nvSpPr>
        <p:spPr>
          <a:xfrm>
            <a:off x="649224" y="2971800"/>
            <a:ext cx="1490472" cy="320040"/>
          </a:xfrm>
          <a:prstGeom prst="rect">
            <a:avLst/>
          </a:prstGeom>
          <a:noFill/>
          <a:ln/>
        </p:spPr>
        <p:txBody>
          <a:bodyPr wrap="square" lIns="0" tIns="0" rIns="0" bIns="0" rtlCol="0" anchor="ctr"/>
          <a:lstStyle/>
          <a:p>
            <a:pPr marL="0" indent="0" algn="ctr">
              <a:buNone/>
            </a:pPr>
            <a:r>
              <a:rPr lang="en-US" sz="1700" b="1">
                <a:solidFill>
                  <a:srgbClr val="111827"/>
                </a:solidFill>
              </a:rPr>
              <a:t>Idea</a:t>
            </a:r>
            <a:endParaRPr lang="en-US" sz="1700"/>
          </a:p>
        </p:txBody>
      </p:sp>
      <p:sp>
        <p:nvSpPr>
          <p:cNvPr id="8" name="Text 6">
            <a:extLst>
              <a:ext uri="{FF2B5EF4-FFF2-40B4-BE49-F238E27FC236}">
                <a16:creationId xmlns:a16="http://schemas.microsoft.com/office/drawing/2014/main" id="{758D0675-3074-D9E0-F45C-7772579FF42E}"/>
              </a:ext>
            </a:extLst>
          </p:cNvPr>
          <p:cNvSpPr/>
          <p:nvPr/>
        </p:nvSpPr>
        <p:spPr>
          <a:xfrm>
            <a:off x="685800" y="3383280"/>
            <a:ext cx="1417320" cy="502920"/>
          </a:xfrm>
          <a:prstGeom prst="rect">
            <a:avLst/>
          </a:prstGeom>
          <a:noFill/>
          <a:ln/>
        </p:spPr>
        <p:txBody>
          <a:bodyPr wrap="square" lIns="254" tIns="254" rIns="254" bIns="254" rtlCol="0" anchor="ctr">
            <a:normAutofit/>
          </a:bodyPr>
          <a:lstStyle/>
          <a:p>
            <a:pPr marL="0" indent="0" algn="ctr">
              <a:buNone/>
            </a:pPr>
            <a:r>
              <a:rPr lang="en-US" sz="1400"/>
              <a:t>Business intent</a:t>
            </a:r>
            <a:endParaRPr lang="en-US" sz="1400">
              <a:ea typeface="Calibri Light"/>
              <a:cs typeface="Calibri Light"/>
            </a:endParaRPr>
          </a:p>
        </p:txBody>
      </p:sp>
      <p:sp>
        <p:nvSpPr>
          <p:cNvPr id="9" name="Shape 7">
            <a:extLst>
              <a:ext uri="{FF2B5EF4-FFF2-40B4-BE49-F238E27FC236}">
                <a16:creationId xmlns:a16="http://schemas.microsoft.com/office/drawing/2014/main" id="{3704F78A-834B-94E1-0A51-AE74FE428EFA}"/>
              </a:ext>
            </a:extLst>
          </p:cNvPr>
          <p:cNvSpPr/>
          <p:nvPr/>
        </p:nvSpPr>
        <p:spPr>
          <a:xfrm>
            <a:off x="2286000" y="2971800"/>
            <a:ext cx="256032" cy="1"/>
          </a:xfrm>
          <a:prstGeom prst="line">
            <a:avLst/>
          </a:prstGeom>
          <a:noFill/>
          <a:ln w="25400">
            <a:solidFill>
              <a:srgbClr val="4E84C4"/>
            </a:solidFill>
            <a:prstDash val="solid"/>
            <a:headEnd type="none"/>
            <a:tailEnd type="triangle"/>
          </a:ln>
        </p:spPr>
      </p:sp>
      <p:sp>
        <p:nvSpPr>
          <p:cNvPr id="10" name="Shape 8">
            <a:extLst>
              <a:ext uri="{FF2B5EF4-FFF2-40B4-BE49-F238E27FC236}">
                <a16:creationId xmlns:a16="http://schemas.microsoft.com/office/drawing/2014/main" id="{0555508C-6721-8667-5F2B-8C811C869917}"/>
              </a:ext>
            </a:extLst>
          </p:cNvPr>
          <p:cNvSpPr/>
          <p:nvPr/>
        </p:nvSpPr>
        <p:spPr>
          <a:xfrm>
            <a:off x="2651760" y="1874520"/>
            <a:ext cx="1783080" cy="2194560"/>
          </a:xfrm>
          <a:prstGeom prst="roundRect">
            <a:avLst>
              <a:gd name="adj" fmla="val 5128"/>
            </a:avLst>
          </a:prstGeom>
          <a:solidFill>
            <a:srgbClr val="FFFFFF"/>
          </a:solidFill>
          <a:ln w="12700">
            <a:solidFill>
              <a:srgbClr val="4E84C4"/>
            </a:solidFill>
            <a:prstDash val="solid"/>
          </a:ln>
          <a:effectLst/>
        </p:spPr>
      </p:sp>
      <p:sp>
        <p:nvSpPr>
          <p:cNvPr id="11" name="Shape 9">
            <a:extLst>
              <a:ext uri="{FF2B5EF4-FFF2-40B4-BE49-F238E27FC236}">
                <a16:creationId xmlns:a16="http://schemas.microsoft.com/office/drawing/2014/main" id="{B7F68C2B-58E9-1DB7-7434-55646CF66123}"/>
              </a:ext>
            </a:extLst>
          </p:cNvPr>
          <p:cNvSpPr/>
          <p:nvPr/>
        </p:nvSpPr>
        <p:spPr>
          <a:xfrm>
            <a:off x="3246120" y="2176272"/>
            <a:ext cx="594360" cy="594360"/>
          </a:xfrm>
          <a:prstGeom prst="ellipse">
            <a:avLst/>
          </a:prstGeom>
          <a:solidFill>
            <a:srgbClr val="4E84C4"/>
          </a:solidFill>
          <a:ln w="12700">
            <a:solidFill>
              <a:srgbClr val="4E84C4"/>
            </a:solidFill>
            <a:prstDash val="solid"/>
          </a:ln>
        </p:spPr>
      </p:sp>
      <p:sp>
        <p:nvSpPr>
          <p:cNvPr id="12" name="Text 10">
            <a:extLst>
              <a:ext uri="{FF2B5EF4-FFF2-40B4-BE49-F238E27FC236}">
                <a16:creationId xmlns:a16="http://schemas.microsoft.com/office/drawing/2014/main" id="{21E018C8-C764-0A3D-598F-A9EE95FA3D00}"/>
              </a:ext>
            </a:extLst>
          </p:cNvPr>
          <p:cNvSpPr/>
          <p:nvPr/>
        </p:nvSpPr>
        <p:spPr>
          <a:xfrm>
            <a:off x="3246120" y="2322576"/>
            <a:ext cx="594360" cy="182880"/>
          </a:xfrm>
          <a:prstGeom prst="rect">
            <a:avLst/>
          </a:prstGeom>
          <a:noFill/>
          <a:ln/>
        </p:spPr>
        <p:txBody>
          <a:bodyPr wrap="square" lIns="0" tIns="0" rIns="0" bIns="0" rtlCol="0" anchor="ctr"/>
          <a:lstStyle/>
          <a:p>
            <a:pPr marL="0" indent="0" algn="ctr">
              <a:buNone/>
            </a:pPr>
            <a:r>
              <a:rPr lang="en-US" sz="1300" b="1">
                <a:solidFill>
                  <a:srgbClr val="FFFFFF"/>
                </a:solidFill>
              </a:rPr>
              <a:t>2</a:t>
            </a:r>
            <a:endParaRPr lang="en-US" sz="1300"/>
          </a:p>
        </p:txBody>
      </p:sp>
      <p:sp>
        <p:nvSpPr>
          <p:cNvPr id="13" name="Text 11">
            <a:extLst>
              <a:ext uri="{FF2B5EF4-FFF2-40B4-BE49-F238E27FC236}">
                <a16:creationId xmlns:a16="http://schemas.microsoft.com/office/drawing/2014/main" id="{F63EB995-0AC3-F761-92B0-99D91B277DA7}"/>
              </a:ext>
            </a:extLst>
          </p:cNvPr>
          <p:cNvSpPr/>
          <p:nvPr/>
        </p:nvSpPr>
        <p:spPr>
          <a:xfrm>
            <a:off x="2798064" y="2971800"/>
            <a:ext cx="1490472" cy="320040"/>
          </a:xfrm>
          <a:prstGeom prst="rect">
            <a:avLst/>
          </a:prstGeom>
          <a:noFill/>
          <a:ln/>
        </p:spPr>
        <p:txBody>
          <a:bodyPr wrap="square" lIns="0" tIns="0" rIns="0" bIns="0" rtlCol="0" anchor="ctr"/>
          <a:lstStyle/>
          <a:p>
            <a:pPr marL="0" indent="0" algn="ctr">
              <a:buNone/>
            </a:pPr>
            <a:r>
              <a:rPr lang="en-US" sz="1700" b="1">
                <a:solidFill>
                  <a:srgbClr val="111827"/>
                </a:solidFill>
              </a:rPr>
              <a:t>Requirements</a:t>
            </a:r>
            <a:endParaRPr lang="en-US" sz="1700"/>
          </a:p>
        </p:txBody>
      </p:sp>
      <p:sp>
        <p:nvSpPr>
          <p:cNvPr id="14" name="Text 12">
            <a:extLst>
              <a:ext uri="{FF2B5EF4-FFF2-40B4-BE49-F238E27FC236}">
                <a16:creationId xmlns:a16="http://schemas.microsoft.com/office/drawing/2014/main" id="{DE68DFBA-4289-81E2-2C07-F8F805EC2E4D}"/>
              </a:ext>
            </a:extLst>
          </p:cNvPr>
          <p:cNvSpPr/>
          <p:nvPr/>
        </p:nvSpPr>
        <p:spPr>
          <a:xfrm>
            <a:off x="2834640" y="3383280"/>
            <a:ext cx="1417320" cy="502920"/>
          </a:xfrm>
          <a:prstGeom prst="rect">
            <a:avLst/>
          </a:prstGeom>
          <a:noFill/>
          <a:ln/>
        </p:spPr>
        <p:txBody>
          <a:bodyPr wrap="square" lIns="254" tIns="254" rIns="254" bIns="254" rtlCol="0" anchor="ctr">
            <a:normAutofit/>
          </a:bodyPr>
          <a:lstStyle/>
          <a:p>
            <a:pPr marL="0" indent="0" algn="ctr">
              <a:buNone/>
            </a:pPr>
            <a:r>
              <a:rPr lang="en-US" sz="1400"/>
              <a:t>What the system must do</a:t>
            </a:r>
            <a:endParaRPr lang="en-US" sz="1400">
              <a:ea typeface="Calibri Light"/>
              <a:cs typeface="Calibri Light"/>
            </a:endParaRPr>
          </a:p>
        </p:txBody>
      </p:sp>
      <p:sp>
        <p:nvSpPr>
          <p:cNvPr id="15" name="Shape 13">
            <a:extLst>
              <a:ext uri="{FF2B5EF4-FFF2-40B4-BE49-F238E27FC236}">
                <a16:creationId xmlns:a16="http://schemas.microsoft.com/office/drawing/2014/main" id="{10A80D7C-03A8-6D79-9440-5E3516195EEC}"/>
              </a:ext>
            </a:extLst>
          </p:cNvPr>
          <p:cNvSpPr/>
          <p:nvPr/>
        </p:nvSpPr>
        <p:spPr>
          <a:xfrm>
            <a:off x="4434840" y="2971800"/>
            <a:ext cx="256032" cy="1"/>
          </a:xfrm>
          <a:prstGeom prst="line">
            <a:avLst/>
          </a:prstGeom>
          <a:noFill/>
          <a:ln w="25400">
            <a:solidFill>
              <a:srgbClr val="4E84C4"/>
            </a:solidFill>
            <a:prstDash val="solid"/>
            <a:headEnd type="none"/>
            <a:tailEnd type="triangle"/>
          </a:ln>
        </p:spPr>
      </p:sp>
      <p:sp>
        <p:nvSpPr>
          <p:cNvPr id="16" name="Shape 14">
            <a:extLst>
              <a:ext uri="{FF2B5EF4-FFF2-40B4-BE49-F238E27FC236}">
                <a16:creationId xmlns:a16="http://schemas.microsoft.com/office/drawing/2014/main" id="{3A68E00A-ACBE-6F84-3EB3-DCF41B9DA5DC}"/>
              </a:ext>
            </a:extLst>
          </p:cNvPr>
          <p:cNvSpPr/>
          <p:nvPr/>
        </p:nvSpPr>
        <p:spPr>
          <a:xfrm>
            <a:off x="4800600" y="1874520"/>
            <a:ext cx="2057400" cy="2194560"/>
          </a:xfrm>
          <a:prstGeom prst="roundRect">
            <a:avLst>
              <a:gd name="adj" fmla="val 4444"/>
            </a:avLst>
          </a:prstGeom>
          <a:solidFill>
            <a:srgbClr val="FFF7E6"/>
          </a:solidFill>
          <a:ln w="25400">
            <a:solidFill>
              <a:srgbClr val="FBB034"/>
            </a:solidFill>
            <a:prstDash val="solid"/>
          </a:ln>
          <a:effectLst/>
        </p:spPr>
      </p:sp>
      <p:sp>
        <p:nvSpPr>
          <p:cNvPr id="17" name="Shape 15">
            <a:extLst>
              <a:ext uri="{FF2B5EF4-FFF2-40B4-BE49-F238E27FC236}">
                <a16:creationId xmlns:a16="http://schemas.microsoft.com/office/drawing/2014/main" id="{B1097D25-BFF3-3DEA-958A-BC8DAA037782}"/>
              </a:ext>
            </a:extLst>
          </p:cNvPr>
          <p:cNvSpPr/>
          <p:nvPr/>
        </p:nvSpPr>
        <p:spPr>
          <a:xfrm>
            <a:off x="5394960" y="2176272"/>
            <a:ext cx="594360" cy="594360"/>
          </a:xfrm>
          <a:prstGeom prst="ellipse">
            <a:avLst/>
          </a:prstGeom>
          <a:solidFill>
            <a:srgbClr val="FBB034"/>
          </a:solidFill>
          <a:ln w="12700">
            <a:solidFill>
              <a:srgbClr val="FBB034"/>
            </a:solidFill>
            <a:prstDash val="solid"/>
          </a:ln>
        </p:spPr>
      </p:sp>
      <p:sp>
        <p:nvSpPr>
          <p:cNvPr id="18" name="Text 16">
            <a:extLst>
              <a:ext uri="{FF2B5EF4-FFF2-40B4-BE49-F238E27FC236}">
                <a16:creationId xmlns:a16="http://schemas.microsoft.com/office/drawing/2014/main" id="{0B7DFD81-F22A-5E84-288C-D6A4A576E9C7}"/>
              </a:ext>
            </a:extLst>
          </p:cNvPr>
          <p:cNvSpPr/>
          <p:nvPr/>
        </p:nvSpPr>
        <p:spPr>
          <a:xfrm>
            <a:off x="5394960" y="2322576"/>
            <a:ext cx="594360" cy="182880"/>
          </a:xfrm>
          <a:prstGeom prst="rect">
            <a:avLst/>
          </a:prstGeom>
          <a:noFill/>
          <a:ln/>
        </p:spPr>
        <p:txBody>
          <a:bodyPr wrap="square" lIns="0" tIns="0" rIns="0" bIns="0" rtlCol="0" anchor="ctr"/>
          <a:lstStyle/>
          <a:p>
            <a:pPr marL="0" indent="0" algn="ctr">
              <a:buNone/>
            </a:pPr>
            <a:r>
              <a:rPr lang="en-US" sz="1300" b="1">
                <a:solidFill>
                  <a:srgbClr val="FFFFFF"/>
                </a:solidFill>
              </a:rPr>
              <a:t>3</a:t>
            </a:r>
            <a:endParaRPr lang="en-US" sz="1300"/>
          </a:p>
        </p:txBody>
      </p:sp>
      <p:sp>
        <p:nvSpPr>
          <p:cNvPr id="19" name="Text 17">
            <a:extLst>
              <a:ext uri="{FF2B5EF4-FFF2-40B4-BE49-F238E27FC236}">
                <a16:creationId xmlns:a16="http://schemas.microsoft.com/office/drawing/2014/main" id="{E47D42FD-AABA-4D27-9538-BA4608803C03}"/>
              </a:ext>
            </a:extLst>
          </p:cNvPr>
          <p:cNvSpPr/>
          <p:nvPr/>
        </p:nvSpPr>
        <p:spPr>
          <a:xfrm>
            <a:off x="4946904" y="2971800"/>
            <a:ext cx="1764792" cy="320040"/>
          </a:xfrm>
          <a:prstGeom prst="rect">
            <a:avLst/>
          </a:prstGeom>
          <a:noFill/>
          <a:ln/>
        </p:spPr>
        <p:txBody>
          <a:bodyPr wrap="square" lIns="0" tIns="0" rIns="0" bIns="0" rtlCol="0" anchor="ctr"/>
          <a:lstStyle/>
          <a:p>
            <a:pPr marL="0" indent="0" algn="ctr">
              <a:buNone/>
            </a:pPr>
            <a:r>
              <a:rPr lang="en-US" sz="1700" b="1">
                <a:solidFill>
                  <a:srgbClr val="111827"/>
                </a:solidFill>
              </a:rPr>
              <a:t>Verification</a:t>
            </a:r>
            <a:endParaRPr lang="en-US" sz="1700"/>
          </a:p>
        </p:txBody>
      </p:sp>
      <p:sp>
        <p:nvSpPr>
          <p:cNvPr id="20" name="Text 18">
            <a:extLst>
              <a:ext uri="{FF2B5EF4-FFF2-40B4-BE49-F238E27FC236}">
                <a16:creationId xmlns:a16="http://schemas.microsoft.com/office/drawing/2014/main" id="{CD5028CB-8AA7-47D6-F5ED-FAC3795BFCC4}"/>
              </a:ext>
            </a:extLst>
          </p:cNvPr>
          <p:cNvSpPr/>
          <p:nvPr/>
        </p:nvSpPr>
        <p:spPr>
          <a:xfrm>
            <a:off x="4983480" y="3383280"/>
            <a:ext cx="1691640" cy="502920"/>
          </a:xfrm>
          <a:prstGeom prst="rect">
            <a:avLst/>
          </a:prstGeom>
          <a:noFill/>
          <a:ln/>
        </p:spPr>
        <p:txBody>
          <a:bodyPr wrap="square" lIns="254" tIns="254" rIns="254" bIns="254" rtlCol="0" anchor="ctr">
            <a:noAutofit/>
          </a:bodyPr>
          <a:lstStyle/>
          <a:p>
            <a:pPr marL="0" indent="0" algn="ctr">
              <a:buNone/>
            </a:pPr>
            <a:r>
              <a:rPr lang="en-US" sz="1400"/>
              <a:t>Are requirements clear, complete and consistent?</a:t>
            </a:r>
            <a:endParaRPr lang="en-US" sz="1400">
              <a:ea typeface="Calibri Light"/>
              <a:cs typeface="Calibri Light"/>
            </a:endParaRPr>
          </a:p>
        </p:txBody>
      </p:sp>
      <p:sp>
        <p:nvSpPr>
          <p:cNvPr id="21" name="Shape 19">
            <a:extLst>
              <a:ext uri="{FF2B5EF4-FFF2-40B4-BE49-F238E27FC236}">
                <a16:creationId xmlns:a16="http://schemas.microsoft.com/office/drawing/2014/main" id="{C2C72ACB-F566-D1ED-486F-CD78A245D919}"/>
              </a:ext>
            </a:extLst>
          </p:cNvPr>
          <p:cNvSpPr/>
          <p:nvPr/>
        </p:nvSpPr>
        <p:spPr>
          <a:xfrm>
            <a:off x="6858000" y="2971800"/>
            <a:ext cx="393192" cy="1"/>
          </a:xfrm>
          <a:prstGeom prst="line">
            <a:avLst/>
          </a:prstGeom>
          <a:noFill/>
          <a:ln w="25400">
            <a:solidFill>
              <a:srgbClr val="4E84C4"/>
            </a:solidFill>
            <a:prstDash val="solid"/>
            <a:headEnd type="none"/>
            <a:tailEnd type="triangle"/>
          </a:ln>
        </p:spPr>
      </p:sp>
      <p:sp>
        <p:nvSpPr>
          <p:cNvPr id="22" name="Shape 20">
            <a:extLst>
              <a:ext uri="{FF2B5EF4-FFF2-40B4-BE49-F238E27FC236}">
                <a16:creationId xmlns:a16="http://schemas.microsoft.com/office/drawing/2014/main" id="{7A0CA4C4-FF33-7C58-2ABA-4C0D22D0BADA}"/>
              </a:ext>
            </a:extLst>
          </p:cNvPr>
          <p:cNvSpPr/>
          <p:nvPr/>
        </p:nvSpPr>
        <p:spPr>
          <a:xfrm>
            <a:off x="7360920" y="1874520"/>
            <a:ext cx="1783080" cy="2194560"/>
          </a:xfrm>
          <a:prstGeom prst="roundRect">
            <a:avLst>
              <a:gd name="adj" fmla="val 5128"/>
            </a:avLst>
          </a:prstGeom>
          <a:solidFill>
            <a:srgbClr val="FFFFFF"/>
          </a:solidFill>
          <a:ln w="12700">
            <a:solidFill>
              <a:srgbClr val="4E84C4"/>
            </a:solidFill>
            <a:prstDash val="solid"/>
          </a:ln>
          <a:effectLst/>
        </p:spPr>
      </p:sp>
      <p:sp>
        <p:nvSpPr>
          <p:cNvPr id="23" name="Shape 21">
            <a:extLst>
              <a:ext uri="{FF2B5EF4-FFF2-40B4-BE49-F238E27FC236}">
                <a16:creationId xmlns:a16="http://schemas.microsoft.com/office/drawing/2014/main" id="{17F7F3F3-31D1-59AC-2FD4-81B920692C77}"/>
              </a:ext>
            </a:extLst>
          </p:cNvPr>
          <p:cNvSpPr/>
          <p:nvPr/>
        </p:nvSpPr>
        <p:spPr>
          <a:xfrm>
            <a:off x="7955280" y="2176272"/>
            <a:ext cx="594360" cy="594360"/>
          </a:xfrm>
          <a:prstGeom prst="ellipse">
            <a:avLst/>
          </a:prstGeom>
          <a:solidFill>
            <a:srgbClr val="4E84C4"/>
          </a:solidFill>
          <a:ln w="12700">
            <a:solidFill>
              <a:srgbClr val="4E84C4"/>
            </a:solidFill>
            <a:prstDash val="solid"/>
          </a:ln>
        </p:spPr>
      </p:sp>
      <p:sp>
        <p:nvSpPr>
          <p:cNvPr id="24" name="Text 22">
            <a:extLst>
              <a:ext uri="{FF2B5EF4-FFF2-40B4-BE49-F238E27FC236}">
                <a16:creationId xmlns:a16="http://schemas.microsoft.com/office/drawing/2014/main" id="{A446E5E4-AECE-B43E-B1B2-27BD81ADB953}"/>
              </a:ext>
            </a:extLst>
          </p:cNvPr>
          <p:cNvSpPr/>
          <p:nvPr/>
        </p:nvSpPr>
        <p:spPr>
          <a:xfrm>
            <a:off x="7955280" y="2322576"/>
            <a:ext cx="594360" cy="182880"/>
          </a:xfrm>
          <a:prstGeom prst="rect">
            <a:avLst/>
          </a:prstGeom>
          <a:noFill/>
          <a:ln/>
        </p:spPr>
        <p:txBody>
          <a:bodyPr wrap="square" lIns="0" tIns="0" rIns="0" bIns="0" rtlCol="0" anchor="ctr"/>
          <a:lstStyle/>
          <a:p>
            <a:pPr marL="0" indent="0" algn="ctr">
              <a:buNone/>
            </a:pPr>
            <a:r>
              <a:rPr lang="en-US" sz="1300" b="1">
                <a:solidFill>
                  <a:srgbClr val="FFFFFF"/>
                </a:solidFill>
              </a:rPr>
              <a:t>4</a:t>
            </a:r>
            <a:endParaRPr lang="en-US" sz="1300"/>
          </a:p>
        </p:txBody>
      </p:sp>
      <p:sp>
        <p:nvSpPr>
          <p:cNvPr id="25" name="Text 23">
            <a:extLst>
              <a:ext uri="{FF2B5EF4-FFF2-40B4-BE49-F238E27FC236}">
                <a16:creationId xmlns:a16="http://schemas.microsoft.com/office/drawing/2014/main" id="{4FF17818-AF5E-45B1-B7A1-1AD2A33D161E}"/>
              </a:ext>
            </a:extLst>
          </p:cNvPr>
          <p:cNvSpPr/>
          <p:nvPr/>
        </p:nvSpPr>
        <p:spPr>
          <a:xfrm>
            <a:off x="7507224" y="2971800"/>
            <a:ext cx="1490472" cy="320040"/>
          </a:xfrm>
          <a:prstGeom prst="rect">
            <a:avLst/>
          </a:prstGeom>
          <a:noFill/>
          <a:ln/>
        </p:spPr>
        <p:txBody>
          <a:bodyPr wrap="square" lIns="0" tIns="0" rIns="0" bIns="0" rtlCol="0" anchor="ctr"/>
          <a:lstStyle/>
          <a:p>
            <a:pPr marL="0" indent="0" algn="ctr">
              <a:buNone/>
            </a:pPr>
            <a:r>
              <a:rPr lang="en-US" sz="1700" b="1">
                <a:solidFill>
                  <a:srgbClr val="111827"/>
                </a:solidFill>
              </a:rPr>
              <a:t>Build</a:t>
            </a:r>
            <a:endParaRPr lang="en-US" sz="1700"/>
          </a:p>
        </p:txBody>
      </p:sp>
      <p:sp>
        <p:nvSpPr>
          <p:cNvPr id="26" name="Text 24">
            <a:extLst>
              <a:ext uri="{FF2B5EF4-FFF2-40B4-BE49-F238E27FC236}">
                <a16:creationId xmlns:a16="http://schemas.microsoft.com/office/drawing/2014/main" id="{35901FD3-7018-80E2-964B-E83DEE6F0842}"/>
              </a:ext>
            </a:extLst>
          </p:cNvPr>
          <p:cNvSpPr/>
          <p:nvPr/>
        </p:nvSpPr>
        <p:spPr>
          <a:xfrm>
            <a:off x="7543800" y="3383280"/>
            <a:ext cx="1417320" cy="502920"/>
          </a:xfrm>
          <a:prstGeom prst="rect">
            <a:avLst/>
          </a:prstGeom>
          <a:noFill/>
          <a:ln/>
        </p:spPr>
        <p:txBody>
          <a:bodyPr wrap="square" lIns="254" tIns="254" rIns="254" bIns="254" rtlCol="0" anchor="ctr">
            <a:normAutofit/>
          </a:bodyPr>
          <a:lstStyle/>
          <a:p>
            <a:pPr marL="0" indent="0" algn="ctr">
              <a:buNone/>
            </a:pPr>
            <a:r>
              <a:rPr lang="en-US" sz="1400"/>
              <a:t>Human or AI implementation</a:t>
            </a:r>
            <a:endParaRPr lang="en-US" sz="1400">
              <a:ea typeface="Calibri Light"/>
              <a:cs typeface="Calibri Light"/>
            </a:endParaRPr>
          </a:p>
        </p:txBody>
      </p:sp>
      <p:sp>
        <p:nvSpPr>
          <p:cNvPr id="27" name="Shape 25">
            <a:extLst>
              <a:ext uri="{FF2B5EF4-FFF2-40B4-BE49-F238E27FC236}">
                <a16:creationId xmlns:a16="http://schemas.microsoft.com/office/drawing/2014/main" id="{897E81E7-1732-58FA-4458-96BDD37979F0}"/>
              </a:ext>
            </a:extLst>
          </p:cNvPr>
          <p:cNvSpPr/>
          <p:nvPr/>
        </p:nvSpPr>
        <p:spPr>
          <a:xfrm>
            <a:off x="9144000" y="2971800"/>
            <a:ext cx="576072" cy="1"/>
          </a:xfrm>
          <a:prstGeom prst="line">
            <a:avLst/>
          </a:prstGeom>
          <a:noFill/>
          <a:ln w="25400">
            <a:solidFill>
              <a:srgbClr val="4E84C4"/>
            </a:solidFill>
            <a:prstDash val="solid"/>
            <a:headEnd type="none"/>
            <a:tailEnd type="triangle"/>
          </a:ln>
        </p:spPr>
      </p:sp>
      <p:sp>
        <p:nvSpPr>
          <p:cNvPr id="28" name="Shape 26">
            <a:extLst>
              <a:ext uri="{FF2B5EF4-FFF2-40B4-BE49-F238E27FC236}">
                <a16:creationId xmlns:a16="http://schemas.microsoft.com/office/drawing/2014/main" id="{89F9A4EA-025F-3B18-022E-ED9255B0AA3E}"/>
              </a:ext>
            </a:extLst>
          </p:cNvPr>
          <p:cNvSpPr/>
          <p:nvPr/>
        </p:nvSpPr>
        <p:spPr>
          <a:xfrm>
            <a:off x="9829800" y="1874520"/>
            <a:ext cx="1783080" cy="2194560"/>
          </a:xfrm>
          <a:prstGeom prst="roundRect">
            <a:avLst>
              <a:gd name="adj" fmla="val 5128"/>
            </a:avLst>
          </a:prstGeom>
          <a:solidFill>
            <a:srgbClr val="FFFFFF"/>
          </a:solidFill>
          <a:ln w="12700">
            <a:solidFill>
              <a:srgbClr val="4E84C4"/>
            </a:solidFill>
            <a:prstDash val="solid"/>
          </a:ln>
          <a:effectLst/>
        </p:spPr>
      </p:sp>
      <p:sp>
        <p:nvSpPr>
          <p:cNvPr id="29" name="Shape 27">
            <a:extLst>
              <a:ext uri="{FF2B5EF4-FFF2-40B4-BE49-F238E27FC236}">
                <a16:creationId xmlns:a16="http://schemas.microsoft.com/office/drawing/2014/main" id="{BC1E2A2F-BF7F-1C8B-2768-BB595E0C8795}"/>
              </a:ext>
            </a:extLst>
          </p:cNvPr>
          <p:cNvSpPr/>
          <p:nvPr/>
        </p:nvSpPr>
        <p:spPr>
          <a:xfrm>
            <a:off x="10424160" y="2176272"/>
            <a:ext cx="594360" cy="594360"/>
          </a:xfrm>
          <a:prstGeom prst="ellipse">
            <a:avLst/>
          </a:prstGeom>
          <a:solidFill>
            <a:srgbClr val="4E84C4"/>
          </a:solidFill>
          <a:ln w="12700">
            <a:solidFill>
              <a:srgbClr val="4E84C4"/>
            </a:solidFill>
            <a:prstDash val="solid"/>
          </a:ln>
        </p:spPr>
      </p:sp>
      <p:sp>
        <p:nvSpPr>
          <p:cNvPr id="30" name="Text 28">
            <a:extLst>
              <a:ext uri="{FF2B5EF4-FFF2-40B4-BE49-F238E27FC236}">
                <a16:creationId xmlns:a16="http://schemas.microsoft.com/office/drawing/2014/main" id="{CD240522-DDF3-C557-35B1-BCF0B107834B}"/>
              </a:ext>
            </a:extLst>
          </p:cNvPr>
          <p:cNvSpPr/>
          <p:nvPr/>
        </p:nvSpPr>
        <p:spPr>
          <a:xfrm>
            <a:off x="10424160" y="2322576"/>
            <a:ext cx="594360" cy="182880"/>
          </a:xfrm>
          <a:prstGeom prst="rect">
            <a:avLst/>
          </a:prstGeom>
          <a:noFill/>
          <a:ln/>
        </p:spPr>
        <p:txBody>
          <a:bodyPr wrap="square" lIns="0" tIns="0" rIns="0" bIns="0" rtlCol="0" anchor="ctr"/>
          <a:lstStyle/>
          <a:p>
            <a:pPr marL="0" indent="0" algn="ctr">
              <a:buNone/>
            </a:pPr>
            <a:r>
              <a:rPr lang="en-US" sz="1300" b="1">
                <a:solidFill>
                  <a:srgbClr val="FFFFFF"/>
                </a:solidFill>
              </a:rPr>
              <a:t>5</a:t>
            </a:r>
            <a:endParaRPr lang="en-US" sz="1300"/>
          </a:p>
        </p:txBody>
      </p:sp>
      <p:sp>
        <p:nvSpPr>
          <p:cNvPr id="31" name="Text 29">
            <a:extLst>
              <a:ext uri="{FF2B5EF4-FFF2-40B4-BE49-F238E27FC236}">
                <a16:creationId xmlns:a16="http://schemas.microsoft.com/office/drawing/2014/main" id="{289DC2BD-B618-844D-C475-5573F48E6B40}"/>
              </a:ext>
            </a:extLst>
          </p:cNvPr>
          <p:cNvSpPr/>
          <p:nvPr/>
        </p:nvSpPr>
        <p:spPr>
          <a:xfrm>
            <a:off x="9976104" y="2971800"/>
            <a:ext cx="1490472" cy="320040"/>
          </a:xfrm>
          <a:prstGeom prst="rect">
            <a:avLst/>
          </a:prstGeom>
          <a:noFill/>
          <a:ln/>
        </p:spPr>
        <p:txBody>
          <a:bodyPr wrap="square" lIns="0" tIns="0" rIns="0" bIns="0" rtlCol="0" anchor="ctr"/>
          <a:lstStyle/>
          <a:p>
            <a:pPr marL="0" indent="0" algn="ctr">
              <a:buNone/>
            </a:pPr>
            <a:r>
              <a:rPr lang="en-US" sz="1700" b="1">
                <a:solidFill>
                  <a:srgbClr val="111827"/>
                </a:solidFill>
              </a:rPr>
              <a:t>Software</a:t>
            </a:r>
            <a:endParaRPr lang="en-US" sz="1700"/>
          </a:p>
        </p:txBody>
      </p:sp>
      <p:sp>
        <p:nvSpPr>
          <p:cNvPr id="32" name="Text 30">
            <a:extLst>
              <a:ext uri="{FF2B5EF4-FFF2-40B4-BE49-F238E27FC236}">
                <a16:creationId xmlns:a16="http://schemas.microsoft.com/office/drawing/2014/main" id="{1A267448-6A6D-C188-8E63-6250654F907E}"/>
              </a:ext>
            </a:extLst>
          </p:cNvPr>
          <p:cNvSpPr/>
          <p:nvPr/>
        </p:nvSpPr>
        <p:spPr>
          <a:xfrm>
            <a:off x="10012680" y="3383280"/>
            <a:ext cx="1417320" cy="502920"/>
          </a:xfrm>
          <a:prstGeom prst="rect">
            <a:avLst/>
          </a:prstGeom>
          <a:noFill/>
          <a:ln/>
        </p:spPr>
        <p:txBody>
          <a:bodyPr wrap="square" lIns="254" tIns="254" rIns="254" bIns="254" rtlCol="0" anchor="ctr">
            <a:normAutofit/>
          </a:bodyPr>
          <a:lstStyle/>
          <a:p>
            <a:pPr marL="0" indent="0" algn="ctr">
              <a:buNone/>
            </a:pPr>
            <a:r>
              <a:rPr lang="en-US" sz="1400"/>
              <a:t>Reliable behavior</a:t>
            </a:r>
            <a:endParaRPr lang="en-US" sz="1400">
              <a:ea typeface="Calibri Light"/>
              <a:cs typeface="Calibri Light"/>
            </a:endParaRPr>
          </a:p>
        </p:txBody>
      </p:sp>
      <p:sp>
        <p:nvSpPr>
          <p:cNvPr id="33" name="Shape 31">
            <a:extLst>
              <a:ext uri="{FF2B5EF4-FFF2-40B4-BE49-F238E27FC236}">
                <a16:creationId xmlns:a16="http://schemas.microsoft.com/office/drawing/2014/main" id="{8D19C3BE-48D7-78A4-4DF0-B87ED228BC13}"/>
              </a:ext>
            </a:extLst>
          </p:cNvPr>
          <p:cNvSpPr/>
          <p:nvPr/>
        </p:nvSpPr>
        <p:spPr>
          <a:xfrm>
            <a:off x="502920" y="5897880"/>
            <a:ext cx="11064240" cy="411480"/>
          </a:xfrm>
          <a:prstGeom prst="roundRect">
            <a:avLst>
              <a:gd name="adj" fmla="val 26667"/>
            </a:avLst>
          </a:prstGeom>
          <a:solidFill>
            <a:srgbClr val="EEF4FA"/>
          </a:solidFill>
          <a:ln w="12700">
            <a:solidFill>
              <a:srgbClr val="D5E2EF"/>
            </a:solidFill>
            <a:prstDash val="solid"/>
          </a:ln>
        </p:spPr>
      </p:sp>
      <p:sp>
        <p:nvSpPr>
          <p:cNvPr id="34" name="Text 32">
            <a:extLst>
              <a:ext uri="{FF2B5EF4-FFF2-40B4-BE49-F238E27FC236}">
                <a16:creationId xmlns:a16="http://schemas.microsoft.com/office/drawing/2014/main" id="{5E6FADF1-3FF0-5FEB-B4CE-0C4470AC9A5A}"/>
              </a:ext>
            </a:extLst>
          </p:cNvPr>
          <p:cNvSpPr/>
          <p:nvPr/>
        </p:nvSpPr>
        <p:spPr>
          <a:xfrm>
            <a:off x="731520" y="5998464"/>
            <a:ext cx="10607040" cy="182880"/>
          </a:xfrm>
          <a:prstGeom prst="rect">
            <a:avLst/>
          </a:prstGeom>
          <a:noFill/>
          <a:ln/>
        </p:spPr>
        <p:txBody>
          <a:bodyPr wrap="square" lIns="0" tIns="0" rIns="0" bIns="0" rtlCol="0" anchor="ctr"/>
          <a:lstStyle/>
          <a:p>
            <a:pPr marL="0" indent="0" algn="ctr">
              <a:buNone/>
            </a:pPr>
            <a:r>
              <a:rPr lang="en-US" sz="1400" b="1">
                <a:solidFill>
                  <a:srgbClr val="4E84C4"/>
                </a:solidFill>
              </a:rPr>
              <a:t>If the specification is wrong, faster implementation only delivers the wrong system faster.</a:t>
            </a:r>
            <a:endParaRPr lang="en-US" sz="1400">
              <a:ea typeface="Calibri Light"/>
              <a:cs typeface="Calibri Light"/>
            </a:endParaRPr>
          </a:p>
        </p:txBody>
      </p:sp>
      <p:sp>
        <p:nvSpPr>
          <p:cNvPr id="35" name="Slide Number Placeholder 0">
            <a:extLst>
              <a:ext uri="{FF2B5EF4-FFF2-40B4-BE49-F238E27FC236}">
                <a16:creationId xmlns:a16="http://schemas.microsoft.com/office/drawing/2014/main" id="{3ABB85A9-6FC8-8E64-C16C-A3692B8365D1}"/>
              </a:ext>
            </a:extLst>
          </p:cNvPr>
          <p:cNvSpPr>
            <a:spLocks noGrp="1"/>
          </p:cNvSpPr>
          <p:nvPr>
            <p:ph type="sldNum" sz="quarter" idx="4294967295"/>
          </p:nvPr>
        </p:nvSpPr>
        <p:spPr>
          <a:xfrm>
            <a:off x="10652760" y="6510528"/>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77777"/>
                </a:solidFill>
              </a:defRPr>
            </a:lvl1pPr>
          </a:lstStyle>
          <a:p>
            <a:pPr algn="ctr"/>
            <a:fld id="{F7021451-1387-4CA6-816F-3879F97B5CBC}" type="slidenum">
              <a:rPr lang="en-US" b="0"/>
              <a:t>2</a:t>
            </a:fld>
            <a:endParaRPr lang="en-US"/>
          </a:p>
        </p:txBody>
      </p:sp>
      <p:sp>
        <p:nvSpPr>
          <p:cNvPr id="37" name="Freeform 2">
            <a:extLst>
              <a:ext uri="{FF2B5EF4-FFF2-40B4-BE49-F238E27FC236}">
                <a16:creationId xmlns:a16="http://schemas.microsoft.com/office/drawing/2014/main" id="{B97880C3-FA98-F416-1309-C9C18AB11FB0}"/>
              </a:ext>
            </a:extLst>
          </p:cNvPr>
          <p:cNvSpPr/>
          <p:nvPr/>
        </p:nvSpPr>
        <p:spPr>
          <a:xfrm>
            <a:off x="5142104" y="6380991"/>
            <a:ext cx="1903592" cy="476247"/>
          </a:xfrm>
          <a:custGeom>
            <a:avLst/>
            <a:gdLst/>
            <a:ahLst/>
            <a:cxnLst/>
            <a:rect l="l" t="t" r="r" b="b"/>
            <a:pathLst>
              <a:path w="2855388" h="714371">
                <a:moveTo>
                  <a:pt x="0" y="0"/>
                </a:moveTo>
                <a:lnTo>
                  <a:pt x="2855388" y="0"/>
                </a:lnTo>
                <a:lnTo>
                  <a:pt x="2855388" y="714371"/>
                </a:lnTo>
                <a:lnTo>
                  <a:pt x="0" y="714371"/>
                </a:lnTo>
                <a:lnTo>
                  <a:pt x="0" y="0"/>
                </a:lnTo>
                <a:close/>
              </a:path>
            </a:pathLst>
          </a:custGeom>
          <a:blipFill>
            <a:blip r:embed="rId3"/>
            <a:stretch>
              <a:fillRect t="-1162" b="-1162"/>
            </a:stretch>
          </a:blipFill>
        </p:spPr>
      </p:sp>
    </p:spTree>
    <p:extLst>
      <p:ext uri="{BB962C8B-B14F-4D97-AF65-F5344CB8AC3E}">
        <p14:creationId xmlns:p14="http://schemas.microsoft.com/office/powerpoint/2010/main" val="3778858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30FAB2EE-5144-A6D4-D148-A43E06819E03}"/>
              </a:ext>
            </a:extLst>
          </p:cNvPr>
          <p:cNvSpPr/>
          <p:nvPr/>
        </p:nvSpPr>
        <p:spPr>
          <a:xfrm>
            <a:off x="475488" y="320040"/>
            <a:ext cx="11064240" cy="502920"/>
          </a:xfrm>
          <a:prstGeom prst="rect">
            <a:avLst/>
          </a:prstGeom>
          <a:noFill/>
          <a:ln/>
        </p:spPr>
        <p:txBody>
          <a:bodyPr wrap="square" lIns="0" tIns="0" rIns="0" bIns="0" rtlCol="0" anchor="ctr"/>
          <a:lstStyle/>
          <a:p>
            <a:pPr marL="0" indent="0">
              <a:buNone/>
            </a:pPr>
            <a:r>
              <a:rPr lang="en-US" sz="2600" b="1">
                <a:solidFill>
                  <a:srgbClr val="111827"/>
                </a:solidFill>
                <a:latin typeface="Calibri Light" pitchFamily="34" charset="0"/>
                <a:ea typeface="Calibri Light" pitchFamily="34" charset="-122"/>
                <a:cs typeface="Calibri Light" pitchFamily="34" charset="-120"/>
              </a:rPr>
              <a:t>The big picture: idea to dependable software</a:t>
            </a:r>
            <a:endParaRPr lang="en-US" sz="2600"/>
          </a:p>
        </p:txBody>
      </p:sp>
      <p:pic>
        <p:nvPicPr>
          <p:cNvPr id="3" name="Picture 2">
            <a:extLst>
              <a:ext uri="{FF2B5EF4-FFF2-40B4-BE49-F238E27FC236}">
                <a16:creationId xmlns:a16="http://schemas.microsoft.com/office/drawing/2014/main" id="{3D91EBF0-8BF9-839D-B128-67EB41FAE1EC}"/>
              </a:ext>
            </a:extLst>
          </p:cNvPr>
          <p:cNvPicPr>
            <a:picLocks noChangeAspect="1"/>
          </p:cNvPicPr>
          <p:nvPr/>
        </p:nvPicPr>
        <p:blipFill>
          <a:blip r:embed="rId2"/>
          <a:stretch>
            <a:fillRect/>
          </a:stretch>
        </p:blipFill>
        <p:spPr>
          <a:xfrm>
            <a:off x="0" y="644407"/>
            <a:ext cx="12192000" cy="5569185"/>
          </a:xfrm>
          <a:prstGeom prst="rect">
            <a:avLst/>
          </a:prstGeom>
        </p:spPr>
      </p:pic>
    </p:spTree>
    <p:extLst>
      <p:ext uri="{BB962C8B-B14F-4D97-AF65-F5344CB8AC3E}">
        <p14:creationId xmlns:p14="http://schemas.microsoft.com/office/powerpoint/2010/main" val="926726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60ACB-1654-ECDD-4A24-A8847A93C4F5}"/>
            </a:ext>
          </a:extLst>
        </p:cNvPr>
        <p:cNvGrpSpPr/>
        <p:nvPr/>
      </p:nvGrpSpPr>
      <p:grpSpPr>
        <a:xfrm>
          <a:off x="0" y="0"/>
          <a:ext cx="1" cy="1"/>
          <a:chOff x="0" y="0"/>
          <a:chExt cx="1" cy="1"/>
        </a:xfrm>
      </p:grpSpPr>
      <p:sp>
        <p:nvSpPr>
          <p:cNvPr id="2" name="Text 0">
            <a:extLst>
              <a:ext uri="{FF2B5EF4-FFF2-40B4-BE49-F238E27FC236}">
                <a16:creationId xmlns:a16="http://schemas.microsoft.com/office/drawing/2014/main" id="{BEAF4AFA-DFA2-C9D7-7FD8-2FD49DF49C0E}"/>
              </a:ext>
            </a:extLst>
          </p:cNvPr>
          <p:cNvSpPr/>
          <p:nvPr/>
        </p:nvSpPr>
        <p:spPr>
          <a:xfrm>
            <a:off x="475488" y="320040"/>
            <a:ext cx="11064240" cy="502920"/>
          </a:xfrm>
          <a:prstGeom prst="rect">
            <a:avLst/>
          </a:prstGeom>
          <a:noFill/>
          <a:ln/>
        </p:spPr>
        <p:txBody>
          <a:bodyPr wrap="square" lIns="0" tIns="0" rIns="0" bIns="0" rtlCol="0" anchor="ctr"/>
          <a:lstStyle/>
          <a:p>
            <a:r>
              <a:rPr lang="en-US" sz="2600" b="1">
                <a:solidFill>
                  <a:srgbClr val="111827"/>
                </a:solidFill>
                <a:ea typeface="Calibri Light"/>
                <a:cs typeface="Calibri Light"/>
              </a:rPr>
              <a:t>Use Case</a:t>
            </a:r>
          </a:p>
        </p:txBody>
      </p:sp>
      <p:sp>
        <p:nvSpPr>
          <p:cNvPr id="35" name="Slide Number Placeholder 0">
            <a:extLst>
              <a:ext uri="{FF2B5EF4-FFF2-40B4-BE49-F238E27FC236}">
                <a16:creationId xmlns:a16="http://schemas.microsoft.com/office/drawing/2014/main" id="{E2859F7C-C99D-3D16-7866-3C90BFDC3A85}"/>
              </a:ext>
            </a:extLst>
          </p:cNvPr>
          <p:cNvSpPr>
            <a:spLocks noGrp="1"/>
          </p:cNvSpPr>
          <p:nvPr>
            <p:ph type="sldNum" sz="quarter" idx="4294967295"/>
          </p:nvPr>
        </p:nvSpPr>
        <p:spPr>
          <a:xfrm>
            <a:off x="10652760" y="6510528"/>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77777"/>
                </a:solidFill>
              </a:defRPr>
            </a:lvl1pPr>
          </a:lstStyle>
          <a:p>
            <a:pPr algn="ctr"/>
            <a:fld id="{F7021451-1387-4CA6-816F-3879F97B5CBC}" type="slidenum">
              <a:rPr lang="en-US" b="0"/>
              <a:t>4</a:t>
            </a:fld>
            <a:endParaRPr lang="en-US"/>
          </a:p>
        </p:txBody>
      </p:sp>
      <p:pic>
        <p:nvPicPr>
          <p:cNvPr id="6" name="Picture 5">
            <a:extLst>
              <a:ext uri="{FF2B5EF4-FFF2-40B4-BE49-F238E27FC236}">
                <a16:creationId xmlns:a16="http://schemas.microsoft.com/office/drawing/2014/main" id="{548D2DC2-0C2A-021D-E0A0-2903117A6E69}"/>
              </a:ext>
            </a:extLst>
          </p:cNvPr>
          <p:cNvPicPr>
            <a:picLocks noChangeAspect="1"/>
          </p:cNvPicPr>
          <p:nvPr/>
        </p:nvPicPr>
        <p:blipFill>
          <a:blip r:embed="rId3"/>
          <a:stretch>
            <a:fillRect/>
          </a:stretch>
        </p:blipFill>
        <p:spPr>
          <a:xfrm>
            <a:off x="457200" y="814229"/>
            <a:ext cx="11257280" cy="5534343"/>
          </a:xfrm>
          <a:prstGeom prst="rect">
            <a:avLst/>
          </a:prstGeom>
        </p:spPr>
      </p:pic>
      <p:sp>
        <p:nvSpPr>
          <p:cNvPr id="4" name="Freeform 2">
            <a:extLst>
              <a:ext uri="{FF2B5EF4-FFF2-40B4-BE49-F238E27FC236}">
                <a16:creationId xmlns:a16="http://schemas.microsoft.com/office/drawing/2014/main" id="{E1F63AFF-7BD8-F876-6CF5-0EC1064E838B}"/>
              </a:ext>
            </a:extLst>
          </p:cNvPr>
          <p:cNvSpPr/>
          <p:nvPr/>
        </p:nvSpPr>
        <p:spPr>
          <a:xfrm>
            <a:off x="5152000" y="6390887"/>
            <a:ext cx="1903592" cy="476247"/>
          </a:xfrm>
          <a:custGeom>
            <a:avLst/>
            <a:gdLst/>
            <a:ahLst/>
            <a:cxnLst/>
            <a:rect l="l" t="t" r="r" b="b"/>
            <a:pathLst>
              <a:path w="2855388" h="714371">
                <a:moveTo>
                  <a:pt x="0" y="0"/>
                </a:moveTo>
                <a:lnTo>
                  <a:pt x="2855388" y="0"/>
                </a:lnTo>
                <a:lnTo>
                  <a:pt x="2855388" y="714371"/>
                </a:lnTo>
                <a:lnTo>
                  <a:pt x="0" y="714371"/>
                </a:lnTo>
                <a:lnTo>
                  <a:pt x="0" y="0"/>
                </a:lnTo>
                <a:close/>
              </a:path>
            </a:pathLst>
          </a:custGeom>
          <a:blipFill>
            <a:blip r:embed="rId4"/>
            <a:stretch>
              <a:fillRect t="-1162" b="-1162"/>
            </a:stretch>
          </a:blipFill>
        </p:spPr>
      </p:sp>
    </p:spTree>
    <p:extLst>
      <p:ext uri="{BB962C8B-B14F-4D97-AF65-F5344CB8AC3E}">
        <p14:creationId xmlns:p14="http://schemas.microsoft.com/office/powerpoint/2010/main" val="981876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1" cy="1"/>
        </a:xfrm>
      </p:grpSpPr>
      <p:sp>
        <p:nvSpPr>
          <p:cNvPr id="2" name="Text 0"/>
          <p:cNvSpPr/>
          <p:nvPr/>
        </p:nvSpPr>
        <p:spPr>
          <a:xfrm>
            <a:off x="475488" y="320040"/>
            <a:ext cx="11064240" cy="502920"/>
          </a:xfrm>
          <a:prstGeom prst="rect">
            <a:avLst/>
          </a:prstGeom>
          <a:noFill/>
          <a:ln/>
        </p:spPr>
        <p:txBody>
          <a:bodyPr wrap="square" lIns="0" tIns="0" rIns="0" bIns="0" rtlCol="0" anchor="ctr"/>
          <a:lstStyle/>
          <a:p>
            <a:pPr marL="0" indent="0">
              <a:buNone/>
            </a:pPr>
            <a:r>
              <a:rPr lang="en-US" sz="2600" b="1">
                <a:solidFill>
                  <a:srgbClr val="111827"/>
                </a:solidFill>
                <a:latin typeface="Calibri Light" pitchFamily="34" charset="0"/>
                <a:ea typeface="Calibri Light" pitchFamily="34" charset="-122"/>
                <a:cs typeface="Calibri Light" pitchFamily="34" charset="-120"/>
              </a:rPr>
              <a:t>The problem: natural-language requirements are not proof-ready</a:t>
            </a:r>
            <a:endParaRPr lang="en-US" sz="2600"/>
          </a:p>
        </p:txBody>
      </p:sp>
      <p:sp>
        <p:nvSpPr>
          <p:cNvPr id="3" name="Text 1"/>
          <p:cNvSpPr/>
          <p:nvPr/>
        </p:nvSpPr>
        <p:spPr>
          <a:xfrm>
            <a:off x="493776" y="859536"/>
            <a:ext cx="10881360" cy="320040"/>
          </a:xfrm>
          <a:prstGeom prst="rect">
            <a:avLst/>
          </a:prstGeom>
          <a:noFill/>
          <a:ln/>
        </p:spPr>
        <p:txBody>
          <a:bodyPr wrap="square" lIns="0" tIns="0" rIns="0" bIns="0" rtlCol="0" anchor="ctr"/>
          <a:lstStyle/>
          <a:p>
            <a:pPr marL="0" indent="0">
              <a:buNone/>
            </a:pPr>
            <a:r>
              <a:rPr lang="en-US" sz="1250">
                <a:solidFill>
                  <a:srgbClr val="667085"/>
                </a:solidFill>
              </a:rPr>
              <a:t>Documents can look reasonable while hiding defects that only appear when requirements interact.</a:t>
            </a:r>
            <a:endParaRPr lang="en-US" sz="1250"/>
          </a:p>
        </p:txBody>
      </p:sp>
      <p:sp>
        <p:nvSpPr>
          <p:cNvPr id="4" name="Shape 2"/>
          <p:cNvSpPr/>
          <p:nvPr/>
        </p:nvSpPr>
        <p:spPr>
          <a:xfrm>
            <a:off x="566928" y="1600200"/>
            <a:ext cx="2514600" cy="3246120"/>
          </a:xfrm>
          <a:prstGeom prst="roundRect">
            <a:avLst>
              <a:gd name="adj" fmla="val 2909"/>
            </a:avLst>
          </a:prstGeom>
          <a:solidFill>
            <a:srgbClr val="FFFFFF"/>
          </a:solidFill>
          <a:ln w="12700">
            <a:solidFill>
              <a:srgbClr val="D5DFEA"/>
            </a:solidFill>
            <a:prstDash val="solid"/>
          </a:ln>
          <a:effectLst/>
        </p:spPr>
      </p:sp>
      <p:sp>
        <p:nvSpPr>
          <p:cNvPr id="5" name="Shape 3"/>
          <p:cNvSpPr/>
          <p:nvPr/>
        </p:nvSpPr>
        <p:spPr>
          <a:xfrm>
            <a:off x="566928" y="1600200"/>
            <a:ext cx="73152" cy="3246120"/>
          </a:xfrm>
          <a:prstGeom prst="rect">
            <a:avLst/>
          </a:prstGeom>
          <a:solidFill>
            <a:srgbClr val="E8871E"/>
          </a:solidFill>
          <a:ln w="12700">
            <a:solidFill>
              <a:srgbClr val="E8871E"/>
            </a:solidFill>
            <a:prstDash val="solid"/>
          </a:ln>
        </p:spPr>
      </p:sp>
      <p:sp>
        <p:nvSpPr>
          <p:cNvPr id="6" name="Text 4"/>
          <p:cNvSpPr/>
          <p:nvPr/>
        </p:nvSpPr>
        <p:spPr>
          <a:xfrm>
            <a:off x="795528" y="2130552"/>
            <a:ext cx="2130552" cy="274320"/>
          </a:xfrm>
          <a:prstGeom prst="rect">
            <a:avLst/>
          </a:prstGeom>
          <a:noFill/>
          <a:ln/>
        </p:spPr>
        <p:txBody>
          <a:bodyPr wrap="square" lIns="0" tIns="0" rIns="0" bIns="0" rtlCol="0" anchor="ctr"/>
          <a:lstStyle/>
          <a:p>
            <a:pPr marL="0" indent="0" algn="ctr">
              <a:buNone/>
            </a:pPr>
            <a:r>
              <a:rPr lang="en-US" sz="1700" b="1">
                <a:solidFill>
                  <a:srgbClr val="111827"/>
                </a:solidFill>
              </a:rPr>
              <a:t>Ambiguity</a:t>
            </a:r>
            <a:endParaRPr lang="en-US" sz="1700">
              <a:ea typeface="Calibri Light"/>
              <a:cs typeface="Calibri Light"/>
            </a:endParaRPr>
          </a:p>
        </p:txBody>
      </p:sp>
      <p:sp>
        <p:nvSpPr>
          <p:cNvPr id="7" name="Text 5"/>
          <p:cNvSpPr/>
          <p:nvPr/>
        </p:nvSpPr>
        <p:spPr>
          <a:xfrm>
            <a:off x="795528" y="2130552"/>
            <a:ext cx="2130552" cy="2587752"/>
          </a:xfrm>
          <a:prstGeom prst="rect">
            <a:avLst/>
          </a:prstGeom>
          <a:noFill/>
          <a:ln/>
        </p:spPr>
        <p:txBody>
          <a:bodyPr wrap="square" lIns="381" tIns="381" rIns="381" bIns="381" rtlCol="0" anchor="ctr">
            <a:normAutofit/>
          </a:bodyPr>
          <a:lstStyle/>
          <a:p>
            <a:pPr marL="0" indent="0" algn="ctr">
              <a:buNone/>
            </a:pPr>
            <a:r>
              <a:rPr lang="en-US" sz="1400"/>
              <a:t>“Quickly”, “adequate”, “normally”</a:t>
            </a:r>
            <a:endParaRPr lang="en-US" sz="1400">
              <a:ea typeface="Calibri Light"/>
              <a:cs typeface="Calibri Light"/>
            </a:endParaRPr>
          </a:p>
          <a:p>
            <a:pPr marL="0" indent="0" algn="ctr">
              <a:buNone/>
            </a:pPr>
            <a:endParaRPr lang="en-US" sz="1400">
              <a:ea typeface="Calibri Light"/>
              <a:cs typeface="Calibri Light"/>
            </a:endParaRPr>
          </a:p>
          <a:p>
            <a:pPr marL="0" indent="0" algn="ctr">
              <a:buNone/>
            </a:pPr>
            <a:r>
              <a:rPr lang="en-US" sz="1400"/>
              <a:t>No single executable meaning</a:t>
            </a:r>
            <a:endParaRPr lang="en-US" sz="1400">
              <a:ea typeface="Calibri Light"/>
              <a:cs typeface="Calibri Light"/>
            </a:endParaRPr>
          </a:p>
        </p:txBody>
      </p:sp>
      <p:sp>
        <p:nvSpPr>
          <p:cNvPr id="8" name="Shape 6"/>
          <p:cNvSpPr/>
          <p:nvPr/>
        </p:nvSpPr>
        <p:spPr>
          <a:xfrm>
            <a:off x="3419856" y="1600200"/>
            <a:ext cx="2514600" cy="3246120"/>
          </a:xfrm>
          <a:prstGeom prst="roundRect">
            <a:avLst>
              <a:gd name="adj" fmla="val 2909"/>
            </a:avLst>
          </a:prstGeom>
          <a:solidFill>
            <a:srgbClr val="FFFFFF"/>
          </a:solidFill>
          <a:ln w="12700">
            <a:solidFill>
              <a:srgbClr val="D5DFEA"/>
            </a:solidFill>
            <a:prstDash val="solid"/>
          </a:ln>
          <a:effectLst/>
        </p:spPr>
      </p:sp>
      <p:sp>
        <p:nvSpPr>
          <p:cNvPr id="9" name="Shape 7"/>
          <p:cNvSpPr/>
          <p:nvPr/>
        </p:nvSpPr>
        <p:spPr>
          <a:xfrm>
            <a:off x="3419856" y="1600200"/>
            <a:ext cx="73152" cy="3246120"/>
          </a:xfrm>
          <a:prstGeom prst="rect">
            <a:avLst/>
          </a:prstGeom>
          <a:solidFill>
            <a:srgbClr val="D92D20"/>
          </a:solidFill>
          <a:ln w="12700">
            <a:solidFill>
              <a:srgbClr val="D92D20"/>
            </a:solidFill>
            <a:prstDash val="solid"/>
          </a:ln>
        </p:spPr>
      </p:sp>
      <p:sp>
        <p:nvSpPr>
          <p:cNvPr id="10" name="Text 8"/>
          <p:cNvSpPr/>
          <p:nvPr/>
        </p:nvSpPr>
        <p:spPr>
          <a:xfrm>
            <a:off x="3607816" y="2130552"/>
            <a:ext cx="2130552" cy="274320"/>
          </a:xfrm>
          <a:prstGeom prst="rect">
            <a:avLst/>
          </a:prstGeom>
          <a:noFill/>
          <a:ln/>
        </p:spPr>
        <p:txBody>
          <a:bodyPr wrap="square" lIns="0" tIns="0" rIns="0" bIns="0" rtlCol="0" anchor="ctr"/>
          <a:lstStyle/>
          <a:p>
            <a:pPr marL="0" indent="0" algn="ctr">
              <a:buNone/>
            </a:pPr>
            <a:r>
              <a:rPr lang="en-US" sz="1700" b="1">
                <a:solidFill>
                  <a:srgbClr val="111827"/>
                </a:solidFill>
              </a:rPr>
              <a:t>Contradiction</a:t>
            </a:r>
            <a:endParaRPr lang="en-US" sz="1700">
              <a:ea typeface="Calibri Light"/>
              <a:cs typeface="Calibri Light"/>
            </a:endParaRPr>
          </a:p>
        </p:txBody>
      </p:sp>
      <p:sp>
        <p:nvSpPr>
          <p:cNvPr id="11" name="Text 9"/>
          <p:cNvSpPr/>
          <p:nvPr/>
        </p:nvSpPr>
        <p:spPr>
          <a:xfrm>
            <a:off x="3648456" y="2130552"/>
            <a:ext cx="2130552" cy="2587752"/>
          </a:xfrm>
          <a:prstGeom prst="rect">
            <a:avLst/>
          </a:prstGeom>
          <a:noFill/>
          <a:ln/>
        </p:spPr>
        <p:txBody>
          <a:bodyPr wrap="square" lIns="381" tIns="381" rIns="381" bIns="381" rtlCol="0" anchor="ctr">
            <a:normAutofit/>
          </a:bodyPr>
          <a:lstStyle/>
          <a:p>
            <a:pPr marL="0" indent="0" algn="ctr">
              <a:buNone/>
            </a:pPr>
            <a:r>
              <a:rPr lang="en-US" sz="1400"/>
              <a:t>Guest access vs. admin-only access</a:t>
            </a:r>
            <a:endParaRPr lang="en-US" sz="1400">
              <a:ea typeface="Calibri Light"/>
              <a:cs typeface="Calibri Light"/>
            </a:endParaRPr>
          </a:p>
          <a:p>
            <a:pPr marL="0" indent="0" algn="ctr">
              <a:buNone/>
            </a:pPr>
            <a:endParaRPr lang="en-US" sz="1400">
              <a:ea typeface="Calibri Light"/>
              <a:cs typeface="Calibri Light"/>
            </a:endParaRPr>
          </a:p>
          <a:p>
            <a:pPr marL="0" indent="0" algn="ctr">
              <a:buNone/>
            </a:pPr>
            <a:r>
              <a:rPr lang="en-US" sz="1400"/>
              <a:t>Both cannot hold together</a:t>
            </a:r>
            <a:endParaRPr lang="en-US" sz="1400">
              <a:ea typeface="Calibri Light"/>
              <a:cs typeface="Calibri Light"/>
            </a:endParaRPr>
          </a:p>
        </p:txBody>
      </p:sp>
      <p:sp>
        <p:nvSpPr>
          <p:cNvPr id="12" name="Shape 10"/>
          <p:cNvSpPr/>
          <p:nvPr/>
        </p:nvSpPr>
        <p:spPr>
          <a:xfrm>
            <a:off x="6272784" y="1600200"/>
            <a:ext cx="2514600" cy="3246120"/>
          </a:xfrm>
          <a:prstGeom prst="roundRect">
            <a:avLst>
              <a:gd name="adj" fmla="val 2909"/>
            </a:avLst>
          </a:prstGeom>
          <a:solidFill>
            <a:srgbClr val="FFFFFF"/>
          </a:solidFill>
          <a:ln w="12700">
            <a:solidFill>
              <a:srgbClr val="D5DFEA"/>
            </a:solidFill>
            <a:prstDash val="solid"/>
          </a:ln>
          <a:effectLst/>
        </p:spPr>
      </p:sp>
      <p:sp>
        <p:nvSpPr>
          <p:cNvPr id="13" name="Shape 11"/>
          <p:cNvSpPr/>
          <p:nvPr/>
        </p:nvSpPr>
        <p:spPr>
          <a:xfrm>
            <a:off x="6272784" y="1600200"/>
            <a:ext cx="73152" cy="3246120"/>
          </a:xfrm>
          <a:prstGeom prst="rect">
            <a:avLst/>
          </a:prstGeom>
          <a:solidFill>
            <a:srgbClr val="FBB034"/>
          </a:solidFill>
          <a:ln w="12700">
            <a:solidFill>
              <a:srgbClr val="FBB034"/>
            </a:solidFill>
            <a:prstDash val="solid"/>
          </a:ln>
        </p:spPr>
      </p:sp>
      <p:sp>
        <p:nvSpPr>
          <p:cNvPr id="14" name="Text 12"/>
          <p:cNvSpPr/>
          <p:nvPr/>
        </p:nvSpPr>
        <p:spPr>
          <a:xfrm>
            <a:off x="6501384" y="2130552"/>
            <a:ext cx="2130552" cy="274320"/>
          </a:xfrm>
          <a:prstGeom prst="rect">
            <a:avLst/>
          </a:prstGeom>
          <a:noFill/>
          <a:ln/>
        </p:spPr>
        <p:txBody>
          <a:bodyPr wrap="square" lIns="0" tIns="0" rIns="0" bIns="0" rtlCol="0" anchor="ctr"/>
          <a:lstStyle/>
          <a:p>
            <a:pPr marL="0" indent="0" algn="ctr">
              <a:buNone/>
            </a:pPr>
            <a:r>
              <a:rPr lang="en-US" sz="1700" b="1">
                <a:solidFill>
                  <a:srgbClr val="111827"/>
                </a:solidFill>
              </a:rPr>
              <a:t>Missing coverage</a:t>
            </a:r>
            <a:endParaRPr lang="en-US" sz="1700">
              <a:ea typeface="Calibri Light"/>
              <a:cs typeface="Calibri Light"/>
            </a:endParaRPr>
          </a:p>
        </p:txBody>
      </p:sp>
      <p:sp>
        <p:nvSpPr>
          <p:cNvPr id="15" name="Text 13"/>
          <p:cNvSpPr/>
          <p:nvPr/>
        </p:nvSpPr>
        <p:spPr>
          <a:xfrm>
            <a:off x="6501384" y="2130552"/>
            <a:ext cx="2130552" cy="2587752"/>
          </a:xfrm>
          <a:prstGeom prst="rect">
            <a:avLst/>
          </a:prstGeom>
          <a:noFill/>
          <a:ln/>
        </p:spPr>
        <p:txBody>
          <a:bodyPr wrap="square" lIns="381" tIns="381" rIns="381" bIns="381" rtlCol="0" anchor="ctr">
            <a:normAutofit/>
          </a:bodyPr>
          <a:lstStyle/>
          <a:p>
            <a:pPr marL="0" indent="0" algn="ctr">
              <a:buNone/>
            </a:pPr>
            <a:r>
              <a:rPr lang="en-US" sz="1400"/>
              <a:t>Rules for below 18°C and above 24°C</a:t>
            </a:r>
            <a:endParaRPr lang="en-US" sz="1400">
              <a:ea typeface="Calibri Light"/>
              <a:cs typeface="Calibri Light"/>
            </a:endParaRPr>
          </a:p>
          <a:p>
            <a:pPr marL="0" indent="0" algn="ctr">
              <a:buNone/>
            </a:pPr>
            <a:endParaRPr lang="en-US" sz="1400">
              <a:ea typeface="Calibri Light"/>
              <a:cs typeface="Calibri Light"/>
            </a:endParaRPr>
          </a:p>
          <a:p>
            <a:pPr marL="0" indent="0" algn="ctr">
              <a:buNone/>
            </a:pPr>
            <a:r>
              <a:rPr lang="en-US" sz="1400"/>
              <a:t>No behavior for the middle range</a:t>
            </a:r>
            <a:endParaRPr lang="en-US" sz="1400">
              <a:ea typeface="Calibri Light"/>
              <a:cs typeface="Calibri Light"/>
            </a:endParaRPr>
          </a:p>
        </p:txBody>
      </p:sp>
      <p:sp>
        <p:nvSpPr>
          <p:cNvPr id="16" name="Shape 14"/>
          <p:cNvSpPr/>
          <p:nvPr/>
        </p:nvSpPr>
        <p:spPr>
          <a:xfrm>
            <a:off x="9125712" y="1600200"/>
            <a:ext cx="2514600" cy="3246120"/>
          </a:xfrm>
          <a:prstGeom prst="roundRect">
            <a:avLst>
              <a:gd name="adj" fmla="val 2909"/>
            </a:avLst>
          </a:prstGeom>
          <a:solidFill>
            <a:srgbClr val="FFFFFF"/>
          </a:solidFill>
          <a:ln w="12700">
            <a:solidFill>
              <a:srgbClr val="D5DFEA"/>
            </a:solidFill>
            <a:prstDash val="solid"/>
          </a:ln>
          <a:effectLst/>
        </p:spPr>
      </p:sp>
      <p:sp>
        <p:nvSpPr>
          <p:cNvPr id="17" name="Shape 15"/>
          <p:cNvSpPr/>
          <p:nvPr/>
        </p:nvSpPr>
        <p:spPr>
          <a:xfrm>
            <a:off x="9125712" y="1600200"/>
            <a:ext cx="73152" cy="3246120"/>
          </a:xfrm>
          <a:prstGeom prst="rect">
            <a:avLst/>
          </a:prstGeom>
          <a:solidFill>
            <a:srgbClr val="4E84C4"/>
          </a:solidFill>
          <a:ln w="12700">
            <a:solidFill>
              <a:srgbClr val="4E84C4"/>
            </a:solidFill>
            <a:prstDash val="solid"/>
          </a:ln>
        </p:spPr>
      </p:sp>
      <p:sp>
        <p:nvSpPr>
          <p:cNvPr id="18" name="Text 16"/>
          <p:cNvSpPr/>
          <p:nvPr/>
        </p:nvSpPr>
        <p:spPr>
          <a:xfrm>
            <a:off x="9354312" y="2130552"/>
            <a:ext cx="2130552" cy="274320"/>
          </a:xfrm>
          <a:prstGeom prst="rect">
            <a:avLst/>
          </a:prstGeom>
          <a:noFill/>
          <a:ln/>
        </p:spPr>
        <p:txBody>
          <a:bodyPr wrap="square" lIns="0" tIns="0" rIns="0" bIns="0" rtlCol="0" anchor="ctr"/>
          <a:lstStyle/>
          <a:p>
            <a:pPr marL="0" indent="0" algn="ctr">
              <a:buNone/>
            </a:pPr>
            <a:r>
              <a:rPr lang="en-US" sz="1700" b="1">
                <a:solidFill>
                  <a:srgbClr val="111827"/>
                </a:solidFill>
              </a:rPr>
              <a:t>Cross-rule effects</a:t>
            </a:r>
            <a:endParaRPr lang="en-US" sz="1700">
              <a:ea typeface="Calibri Light"/>
              <a:cs typeface="Calibri Light"/>
            </a:endParaRPr>
          </a:p>
        </p:txBody>
      </p:sp>
      <p:sp>
        <p:nvSpPr>
          <p:cNvPr id="19" name="Text 17"/>
          <p:cNvSpPr/>
          <p:nvPr/>
        </p:nvSpPr>
        <p:spPr>
          <a:xfrm>
            <a:off x="9354312" y="2130552"/>
            <a:ext cx="2130552" cy="2587752"/>
          </a:xfrm>
          <a:prstGeom prst="rect">
            <a:avLst/>
          </a:prstGeom>
          <a:noFill/>
          <a:ln/>
        </p:spPr>
        <p:txBody>
          <a:bodyPr wrap="square" lIns="381" tIns="381" rIns="381" bIns="381" rtlCol="0" anchor="ctr">
            <a:normAutofit/>
          </a:bodyPr>
          <a:lstStyle/>
          <a:p>
            <a:pPr marL="0" indent="0" algn="ctr">
              <a:buNone/>
            </a:pPr>
            <a:r>
              <a:rPr lang="en-US" sz="1400"/>
              <a:t>Retries, timeouts and end-to-end limits</a:t>
            </a:r>
            <a:endParaRPr lang="en-US" sz="1400">
              <a:ea typeface="Calibri Light"/>
              <a:cs typeface="Calibri Light"/>
            </a:endParaRPr>
          </a:p>
          <a:p>
            <a:pPr marL="0" indent="0" algn="ctr">
              <a:buNone/>
            </a:pPr>
            <a:endParaRPr lang="en-US" sz="1400">
              <a:ea typeface="Calibri Light"/>
              <a:cs typeface="Calibri Light"/>
            </a:endParaRPr>
          </a:p>
          <a:p>
            <a:pPr marL="0" indent="0" algn="ctr">
              <a:buNone/>
            </a:pPr>
            <a:r>
              <a:rPr lang="en-US" sz="1400"/>
              <a:t>Individually valid, globally infeasible</a:t>
            </a:r>
            <a:endParaRPr lang="en-US" sz="1400">
              <a:ea typeface="Calibri Light"/>
              <a:cs typeface="Calibri Light"/>
            </a:endParaRPr>
          </a:p>
        </p:txBody>
      </p:sp>
      <p:sp>
        <p:nvSpPr>
          <p:cNvPr id="20" name="Shape 18"/>
          <p:cNvSpPr/>
          <p:nvPr/>
        </p:nvSpPr>
        <p:spPr>
          <a:xfrm>
            <a:off x="502920" y="5897880"/>
            <a:ext cx="11064240" cy="411480"/>
          </a:xfrm>
          <a:prstGeom prst="roundRect">
            <a:avLst>
              <a:gd name="adj" fmla="val 26667"/>
            </a:avLst>
          </a:prstGeom>
          <a:solidFill>
            <a:srgbClr val="EEF4FA"/>
          </a:solidFill>
          <a:ln w="12700">
            <a:solidFill>
              <a:srgbClr val="D5E2EF"/>
            </a:solidFill>
            <a:prstDash val="solid"/>
          </a:ln>
        </p:spPr>
      </p:sp>
      <p:sp>
        <p:nvSpPr>
          <p:cNvPr id="21" name="Text 19"/>
          <p:cNvSpPr/>
          <p:nvPr/>
        </p:nvSpPr>
        <p:spPr>
          <a:xfrm>
            <a:off x="731520" y="5998464"/>
            <a:ext cx="10607040" cy="182880"/>
          </a:xfrm>
          <a:prstGeom prst="rect">
            <a:avLst/>
          </a:prstGeom>
          <a:noFill/>
          <a:ln/>
        </p:spPr>
        <p:txBody>
          <a:bodyPr wrap="square" lIns="0" tIns="0" rIns="0" bIns="0" rtlCol="0" anchor="ctr"/>
          <a:lstStyle/>
          <a:p>
            <a:pPr marL="0" indent="0" algn="ctr">
              <a:buNone/>
            </a:pPr>
            <a:r>
              <a:rPr lang="en-US" sz="1400" b="1">
                <a:solidFill>
                  <a:srgbClr val="4E84C4"/>
                </a:solidFill>
              </a:rPr>
              <a:t>The hardest defects are not spelling errors. They are logical interactions across requirements.</a:t>
            </a:r>
            <a:endParaRPr lang="en-US" sz="1400">
              <a:ea typeface="Calibri Light"/>
              <a:cs typeface="Calibri Light"/>
            </a:endParaRPr>
          </a:p>
        </p:txBody>
      </p:sp>
      <p:sp>
        <p:nvSpPr>
          <p:cNvPr id="25" name="Slide Number Placeholder 0"/>
          <p:cNvSpPr>
            <a:spLocks noGrp="1"/>
          </p:cNvSpPr>
          <p:nvPr>
            <p:ph type="sldNum" sz="quarter" idx="4294967295"/>
          </p:nvPr>
        </p:nvSpPr>
        <p:spPr>
          <a:xfrm>
            <a:off x="10652760" y="6510528"/>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77777"/>
                </a:solidFill>
              </a:defRPr>
            </a:lvl1pPr>
          </a:lstStyle>
          <a:p>
            <a:pPr algn="ctr"/>
            <a:fld id="{F7021451-1387-4CA6-816F-3879F97B5CBC}" type="slidenum">
              <a:rPr lang="en-US" b="0"/>
              <a:t>5</a:t>
            </a:fld>
            <a:endParaRPr lang="en-US"/>
          </a:p>
        </p:txBody>
      </p:sp>
      <p:sp>
        <p:nvSpPr>
          <p:cNvPr id="23" name="Freeform 2">
            <a:extLst>
              <a:ext uri="{FF2B5EF4-FFF2-40B4-BE49-F238E27FC236}">
                <a16:creationId xmlns:a16="http://schemas.microsoft.com/office/drawing/2014/main" id="{DDC744DC-35EF-1475-1FD5-0272AF16B548}"/>
              </a:ext>
            </a:extLst>
          </p:cNvPr>
          <p:cNvSpPr/>
          <p:nvPr/>
        </p:nvSpPr>
        <p:spPr>
          <a:xfrm>
            <a:off x="5142104" y="6380991"/>
            <a:ext cx="1903592" cy="476247"/>
          </a:xfrm>
          <a:custGeom>
            <a:avLst/>
            <a:gdLst/>
            <a:ahLst/>
            <a:cxnLst/>
            <a:rect l="l" t="t" r="r" b="b"/>
            <a:pathLst>
              <a:path w="2855388" h="714371">
                <a:moveTo>
                  <a:pt x="0" y="0"/>
                </a:moveTo>
                <a:lnTo>
                  <a:pt x="2855388" y="0"/>
                </a:lnTo>
                <a:lnTo>
                  <a:pt x="2855388" y="714371"/>
                </a:lnTo>
                <a:lnTo>
                  <a:pt x="0" y="714371"/>
                </a:lnTo>
                <a:lnTo>
                  <a:pt x="0" y="0"/>
                </a:lnTo>
                <a:close/>
              </a:path>
            </a:pathLst>
          </a:custGeom>
          <a:blipFill>
            <a:blip r:embed="rId3"/>
            <a:stretch>
              <a:fillRect t="-1162" b="-1162"/>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4">
    <p:spTree>
      <p:nvGrpSpPr>
        <p:cNvPr id="1" name=""/>
        <p:cNvGrpSpPr/>
        <p:nvPr/>
      </p:nvGrpSpPr>
      <p:grpSpPr>
        <a:xfrm>
          <a:off x="0" y="0"/>
          <a:ext cx="1" cy="1"/>
          <a:chOff x="0" y="0"/>
          <a:chExt cx="1" cy="1"/>
        </a:xfrm>
      </p:grpSpPr>
      <p:sp>
        <p:nvSpPr>
          <p:cNvPr id="2" name="Text 0"/>
          <p:cNvSpPr/>
          <p:nvPr/>
        </p:nvSpPr>
        <p:spPr>
          <a:xfrm>
            <a:off x="475488" y="320040"/>
            <a:ext cx="11064240" cy="502920"/>
          </a:xfrm>
          <a:prstGeom prst="rect">
            <a:avLst/>
          </a:prstGeom>
          <a:noFill/>
          <a:ln/>
        </p:spPr>
        <p:txBody>
          <a:bodyPr wrap="square" lIns="0" tIns="0" rIns="0" bIns="0" rtlCol="0" anchor="ctr"/>
          <a:lstStyle/>
          <a:p>
            <a:pPr marL="0" indent="0">
              <a:buNone/>
            </a:pPr>
            <a:r>
              <a:rPr lang="en-US" sz="2600" b="1">
                <a:solidFill>
                  <a:srgbClr val="111827"/>
                </a:solidFill>
                <a:latin typeface="Calibri Light" pitchFamily="34" charset="0"/>
                <a:ea typeface="Calibri Light" pitchFamily="34" charset="-122"/>
                <a:cs typeface="Calibri Light" pitchFamily="34" charset="-120"/>
              </a:rPr>
              <a:t>Why this problem is worth solving</a:t>
            </a:r>
            <a:endParaRPr lang="en-US" sz="2600"/>
          </a:p>
        </p:txBody>
      </p:sp>
      <p:sp>
        <p:nvSpPr>
          <p:cNvPr id="3" name="Text 1"/>
          <p:cNvSpPr/>
          <p:nvPr/>
        </p:nvSpPr>
        <p:spPr>
          <a:xfrm>
            <a:off x="493776" y="859536"/>
            <a:ext cx="10881360" cy="320040"/>
          </a:xfrm>
          <a:prstGeom prst="rect">
            <a:avLst/>
          </a:prstGeom>
          <a:noFill/>
          <a:ln/>
        </p:spPr>
        <p:txBody>
          <a:bodyPr wrap="square" lIns="0" tIns="0" rIns="0" bIns="0" rtlCol="0" anchor="ctr"/>
          <a:lstStyle/>
          <a:p>
            <a:pPr marL="0" indent="0">
              <a:buNone/>
            </a:pPr>
            <a:r>
              <a:rPr lang="en-US" sz="1250">
                <a:solidFill>
                  <a:srgbClr val="667085"/>
                </a:solidFill>
              </a:rPr>
              <a:t>Requirement defects propagate downstream, where correction becomes slower, costlier and harder to explain.</a:t>
            </a:r>
            <a:endParaRPr lang="en-US" sz="1250"/>
          </a:p>
        </p:txBody>
      </p:sp>
      <p:sp>
        <p:nvSpPr>
          <p:cNvPr id="4" name="Shape 2"/>
          <p:cNvSpPr/>
          <p:nvPr/>
        </p:nvSpPr>
        <p:spPr>
          <a:xfrm>
            <a:off x="640080" y="1481328"/>
            <a:ext cx="10881360" cy="804672"/>
          </a:xfrm>
          <a:prstGeom prst="roundRect">
            <a:avLst>
              <a:gd name="adj" fmla="val 9091"/>
            </a:avLst>
          </a:prstGeom>
          <a:solidFill>
            <a:srgbClr val="EEF4FA"/>
          </a:solidFill>
          <a:ln w="12700">
            <a:solidFill>
              <a:srgbClr val="D8E3EE"/>
            </a:solidFill>
            <a:prstDash val="solid"/>
          </a:ln>
        </p:spPr>
      </p:sp>
      <p:sp>
        <p:nvSpPr>
          <p:cNvPr id="5" name="Text 3"/>
          <p:cNvSpPr/>
          <p:nvPr/>
        </p:nvSpPr>
        <p:spPr>
          <a:xfrm>
            <a:off x="868680" y="1645920"/>
            <a:ext cx="1965960" cy="274320"/>
          </a:xfrm>
          <a:prstGeom prst="rect">
            <a:avLst/>
          </a:prstGeom>
          <a:noFill/>
          <a:ln/>
        </p:spPr>
        <p:txBody>
          <a:bodyPr wrap="square" lIns="0" tIns="0" rIns="0" bIns="0" rtlCol="0" anchor="ctr"/>
          <a:lstStyle/>
          <a:p>
            <a:pPr marL="0" indent="0">
              <a:buNone/>
            </a:pPr>
            <a:r>
              <a:rPr lang="en-US" sz="1500" b="1">
                <a:solidFill>
                  <a:srgbClr val="111827"/>
                </a:solidFill>
              </a:rPr>
              <a:t>Business &amp; product</a:t>
            </a:r>
            <a:endParaRPr lang="en-US" sz="1500"/>
          </a:p>
        </p:txBody>
      </p:sp>
      <p:sp>
        <p:nvSpPr>
          <p:cNvPr id="6" name="Text 4"/>
          <p:cNvSpPr/>
          <p:nvPr/>
        </p:nvSpPr>
        <p:spPr>
          <a:xfrm>
            <a:off x="3127248" y="1645920"/>
            <a:ext cx="2834640" cy="274320"/>
          </a:xfrm>
          <a:prstGeom prst="rect">
            <a:avLst/>
          </a:prstGeom>
          <a:noFill/>
          <a:ln/>
        </p:spPr>
        <p:txBody>
          <a:bodyPr wrap="square" lIns="0" tIns="0" rIns="0" bIns="0" rtlCol="0" anchor="ctr"/>
          <a:lstStyle/>
          <a:p>
            <a:pPr marL="0" indent="0">
              <a:buNone/>
            </a:pPr>
            <a:r>
              <a:rPr lang="en-US" sz="1300">
                <a:solidFill>
                  <a:srgbClr val="D92D20"/>
                </a:solidFill>
              </a:rPr>
              <a:t>Misaligned intent</a:t>
            </a:r>
            <a:endParaRPr lang="en-US" sz="1300"/>
          </a:p>
        </p:txBody>
      </p:sp>
      <p:sp>
        <p:nvSpPr>
          <p:cNvPr id="7" name="Text 5"/>
          <p:cNvSpPr/>
          <p:nvPr/>
        </p:nvSpPr>
        <p:spPr>
          <a:xfrm>
            <a:off x="6291072" y="1645920"/>
            <a:ext cx="4526280" cy="274320"/>
          </a:xfrm>
          <a:prstGeom prst="rect">
            <a:avLst/>
          </a:prstGeom>
          <a:noFill/>
          <a:ln/>
        </p:spPr>
        <p:txBody>
          <a:bodyPr wrap="square" lIns="0" tIns="0" rIns="0" bIns="0" rtlCol="0" anchor="ctr"/>
          <a:lstStyle/>
          <a:p>
            <a:pPr marL="0" indent="0">
              <a:buNone/>
            </a:pPr>
            <a:r>
              <a:rPr lang="en-US" sz="1300">
                <a:solidFill>
                  <a:srgbClr val="667085"/>
                </a:solidFill>
              </a:rPr>
              <a:t>Unclear acceptance criteria</a:t>
            </a:r>
            <a:endParaRPr lang="en-US" sz="1300"/>
          </a:p>
        </p:txBody>
      </p:sp>
      <p:sp>
        <p:nvSpPr>
          <p:cNvPr id="8" name="Shape 6"/>
          <p:cNvSpPr/>
          <p:nvPr/>
        </p:nvSpPr>
        <p:spPr>
          <a:xfrm>
            <a:off x="640080" y="2514600"/>
            <a:ext cx="10881360" cy="804672"/>
          </a:xfrm>
          <a:prstGeom prst="roundRect">
            <a:avLst>
              <a:gd name="adj" fmla="val 9091"/>
            </a:avLst>
          </a:prstGeom>
          <a:solidFill>
            <a:srgbClr val="F8FAFC"/>
          </a:solidFill>
          <a:ln w="12700">
            <a:solidFill>
              <a:srgbClr val="D8E3EE"/>
            </a:solidFill>
            <a:prstDash val="solid"/>
          </a:ln>
        </p:spPr>
      </p:sp>
      <p:sp>
        <p:nvSpPr>
          <p:cNvPr id="9" name="Text 7"/>
          <p:cNvSpPr/>
          <p:nvPr/>
        </p:nvSpPr>
        <p:spPr>
          <a:xfrm>
            <a:off x="868680" y="2679192"/>
            <a:ext cx="1965960" cy="274320"/>
          </a:xfrm>
          <a:prstGeom prst="rect">
            <a:avLst/>
          </a:prstGeom>
          <a:noFill/>
          <a:ln/>
        </p:spPr>
        <p:txBody>
          <a:bodyPr wrap="square" lIns="0" tIns="0" rIns="0" bIns="0" rtlCol="0" anchor="ctr"/>
          <a:lstStyle/>
          <a:p>
            <a:pPr marL="0" indent="0">
              <a:buNone/>
            </a:pPr>
            <a:r>
              <a:rPr lang="en-US" sz="1500" b="1">
                <a:solidFill>
                  <a:srgbClr val="111827"/>
                </a:solidFill>
              </a:rPr>
              <a:t>Architecture &amp; engineering</a:t>
            </a:r>
            <a:endParaRPr lang="en-US" sz="1500"/>
          </a:p>
        </p:txBody>
      </p:sp>
      <p:sp>
        <p:nvSpPr>
          <p:cNvPr id="10" name="Text 8"/>
          <p:cNvSpPr/>
          <p:nvPr/>
        </p:nvSpPr>
        <p:spPr>
          <a:xfrm>
            <a:off x="3127248" y="2679192"/>
            <a:ext cx="2834640" cy="274320"/>
          </a:xfrm>
          <a:prstGeom prst="rect">
            <a:avLst/>
          </a:prstGeom>
          <a:noFill/>
          <a:ln/>
        </p:spPr>
        <p:txBody>
          <a:bodyPr wrap="square" lIns="0" tIns="0" rIns="0" bIns="0" rtlCol="0" anchor="ctr"/>
          <a:lstStyle/>
          <a:p>
            <a:pPr marL="0" indent="0">
              <a:buNone/>
            </a:pPr>
            <a:r>
              <a:rPr lang="en-US" sz="1300">
                <a:solidFill>
                  <a:srgbClr val="D92D20"/>
                </a:solidFill>
              </a:rPr>
              <a:t>Conflicting design choices</a:t>
            </a:r>
            <a:endParaRPr lang="en-US" sz="1300"/>
          </a:p>
        </p:txBody>
      </p:sp>
      <p:sp>
        <p:nvSpPr>
          <p:cNvPr id="11" name="Text 9"/>
          <p:cNvSpPr/>
          <p:nvPr/>
        </p:nvSpPr>
        <p:spPr>
          <a:xfrm>
            <a:off x="6291072" y="2679192"/>
            <a:ext cx="4526280" cy="274320"/>
          </a:xfrm>
          <a:prstGeom prst="rect">
            <a:avLst/>
          </a:prstGeom>
          <a:noFill/>
          <a:ln/>
        </p:spPr>
        <p:txBody>
          <a:bodyPr wrap="square" lIns="0" tIns="0" rIns="0" bIns="0" rtlCol="0" anchor="ctr"/>
          <a:lstStyle/>
          <a:p>
            <a:pPr marL="0" indent="0">
              <a:buNone/>
            </a:pPr>
            <a:r>
              <a:rPr lang="en-US" sz="1300">
                <a:solidFill>
                  <a:srgbClr val="667085"/>
                </a:solidFill>
              </a:rPr>
              <a:t>Rework and unstable interfaces</a:t>
            </a:r>
            <a:endParaRPr lang="en-US" sz="1300"/>
          </a:p>
        </p:txBody>
      </p:sp>
      <p:sp>
        <p:nvSpPr>
          <p:cNvPr id="12" name="Shape 10"/>
          <p:cNvSpPr/>
          <p:nvPr/>
        </p:nvSpPr>
        <p:spPr>
          <a:xfrm>
            <a:off x="640080" y="3547872"/>
            <a:ext cx="10881360" cy="804672"/>
          </a:xfrm>
          <a:prstGeom prst="roundRect">
            <a:avLst>
              <a:gd name="adj" fmla="val 9091"/>
            </a:avLst>
          </a:prstGeom>
          <a:solidFill>
            <a:srgbClr val="EEF4FA"/>
          </a:solidFill>
          <a:ln w="12700">
            <a:solidFill>
              <a:srgbClr val="D8E3EE"/>
            </a:solidFill>
            <a:prstDash val="solid"/>
          </a:ln>
        </p:spPr>
      </p:sp>
      <p:sp>
        <p:nvSpPr>
          <p:cNvPr id="13" name="Text 11"/>
          <p:cNvSpPr/>
          <p:nvPr/>
        </p:nvSpPr>
        <p:spPr>
          <a:xfrm>
            <a:off x="868680" y="3712464"/>
            <a:ext cx="1965960" cy="274320"/>
          </a:xfrm>
          <a:prstGeom prst="rect">
            <a:avLst/>
          </a:prstGeom>
          <a:noFill/>
          <a:ln/>
        </p:spPr>
        <p:txBody>
          <a:bodyPr wrap="square" lIns="0" tIns="0" rIns="0" bIns="0" rtlCol="0" anchor="ctr"/>
          <a:lstStyle/>
          <a:p>
            <a:pPr marL="0" indent="0">
              <a:buNone/>
            </a:pPr>
            <a:r>
              <a:rPr lang="en-US" sz="1500" b="1">
                <a:solidFill>
                  <a:srgbClr val="111827"/>
                </a:solidFill>
              </a:rPr>
              <a:t>Testing &amp; assurance</a:t>
            </a:r>
            <a:endParaRPr lang="en-US" sz="1500"/>
          </a:p>
        </p:txBody>
      </p:sp>
      <p:sp>
        <p:nvSpPr>
          <p:cNvPr id="14" name="Text 12"/>
          <p:cNvSpPr/>
          <p:nvPr/>
        </p:nvSpPr>
        <p:spPr>
          <a:xfrm>
            <a:off x="3127248" y="3712464"/>
            <a:ext cx="2834640" cy="274320"/>
          </a:xfrm>
          <a:prstGeom prst="rect">
            <a:avLst/>
          </a:prstGeom>
          <a:noFill/>
          <a:ln/>
        </p:spPr>
        <p:txBody>
          <a:bodyPr wrap="square" lIns="0" tIns="0" rIns="0" bIns="0" rtlCol="0" anchor="ctr"/>
          <a:lstStyle/>
          <a:p>
            <a:pPr marL="0" indent="0">
              <a:buNone/>
            </a:pPr>
            <a:r>
              <a:rPr lang="en-US" sz="1300">
                <a:solidFill>
                  <a:srgbClr val="D92D20"/>
                </a:solidFill>
              </a:rPr>
              <a:t>Unclear oracle</a:t>
            </a:r>
            <a:endParaRPr lang="en-US" sz="1300"/>
          </a:p>
        </p:txBody>
      </p:sp>
      <p:sp>
        <p:nvSpPr>
          <p:cNvPr id="15" name="Text 13"/>
          <p:cNvSpPr/>
          <p:nvPr/>
        </p:nvSpPr>
        <p:spPr>
          <a:xfrm>
            <a:off x="6291072" y="3712464"/>
            <a:ext cx="4526280" cy="274320"/>
          </a:xfrm>
          <a:prstGeom prst="rect">
            <a:avLst/>
          </a:prstGeom>
          <a:noFill/>
          <a:ln/>
        </p:spPr>
        <p:txBody>
          <a:bodyPr wrap="square" lIns="0" tIns="0" rIns="0" bIns="0" rtlCol="0" anchor="ctr"/>
          <a:lstStyle/>
          <a:p>
            <a:pPr marL="0" indent="0">
              <a:buNone/>
            </a:pPr>
            <a:r>
              <a:rPr lang="en-US" sz="1300">
                <a:solidFill>
                  <a:srgbClr val="667085"/>
                </a:solidFill>
              </a:rPr>
              <a:t>Incomplete traceability</a:t>
            </a:r>
            <a:endParaRPr lang="en-US" sz="1300"/>
          </a:p>
        </p:txBody>
      </p:sp>
      <p:sp>
        <p:nvSpPr>
          <p:cNvPr id="16" name="Shape 14"/>
          <p:cNvSpPr/>
          <p:nvPr/>
        </p:nvSpPr>
        <p:spPr>
          <a:xfrm>
            <a:off x="640080" y="4581144"/>
            <a:ext cx="10881360" cy="804672"/>
          </a:xfrm>
          <a:prstGeom prst="roundRect">
            <a:avLst>
              <a:gd name="adj" fmla="val 9091"/>
            </a:avLst>
          </a:prstGeom>
          <a:solidFill>
            <a:srgbClr val="F8FAFC"/>
          </a:solidFill>
          <a:ln w="12700">
            <a:solidFill>
              <a:srgbClr val="D8E3EE"/>
            </a:solidFill>
            <a:prstDash val="solid"/>
          </a:ln>
        </p:spPr>
      </p:sp>
      <p:sp>
        <p:nvSpPr>
          <p:cNvPr id="17" name="Text 15"/>
          <p:cNvSpPr/>
          <p:nvPr/>
        </p:nvSpPr>
        <p:spPr>
          <a:xfrm>
            <a:off x="868680" y="4745736"/>
            <a:ext cx="1965960" cy="274320"/>
          </a:xfrm>
          <a:prstGeom prst="rect">
            <a:avLst/>
          </a:prstGeom>
          <a:noFill/>
          <a:ln/>
        </p:spPr>
        <p:txBody>
          <a:bodyPr wrap="square" lIns="0" tIns="0" rIns="0" bIns="0" rtlCol="0" anchor="ctr"/>
          <a:lstStyle/>
          <a:p>
            <a:pPr marL="0" indent="0">
              <a:buNone/>
            </a:pPr>
            <a:r>
              <a:rPr lang="en-US" sz="1500" b="1">
                <a:solidFill>
                  <a:srgbClr val="111827"/>
                </a:solidFill>
              </a:rPr>
              <a:t>AI-assisted delivery</a:t>
            </a:r>
            <a:endParaRPr lang="en-US" sz="1500"/>
          </a:p>
        </p:txBody>
      </p:sp>
      <p:sp>
        <p:nvSpPr>
          <p:cNvPr id="18" name="Text 16"/>
          <p:cNvSpPr/>
          <p:nvPr/>
        </p:nvSpPr>
        <p:spPr>
          <a:xfrm>
            <a:off x="3127248" y="4745736"/>
            <a:ext cx="2834640" cy="274320"/>
          </a:xfrm>
          <a:prstGeom prst="rect">
            <a:avLst/>
          </a:prstGeom>
          <a:noFill/>
          <a:ln/>
        </p:spPr>
        <p:txBody>
          <a:bodyPr wrap="square" lIns="0" tIns="0" rIns="0" bIns="0" rtlCol="0" anchor="ctr"/>
          <a:lstStyle/>
          <a:p>
            <a:pPr marL="0" indent="0">
              <a:buNone/>
            </a:pPr>
            <a:r>
              <a:rPr lang="en-US" sz="1300">
                <a:solidFill>
                  <a:srgbClr val="D92D20"/>
                </a:solidFill>
              </a:rPr>
              <a:t>Plausible but incorrect output</a:t>
            </a:r>
            <a:endParaRPr lang="en-US" sz="1300"/>
          </a:p>
        </p:txBody>
      </p:sp>
      <p:sp>
        <p:nvSpPr>
          <p:cNvPr id="19" name="Text 17"/>
          <p:cNvSpPr/>
          <p:nvPr/>
        </p:nvSpPr>
        <p:spPr>
          <a:xfrm>
            <a:off x="6291072" y="4745736"/>
            <a:ext cx="4526280" cy="274320"/>
          </a:xfrm>
          <a:prstGeom prst="rect">
            <a:avLst/>
          </a:prstGeom>
          <a:noFill/>
          <a:ln/>
        </p:spPr>
        <p:txBody>
          <a:bodyPr wrap="square" lIns="0" tIns="0" rIns="0" bIns="0" rtlCol="0" anchor="ctr"/>
          <a:lstStyle/>
          <a:p>
            <a:pPr marL="0" indent="0">
              <a:buNone/>
            </a:pPr>
            <a:r>
              <a:rPr lang="en-US" sz="1300">
                <a:solidFill>
                  <a:srgbClr val="667085"/>
                </a:solidFill>
              </a:rPr>
              <a:t>Low confidence in generated artifacts</a:t>
            </a:r>
            <a:endParaRPr lang="en-US" sz="1300"/>
          </a:p>
        </p:txBody>
      </p:sp>
      <p:sp>
        <p:nvSpPr>
          <p:cNvPr id="20" name="Text 18"/>
          <p:cNvSpPr/>
          <p:nvPr/>
        </p:nvSpPr>
        <p:spPr>
          <a:xfrm>
            <a:off x="658368" y="5715000"/>
            <a:ext cx="2011680" cy="274320"/>
          </a:xfrm>
          <a:prstGeom prst="rect">
            <a:avLst/>
          </a:prstGeom>
          <a:noFill/>
          <a:ln/>
        </p:spPr>
        <p:txBody>
          <a:bodyPr wrap="square" lIns="0" tIns="0" rIns="0" bIns="0" rtlCol="0" anchor="ctr"/>
          <a:lstStyle/>
          <a:p>
            <a:pPr marL="0" indent="0">
              <a:buNone/>
            </a:pPr>
            <a:r>
              <a:rPr lang="en-US" sz="1500" b="1">
                <a:solidFill>
                  <a:srgbClr val="111827"/>
                </a:solidFill>
              </a:rPr>
              <a:t>Who has this problem?</a:t>
            </a:r>
            <a:endParaRPr lang="en-US" sz="1500"/>
          </a:p>
        </p:txBody>
      </p:sp>
      <p:sp>
        <p:nvSpPr>
          <p:cNvPr id="21" name="Shape 19"/>
          <p:cNvSpPr/>
          <p:nvPr/>
        </p:nvSpPr>
        <p:spPr>
          <a:xfrm>
            <a:off x="2743200" y="5650992"/>
            <a:ext cx="1097280" cy="347472"/>
          </a:xfrm>
          <a:prstGeom prst="roundRect">
            <a:avLst>
              <a:gd name="adj" fmla="val 42105"/>
            </a:avLst>
          </a:prstGeom>
          <a:solidFill>
            <a:srgbClr val="4E84C4"/>
          </a:solidFill>
          <a:ln w="12700">
            <a:solidFill>
              <a:srgbClr val="4E84C4"/>
            </a:solidFill>
            <a:prstDash val="solid"/>
          </a:ln>
        </p:spPr>
      </p:sp>
      <p:sp>
        <p:nvSpPr>
          <p:cNvPr id="22" name="Text 20"/>
          <p:cNvSpPr/>
          <p:nvPr/>
        </p:nvSpPr>
        <p:spPr>
          <a:xfrm>
            <a:off x="2816352" y="5724144"/>
            <a:ext cx="950976" cy="182880"/>
          </a:xfrm>
          <a:prstGeom prst="rect">
            <a:avLst/>
          </a:prstGeom>
          <a:noFill/>
          <a:ln/>
        </p:spPr>
        <p:txBody>
          <a:bodyPr wrap="square" lIns="0" tIns="0" rIns="0" bIns="0" rtlCol="0" anchor="ctr"/>
          <a:lstStyle/>
          <a:p>
            <a:pPr marL="0" indent="0" algn="ctr">
              <a:buNone/>
            </a:pPr>
            <a:r>
              <a:rPr lang="en-US" sz="1050" b="1">
                <a:solidFill>
                  <a:srgbClr val="FFFFFF"/>
                </a:solidFill>
              </a:rPr>
              <a:t>Business analysts</a:t>
            </a:r>
            <a:endParaRPr lang="en-US" sz="1050"/>
          </a:p>
        </p:txBody>
      </p:sp>
      <p:sp>
        <p:nvSpPr>
          <p:cNvPr id="23" name="Shape 21"/>
          <p:cNvSpPr/>
          <p:nvPr/>
        </p:nvSpPr>
        <p:spPr>
          <a:xfrm>
            <a:off x="3968496" y="5650992"/>
            <a:ext cx="1097280" cy="347472"/>
          </a:xfrm>
          <a:prstGeom prst="roundRect">
            <a:avLst>
              <a:gd name="adj" fmla="val 42105"/>
            </a:avLst>
          </a:prstGeom>
          <a:solidFill>
            <a:srgbClr val="4E84C4"/>
          </a:solidFill>
          <a:ln w="12700">
            <a:solidFill>
              <a:srgbClr val="4E84C4"/>
            </a:solidFill>
            <a:prstDash val="solid"/>
          </a:ln>
        </p:spPr>
      </p:sp>
      <p:sp>
        <p:nvSpPr>
          <p:cNvPr id="24" name="Text 22"/>
          <p:cNvSpPr/>
          <p:nvPr/>
        </p:nvSpPr>
        <p:spPr>
          <a:xfrm>
            <a:off x="4041648" y="5724144"/>
            <a:ext cx="950976" cy="182880"/>
          </a:xfrm>
          <a:prstGeom prst="rect">
            <a:avLst/>
          </a:prstGeom>
          <a:noFill/>
          <a:ln/>
        </p:spPr>
        <p:txBody>
          <a:bodyPr wrap="square" lIns="0" tIns="0" rIns="0" bIns="0" rtlCol="0" anchor="ctr"/>
          <a:lstStyle/>
          <a:p>
            <a:pPr marL="0" indent="0" algn="ctr">
              <a:buNone/>
            </a:pPr>
            <a:r>
              <a:rPr lang="en-US" sz="1050" b="1">
                <a:solidFill>
                  <a:srgbClr val="FFFFFF"/>
                </a:solidFill>
              </a:rPr>
              <a:t>Product owners</a:t>
            </a:r>
            <a:endParaRPr lang="en-US" sz="1050"/>
          </a:p>
        </p:txBody>
      </p:sp>
      <p:sp>
        <p:nvSpPr>
          <p:cNvPr id="25" name="Shape 23"/>
          <p:cNvSpPr/>
          <p:nvPr/>
        </p:nvSpPr>
        <p:spPr>
          <a:xfrm>
            <a:off x="5193792" y="5650992"/>
            <a:ext cx="1097280" cy="347472"/>
          </a:xfrm>
          <a:prstGeom prst="roundRect">
            <a:avLst>
              <a:gd name="adj" fmla="val 42105"/>
            </a:avLst>
          </a:prstGeom>
          <a:solidFill>
            <a:srgbClr val="4E84C4"/>
          </a:solidFill>
          <a:ln w="12700">
            <a:solidFill>
              <a:srgbClr val="4E84C4"/>
            </a:solidFill>
            <a:prstDash val="solid"/>
          </a:ln>
        </p:spPr>
      </p:sp>
      <p:sp>
        <p:nvSpPr>
          <p:cNvPr id="26" name="Text 24"/>
          <p:cNvSpPr/>
          <p:nvPr/>
        </p:nvSpPr>
        <p:spPr>
          <a:xfrm>
            <a:off x="5266944" y="5724144"/>
            <a:ext cx="950976" cy="182880"/>
          </a:xfrm>
          <a:prstGeom prst="rect">
            <a:avLst/>
          </a:prstGeom>
          <a:noFill/>
          <a:ln/>
        </p:spPr>
        <p:txBody>
          <a:bodyPr wrap="square" lIns="0" tIns="0" rIns="0" bIns="0" rtlCol="0" anchor="ctr"/>
          <a:lstStyle/>
          <a:p>
            <a:pPr marL="0" indent="0" algn="ctr">
              <a:buNone/>
            </a:pPr>
            <a:r>
              <a:rPr lang="en-US" sz="1050" b="1">
                <a:solidFill>
                  <a:srgbClr val="FFFFFF"/>
                </a:solidFill>
              </a:rPr>
              <a:t>Architects</a:t>
            </a:r>
            <a:endParaRPr lang="en-US" sz="1050"/>
          </a:p>
        </p:txBody>
      </p:sp>
      <p:sp>
        <p:nvSpPr>
          <p:cNvPr id="27" name="Shape 25"/>
          <p:cNvSpPr/>
          <p:nvPr/>
        </p:nvSpPr>
        <p:spPr>
          <a:xfrm>
            <a:off x="6419088" y="5650992"/>
            <a:ext cx="1097280" cy="347472"/>
          </a:xfrm>
          <a:prstGeom prst="roundRect">
            <a:avLst>
              <a:gd name="adj" fmla="val 42105"/>
            </a:avLst>
          </a:prstGeom>
          <a:solidFill>
            <a:srgbClr val="4E84C4"/>
          </a:solidFill>
          <a:ln w="12700">
            <a:solidFill>
              <a:srgbClr val="4E84C4"/>
            </a:solidFill>
            <a:prstDash val="solid"/>
          </a:ln>
        </p:spPr>
      </p:sp>
      <p:sp>
        <p:nvSpPr>
          <p:cNvPr id="28" name="Text 26"/>
          <p:cNvSpPr/>
          <p:nvPr/>
        </p:nvSpPr>
        <p:spPr>
          <a:xfrm>
            <a:off x="6492240" y="5724144"/>
            <a:ext cx="950976" cy="182880"/>
          </a:xfrm>
          <a:prstGeom prst="rect">
            <a:avLst/>
          </a:prstGeom>
          <a:noFill/>
          <a:ln/>
        </p:spPr>
        <p:txBody>
          <a:bodyPr wrap="square" lIns="0" tIns="0" rIns="0" bIns="0" rtlCol="0" anchor="ctr"/>
          <a:lstStyle/>
          <a:p>
            <a:pPr marL="0" indent="0" algn="ctr">
              <a:buNone/>
            </a:pPr>
            <a:r>
              <a:rPr lang="en-US" sz="1050" b="1">
                <a:solidFill>
                  <a:srgbClr val="FFFFFF"/>
                </a:solidFill>
              </a:rPr>
              <a:t>Developers</a:t>
            </a:r>
            <a:endParaRPr lang="en-US" sz="1050"/>
          </a:p>
        </p:txBody>
      </p:sp>
      <p:sp>
        <p:nvSpPr>
          <p:cNvPr id="29" name="Shape 27"/>
          <p:cNvSpPr/>
          <p:nvPr/>
        </p:nvSpPr>
        <p:spPr>
          <a:xfrm>
            <a:off x="7644384" y="5650992"/>
            <a:ext cx="1097280" cy="347472"/>
          </a:xfrm>
          <a:prstGeom prst="roundRect">
            <a:avLst>
              <a:gd name="adj" fmla="val 42105"/>
            </a:avLst>
          </a:prstGeom>
          <a:solidFill>
            <a:srgbClr val="4E84C4"/>
          </a:solidFill>
          <a:ln w="12700">
            <a:solidFill>
              <a:srgbClr val="4E84C4"/>
            </a:solidFill>
            <a:prstDash val="solid"/>
          </a:ln>
        </p:spPr>
      </p:sp>
      <p:sp>
        <p:nvSpPr>
          <p:cNvPr id="30" name="Text 28"/>
          <p:cNvSpPr/>
          <p:nvPr/>
        </p:nvSpPr>
        <p:spPr>
          <a:xfrm>
            <a:off x="7717536" y="5724144"/>
            <a:ext cx="950976" cy="182880"/>
          </a:xfrm>
          <a:prstGeom prst="rect">
            <a:avLst/>
          </a:prstGeom>
          <a:noFill/>
          <a:ln/>
        </p:spPr>
        <p:txBody>
          <a:bodyPr wrap="square" lIns="0" tIns="0" rIns="0" bIns="0" rtlCol="0" anchor="ctr"/>
          <a:lstStyle/>
          <a:p>
            <a:pPr marL="0" indent="0" algn="ctr">
              <a:buNone/>
            </a:pPr>
            <a:r>
              <a:rPr lang="en-US" sz="1050" b="1">
                <a:solidFill>
                  <a:srgbClr val="FFFFFF"/>
                </a:solidFill>
              </a:rPr>
              <a:t>Test teams</a:t>
            </a:r>
            <a:endParaRPr lang="en-US" sz="1050"/>
          </a:p>
        </p:txBody>
      </p:sp>
      <p:sp>
        <p:nvSpPr>
          <p:cNvPr id="31" name="Shape 29"/>
          <p:cNvSpPr/>
          <p:nvPr/>
        </p:nvSpPr>
        <p:spPr>
          <a:xfrm>
            <a:off x="8869680" y="5650992"/>
            <a:ext cx="1097280" cy="347472"/>
          </a:xfrm>
          <a:prstGeom prst="roundRect">
            <a:avLst>
              <a:gd name="adj" fmla="val 42105"/>
            </a:avLst>
          </a:prstGeom>
          <a:solidFill>
            <a:srgbClr val="4E84C4"/>
          </a:solidFill>
          <a:ln w="12700">
            <a:solidFill>
              <a:srgbClr val="4E84C4"/>
            </a:solidFill>
            <a:prstDash val="solid"/>
          </a:ln>
        </p:spPr>
      </p:sp>
      <p:sp>
        <p:nvSpPr>
          <p:cNvPr id="32" name="Text 30"/>
          <p:cNvSpPr/>
          <p:nvPr/>
        </p:nvSpPr>
        <p:spPr>
          <a:xfrm>
            <a:off x="8942832" y="5724144"/>
            <a:ext cx="950976" cy="182880"/>
          </a:xfrm>
          <a:prstGeom prst="rect">
            <a:avLst/>
          </a:prstGeom>
          <a:noFill/>
          <a:ln/>
        </p:spPr>
        <p:txBody>
          <a:bodyPr wrap="square" lIns="0" tIns="0" rIns="0" bIns="0" rtlCol="0" anchor="ctr"/>
          <a:lstStyle/>
          <a:p>
            <a:pPr marL="0" indent="0" algn="ctr">
              <a:buNone/>
            </a:pPr>
            <a:r>
              <a:rPr lang="en-US" sz="1050" b="1">
                <a:solidFill>
                  <a:srgbClr val="FFFFFF"/>
                </a:solidFill>
              </a:rPr>
              <a:t>Auditors</a:t>
            </a:r>
            <a:endParaRPr lang="en-US" sz="1050"/>
          </a:p>
        </p:txBody>
      </p:sp>
      <p:sp>
        <p:nvSpPr>
          <p:cNvPr id="33" name="Shape 31"/>
          <p:cNvSpPr/>
          <p:nvPr/>
        </p:nvSpPr>
        <p:spPr>
          <a:xfrm>
            <a:off x="10094976" y="5650992"/>
            <a:ext cx="1097280" cy="347472"/>
          </a:xfrm>
          <a:prstGeom prst="roundRect">
            <a:avLst>
              <a:gd name="adj" fmla="val 42105"/>
            </a:avLst>
          </a:prstGeom>
          <a:solidFill>
            <a:srgbClr val="FBB034"/>
          </a:solidFill>
          <a:ln w="12700">
            <a:solidFill>
              <a:srgbClr val="FBB034"/>
            </a:solidFill>
            <a:prstDash val="solid"/>
          </a:ln>
        </p:spPr>
      </p:sp>
      <p:sp>
        <p:nvSpPr>
          <p:cNvPr id="34" name="Text 32"/>
          <p:cNvSpPr/>
          <p:nvPr/>
        </p:nvSpPr>
        <p:spPr>
          <a:xfrm>
            <a:off x="10168128" y="5724144"/>
            <a:ext cx="950976" cy="182880"/>
          </a:xfrm>
          <a:prstGeom prst="rect">
            <a:avLst/>
          </a:prstGeom>
          <a:noFill/>
          <a:ln/>
        </p:spPr>
        <p:txBody>
          <a:bodyPr wrap="square" lIns="0" tIns="0" rIns="0" bIns="0" rtlCol="0" anchor="ctr"/>
          <a:lstStyle/>
          <a:p>
            <a:pPr marL="0" indent="0" algn="ctr">
              <a:buNone/>
            </a:pPr>
            <a:r>
              <a:rPr lang="en-US" sz="1050" b="1">
                <a:solidFill>
                  <a:srgbClr val="FFFFFF"/>
                </a:solidFill>
              </a:rPr>
              <a:t>AI agents</a:t>
            </a:r>
            <a:endParaRPr lang="en-US" sz="1050"/>
          </a:p>
        </p:txBody>
      </p:sp>
      <p:sp>
        <p:nvSpPr>
          <p:cNvPr id="35" name="Slide Number Placeholder 0"/>
          <p:cNvSpPr>
            <a:spLocks noGrp="1"/>
          </p:cNvSpPr>
          <p:nvPr>
            <p:ph type="sldNum" sz="quarter" idx="4294967295"/>
          </p:nvPr>
        </p:nvSpPr>
        <p:spPr>
          <a:xfrm>
            <a:off x="10652760" y="6510528"/>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77777"/>
                </a:solidFill>
              </a:defRPr>
            </a:lvl1pPr>
          </a:lstStyle>
          <a:p>
            <a:pPr algn="ct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1">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191695" cy="91440"/>
          </a:xfrm>
          <a:prstGeom prst="rect">
            <a:avLst/>
          </a:prstGeom>
          <a:solidFill>
            <a:srgbClr val="FBB034"/>
          </a:solidFill>
          <a:ln w="12700">
            <a:solidFill>
              <a:srgbClr val="FBB034"/>
            </a:solidFill>
            <a:prstDash val="solid"/>
          </a:ln>
        </p:spPr>
        <p:txBody>
          <a:bodyPr/>
          <a:lstStyle/>
          <a:p>
            <a:endParaRPr/>
          </a:p>
        </p:txBody>
      </p:sp>
      <p:sp>
        <p:nvSpPr>
          <p:cNvPr id="3" name="Text 1"/>
          <p:cNvSpPr/>
          <p:nvPr/>
        </p:nvSpPr>
        <p:spPr>
          <a:xfrm>
            <a:off x="566928" y="310896"/>
            <a:ext cx="10927080" cy="502920"/>
          </a:xfrm>
          <a:prstGeom prst="rect">
            <a:avLst/>
          </a:prstGeom>
          <a:noFill/>
          <a:ln/>
        </p:spPr>
        <p:txBody>
          <a:bodyPr wrap="square" lIns="381" tIns="381" rIns="381" bIns="381" rtlCol="0" anchor="ctr">
            <a:normAutofit/>
          </a:bodyPr>
          <a:lstStyle/>
          <a:p>
            <a:pPr marL="0" indent="0" algn="l">
              <a:buNone/>
            </a:pPr>
            <a:r>
              <a:rPr lang="en-US" sz="2700" b="1">
                <a:solidFill>
                  <a:srgbClr val="12233A"/>
                </a:solidFill>
                <a:latin typeface="Calibri Light" pitchFamily="34" charset="0"/>
                <a:ea typeface="Calibri Light" pitchFamily="34" charset="-122"/>
                <a:cs typeface="Calibri Light" pitchFamily="34" charset="-120"/>
              </a:rPr>
              <a:t>Who has the problem?</a:t>
            </a:r>
            <a:endParaRPr lang="en-US" sz="2700"/>
          </a:p>
        </p:txBody>
      </p:sp>
      <p:sp>
        <p:nvSpPr>
          <p:cNvPr id="4" name="Text 2"/>
          <p:cNvSpPr/>
          <p:nvPr/>
        </p:nvSpPr>
        <p:spPr>
          <a:xfrm>
            <a:off x="585216" y="859536"/>
            <a:ext cx="10607040" cy="292608"/>
          </a:xfrm>
          <a:prstGeom prst="rect">
            <a:avLst/>
          </a:prstGeom>
          <a:noFill/>
          <a:ln/>
        </p:spPr>
        <p:txBody>
          <a:bodyPr wrap="square" lIns="381" tIns="381" rIns="381" bIns="381" rtlCol="0" anchor="ctr">
            <a:normAutofit/>
          </a:bodyPr>
          <a:lstStyle/>
          <a:p>
            <a:pPr marL="0" indent="0" algn="l">
              <a:buNone/>
            </a:pPr>
            <a:r>
              <a:rPr lang="en-US" sz="1400">
                <a:solidFill>
                  <a:srgbClr val="667085"/>
                </a:solidFill>
                <a:latin typeface="Calibri Light"/>
                <a:ea typeface="Calibri Light"/>
                <a:cs typeface="Calibri Light"/>
              </a:rPr>
              <a:t>The same unclear or inconsistent specification creates different problems at every stage of the SDLC.</a:t>
            </a:r>
            <a:endParaRPr lang="en-US" sz="1400">
              <a:latin typeface="Calibri Light"/>
              <a:ea typeface="Calibri Light"/>
              <a:cs typeface="Calibri Light"/>
            </a:endParaRPr>
          </a:p>
        </p:txBody>
      </p:sp>
      <p:sp>
        <p:nvSpPr>
          <p:cNvPr id="5" name="Text 3"/>
          <p:cNvSpPr/>
          <p:nvPr/>
        </p:nvSpPr>
        <p:spPr>
          <a:xfrm>
            <a:off x="804672" y="1344168"/>
            <a:ext cx="1975104" cy="210312"/>
          </a:xfrm>
          <a:prstGeom prst="rect">
            <a:avLst/>
          </a:prstGeom>
          <a:noFill/>
          <a:ln/>
        </p:spPr>
        <p:txBody>
          <a:bodyPr wrap="square" lIns="381" tIns="381" rIns="381" bIns="381" rtlCol="0" anchor="ctr">
            <a:noAutofit/>
          </a:bodyPr>
          <a:lstStyle/>
          <a:p>
            <a:pPr marL="0" indent="0" algn="l">
              <a:buNone/>
            </a:pPr>
            <a:r>
              <a:rPr lang="en-US" sz="1400" b="1">
                <a:solidFill>
                  <a:srgbClr val="4E84C4"/>
                </a:solidFill>
                <a:latin typeface="Calibri Light"/>
                <a:ea typeface="Calibri Light"/>
                <a:cs typeface="Calibri Light"/>
              </a:rPr>
              <a:t>STAKEHOLDER</a:t>
            </a:r>
            <a:endParaRPr lang="en-US" sz="1400">
              <a:latin typeface="Calibri Light"/>
              <a:ea typeface="Calibri Light"/>
              <a:cs typeface="Calibri Light"/>
            </a:endParaRPr>
          </a:p>
        </p:txBody>
      </p:sp>
      <p:sp>
        <p:nvSpPr>
          <p:cNvPr id="6" name="Text 4"/>
          <p:cNvSpPr/>
          <p:nvPr/>
        </p:nvSpPr>
        <p:spPr>
          <a:xfrm>
            <a:off x="3291840" y="1344168"/>
            <a:ext cx="2798064" cy="210312"/>
          </a:xfrm>
          <a:prstGeom prst="rect">
            <a:avLst/>
          </a:prstGeom>
          <a:noFill/>
          <a:ln/>
        </p:spPr>
        <p:txBody>
          <a:bodyPr wrap="square" lIns="381" tIns="381" rIns="381" bIns="381" rtlCol="0" anchor="ctr">
            <a:noAutofit/>
          </a:bodyPr>
          <a:lstStyle/>
          <a:p>
            <a:pPr marL="0" indent="0" algn="l">
              <a:buNone/>
            </a:pPr>
            <a:r>
              <a:rPr lang="en-US" sz="1400" b="1">
                <a:solidFill>
                  <a:srgbClr val="4E84C4"/>
                </a:solidFill>
                <a:latin typeface="Calibri Light"/>
                <a:ea typeface="Calibri Light"/>
                <a:cs typeface="Calibri Light"/>
              </a:rPr>
              <a:t>PROBLEM EXPERIENCED</a:t>
            </a:r>
            <a:endParaRPr lang="en-US" sz="1400">
              <a:latin typeface="Calibri Light"/>
              <a:ea typeface="Calibri Light"/>
              <a:cs typeface="Calibri Light"/>
            </a:endParaRPr>
          </a:p>
        </p:txBody>
      </p:sp>
      <p:sp>
        <p:nvSpPr>
          <p:cNvPr id="7" name="Text 5"/>
          <p:cNvSpPr/>
          <p:nvPr/>
        </p:nvSpPr>
        <p:spPr>
          <a:xfrm>
            <a:off x="6620256" y="1344168"/>
            <a:ext cx="4736592" cy="210312"/>
          </a:xfrm>
          <a:prstGeom prst="rect">
            <a:avLst/>
          </a:prstGeom>
          <a:noFill/>
          <a:ln/>
        </p:spPr>
        <p:txBody>
          <a:bodyPr wrap="square" lIns="381" tIns="381" rIns="381" bIns="381" rtlCol="0" anchor="ctr">
            <a:noAutofit/>
          </a:bodyPr>
          <a:lstStyle/>
          <a:p>
            <a:pPr marL="0" indent="0" algn="l">
              <a:buNone/>
            </a:pPr>
            <a:r>
              <a:rPr lang="en-US" sz="1400" b="1">
                <a:solidFill>
                  <a:srgbClr val="4E84C4"/>
                </a:solidFill>
                <a:latin typeface="Calibri Light"/>
                <a:ea typeface="Calibri Light"/>
                <a:cs typeface="Calibri Light"/>
              </a:rPr>
              <a:t>LEVEL OF IMPACT</a:t>
            </a:r>
            <a:endParaRPr lang="en-US" sz="1400">
              <a:latin typeface="Calibri Light"/>
              <a:ea typeface="Calibri Light"/>
              <a:cs typeface="Calibri Light"/>
            </a:endParaRPr>
          </a:p>
        </p:txBody>
      </p:sp>
      <p:sp>
        <p:nvSpPr>
          <p:cNvPr id="8" name="Shape 6"/>
          <p:cNvSpPr/>
          <p:nvPr/>
        </p:nvSpPr>
        <p:spPr>
          <a:xfrm>
            <a:off x="658368" y="1645920"/>
            <a:ext cx="10881360" cy="987552"/>
          </a:xfrm>
          <a:prstGeom prst="roundRect">
            <a:avLst>
              <a:gd name="adj" fmla="val 5556"/>
            </a:avLst>
          </a:prstGeom>
          <a:solidFill>
            <a:srgbClr val="EEF4FA"/>
          </a:solidFill>
          <a:ln w="12700">
            <a:solidFill>
              <a:srgbClr val="D5E1ED"/>
            </a:solidFill>
            <a:prstDash val="solid"/>
          </a:ln>
          <a:effectLst>
            <a:outerShdw blurRad="13970" dist="3810" dir="2700000" algn="bl" rotWithShape="0">
              <a:srgbClr val="000000">
                <a:alpha val="8000"/>
              </a:srgbClr>
            </a:outerShdw>
          </a:effectLst>
        </p:spPr>
        <p:txBody>
          <a:bodyPr/>
          <a:lstStyle/>
          <a:p>
            <a:endParaRPr/>
          </a:p>
        </p:txBody>
      </p:sp>
      <p:sp>
        <p:nvSpPr>
          <p:cNvPr id="9" name="Shape 7"/>
          <p:cNvSpPr/>
          <p:nvPr/>
        </p:nvSpPr>
        <p:spPr>
          <a:xfrm>
            <a:off x="850392" y="1929384"/>
            <a:ext cx="402336" cy="402336"/>
          </a:xfrm>
          <a:prstGeom prst="ellipse">
            <a:avLst/>
          </a:prstGeom>
          <a:solidFill>
            <a:srgbClr val="4E84C4"/>
          </a:solidFill>
          <a:ln w="12700">
            <a:solidFill>
              <a:srgbClr val="4E84C4"/>
            </a:solidFill>
            <a:prstDash val="solid"/>
          </a:ln>
        </p:spPr>
        <p:txBody>
          <a:bodyPr/>
          <a:lstStyle/>
          <a:p>
            <a:endParaRPr/>
          </a:p>
        </p:txBody>
      </p:sp>
      <p:sp>
        <p:nvSpPr>
          <p:cNvPr id="10" name="Text 8"/>
          <p:cNvSpPr/>
          <p:nvPr/>
        </p:nvSpPr>
        <p:spPr>
          <a:xfrm>
            <a:off x="850392" y="2034540"/>
            <a:ext cx="402336" cy="128016"/>
          </a:xfrm>
          <a:prstGeom prst="rect">
            <a:avLst/>
          </a:prstGeom>
          <a:noFill/>
          <a:ln/>
        </p:spPr>
        <p:txBody>
          <a:bodyPr wrap="square" lIns="381" tIns="381" rIns="381" bIns="381" rtlCol="0" anchor="ctr">
            <a:normAutofit/>
          </a:bodyPr>
          <a:lstStyle/>
          <a:p>
            <a:pPr marL="0" indent="0" algn="ctr">
              <a:buNone/>
            </a:pPr>
            <a:r>
              <a:rPr lang="en-US" sz="950" b="1">
                <a:solidFill>
                  <a:srgbClr val="FFFFFF"/>
                </a:solidFill>
                <a:latin typeface="Calibri Light" pitchFamily="34" charset="0"/>
                <a:ea typeface="Calibri Light" pitchFamily="34" charset="-122"/>
                <a:cs typeface="Calibri Light" pitchFamily="34" charset="-120"/>
              </a:rPr>
              <a:t>1</a:t>
            </a:r>
            <a:endParaRPr lang="en-US" sz="950"/>
          </a:p>
        </p:txBody>
      </p:sp>
      <p:sp>
        <p:nvSpPr>
          <p:cNvPr id="11" name="Text 9"/>
          <p:cNvSpPr/>
          <p:nvPr/>
        </p:nvSpPr>
        <p:spPr>
          <a:xfrm>
            <a:off x="1389888" y="1828800"/>
            <a:ext cx="1783080" cy="603504"/>
          </a:xfrm>
          <a:prstGeom prst="rect">
            <a:avLst/>
          </a:prstGeom>
          <a:noFill/>
          <a:ln/>
        </p:spPr>
        <p:txBody>
          <a:bodyPr wrap="square" lIns="381" tIns="381" rIns="381" bIns="381" rtlCol="0" anchor="ctr">
            <a:normAutofit/>
          </a:bodyPr>
          <a:lstStyle/>
          <a:p>
            <a:pPr marL="0" indent="0" algn="l">
              <a:buNone/>
            </a:pPr>
            <a:r>
              <a:rPr lang="en-US" sz="1420" b="1">
                <a:solidFill>
                  <a:srgbClr val="12233A"/>
                </a:solidFill>
                <a:latin typeface="Calibri Light" pitchFamily="34" charset="0"/>
                <a:ea typeface="Calibri Light" pitchFamily="34" charset="-122"/>
                <a:cs typeface="Calibri Light" pitchFamily="34" charset="-120"/>
              </a:rPr>
              <a:t>Business analysts</a:t>
            </a:r>
            <a:endParaRPr lang="en-US" sz="1420"/>
          </a:p>
          <a:p>
            <a:pPr marL="0" indent="0" algn="l">
              <a:buNone/>
            </a:pPr>
            <a:r>
              <a:rPr lang="en-US" sz="1420" b="1">
                <a:solidFill>
                  <a:srgbClr val="12233A"/>
                </a:solidFill>
                <a:latin typeface="Calibri Light" pitchFamily="34" charset="0"/>
                <a:ea typeface="Calibri Light" pitchFamily="34" charset="-122"/>
                <a:cs typeface="Calibri Light" pitchFamily="34" charset="-120"/>
              </a:rPr>
              <a:t>and product owners</a:t>
            </a:r>
            <a:endParaRPr lang="en-US" sz="1420"/>
          </a:p>
        </p:txBody>
      </p:sp>
      <p:sp>
        <p:nvSpPr>
          <p:cNvPr id="12" name="Text 10"/>
          <p:cNvSpPr/>
          <p:nvPr/>
        </p:nvSpPr>
        <p:spPr>
          <a:xfrm>
            <a:off x="3310128" y="1828800"/>
            <a:ext cx="2788920" cy="603504"/>
          </a:xfrm>
          <a:prstGeom prst="rect">
            <a:avLst/>
          </a:prstGeom>
          <a:noFill/>
          <a:ln/>
        </p:spPr>
        <p:txBody>
          <a:bodyPr wrap="square" lIns="381" tIns="381" rIns="381" bIns="381" rtlCol="0" anchor="ctr">
            <a:noAutofit/>
          </a:bodyPr>
          <a:lstStyle/>
          <a:p>
            <a:pPr marL="0" indent="0" algn="l">
              <a:buNone/>
            </a:pPr>
            <a:r>
              <a:rPr lang="en-US" sz="1400">
                <a:latin typeface="Calibri Light"/>
                <a:ea typeface="Calibri Light"/>
                <a:cs typeface="Calibri Light"/>
              </a:rPr>
              <a:t>Requirements may not accurately represent the intended business behavior.</a:t>
            </a:r>
          </a:p>
        </p:txBody>
      </p:sp>
      <p:sp>
        <p:nvSpPr>
          <p:cNvPr id="15" name="Text 13"/>
          <p:cNvSpPr/>
          <p:nvPr/>
        </p:nvSpPr>
        <p:spPr>
          <a:xfrm>
            <a:off x="6656832" y="2004568"/>
            <a:ext cx="4407408" cy="246888"/>
          </a:xfrm>
          <a:prstGeom prst="rect">
            <a:avLst/>
          </a:prstGeom>
          <a:noFill/>
          <a:ln/>
        </p:spPr>
        <p:txBody>
          <a:bodyPr wrap="square" lIns="381" tIns="381" rIns="381" bIns="381" rtlCol="0" anchor="ctr">
            <a:normAutofit/>
          </a:bodyPr>
          <a:lstStyle/>
          <a:p>
            <a:pPr marL="0" indent="0" algn="l">
              <a:buNone/>
            </a:pPr>
            <a:r>
              <a:rPr lang="en-US" sz="1400" b="1">
                <a:solidFill>
                  <a:srgbClr val="FF0000"/>
                </a:solidFill>
                <a:latin typeface="Calibri Light"/>
                <a:ea typeface="Calibri Light"/>
                <a:cs typeface="Calibri Light"/>
              </a:rPr>
              <a:t>Incorrect scope and disputed acceptance criteria</a:t>
            </a:r>
            <a:endParaRPr lang="en-US" sz="1400">
              <a:solidFill>
                <a:srgbClr val="FF0000"/>
              </a:solidFill>
              <a:latin typeface="Calibri Light"/>
              <a:ea typeface="Calibri Light"/>
              <a:cs typeface="Calibri Light"/>
            </a:endParaRPr>
          </a:p>
        </p:txBody>
      </p:sp>
      <p:sp>
        <p:nvSpPr>
          <p:cNvPr id="16" name="Shape 14"/>
          <p:cNvSpPr/>
          <p:nvPr/>
        </p:nvSpPr>
        <p:spPr>
          <a:xfrm>
            <a:off x="658368" y="2852928"/>
            <a:ext cx="10881360" cy="987552"/>
          </a:xfrm>
          <a:prstGeom prst="roundRect">
            <a:avLst>
              <a:gd name="adj" fmla="val 5556"/>
            </a:avLst>
          </a:prstGeom>
          <a:solidFill>
            <a:srgbClr val="F7FAFD"/>
          </a:solidFill>
          <a:ln w="12700">
            <a:solidFill>
              <a:srgbClr val="D5E1ED"/>
            </a:solidFill>
            <a:prstDash val="solid"/>
          </a:ln>
          <a:effectLst/>
        </p:spPr>
        <p:txBody>
          <a:bodyPr/>
          <a:lstStyle/>
          <a:p>
            <a:endParaRPr/>
          </a:p>
        </p:txBody>
      </p:sp>
      <p:sp>
        <p:nvSpPr>
          <p:cNvPr id="17" name="Shape 15"/>
          <p:cNvSpPr/>
          <p:nvPr/>
        </p:nvSpPr>
        <p:spPr>
          <a:xfrm>
            <a:off x="850392" y="3136392"/>
            <a:ext cx="402336" cy="402336"/>
          </a:xfrm>
          <a:prstGeom prst="ellipse">
            <a:avLst/>
          </a:prstGeom>
          <a:solidFill>
            <a:srgbClr val="FBB034"/>
          </a:solidFill>
          <a:ln w="12700">
            <a:solidFill>
              <a:srgbClr val="FBB034"/>
            </a:solidFill>
            <a:prstDash val="solid"/>
          </a:ln>
        </p:spPr>
        <p:txBody>
          <a:bodyPr/>
          <a:lstStyle/>
          <a:p>
            <a:endParaRPr/>
          </a:p>
        </p:txBody>
      </p:sp>
      <p:sp>
        <p:nvSpPr>
          <p:cNvPr id="18" name="Text 16"/>
          <p:cNvSpPr/>
          <p:nvPr/>
        </p:nvSpPr>
        <p:spPr>
          <a:xfrm>
            <a:off x="850392" y="3241548"/>
            <a:ext cx="402336" cy="128016"/>
          </a:xfrm>
          <a:prstGeom prst="rect">
            <a:avLst/>
          </a:prstGeom>
          <a:noFill/>
          <a:ln/>
        </p:spPr>
        <p:txBody>
          <a:bodyPr wrap="square" lIns="381" tIns="381" rIns="381" bIns="381" rtlCol="0" anchor="ctr">
            <a:normAutofit/>
          </a:bodyPr>
          <a:lstStyle/>
          <a:p>
            <a:pPr marL="0" indent="0" algn="ctr">
              <a:buNone/>
            </a:pPr>
            <a:r>
              <a:rPr lang="en-US" sz="950" b="1">
                <a:solidFill>
                  <a:srgbClr val="FFFFFF"/>
                </a:solidFill>
                <a:latin typeface="Calibri Light" pitchFamily="34" charset="0"/>
                <a:ea typeface="Calibri Light" pitchFamily="34" charset="-122"/>
                <a:cs typeface="Calibri Light" pitchFamily="34" charset="-120"/>
              </a:rPr>
              <a:t>2</a:t>
            </a:r>
            <a:endParaRPr lang="en-US" sz="950"/>
          </a:p>
        </p:txBody>
      </p:sp>
      <p:sp>
        <p:nvSpPr>
          <p:cNvPr id="19" name="Text 17"/>
          <p:cNvSpPr/>
          <p:nvPr/>
        </p:nvSpPr>
        <p:spPr>
          <a:xfrm>
            <a:off x="1389888" y="3035808"/>
            <a:ext cx="1783080" cy="603504"/>
          </a:xfrm>
          <a:prstGeom prst="rect">
            <a:avLst/>
          </a:prstGeom>
          <a:noFill/>
          <a:ln/>
        </p:spPr>
        <p:txBody>
          <a:bodyPr wrap="square" lIns="381" tIns="381" rIns="381" bIns="381" rtlCol="0" anchor="ctr">
            <a:normAutofit/>
          </a:bodyPr>
          <a:lstStyle/>
          <a:p>
            <a:pPr marL="0" indent="0" algn="l">
              <a:buNone/>
            </a:pPr>
            <a:r>
              <a:rPr lang="en-US" sz="1420" b="1">
                <a:solidFill>
                  <a:srgbClr val="12233A"/>
                </a:solidFill>
                <a:latin typeface="Calibri Light" pitchFamily="34" charset="0"/>
                <a:ea typeface="Calibri Light" pitchFamily="34" charset="-122"/>
                <a:cs typeface="Calibri Light" pitchFamily="34" charset="-120"/>
              </a:rPr>
              <a:t>Architects</a:t>
            </a:r>
            <a:endParaRPr lang="en-US" sz="1420"/>
          </a:p>
        </p:txBody>
      </p:sp>
      <p:sp>
        <p:nvSpPr>
          <p:cNvPr id="20" name="Text 18"/>
          <p:cNvSpPr/>
          <p:nvPr/>
        </p:nvSpPr>
        <p:spPr>
          <a:xfrm>
            <a:off x="3310128" y="3035808"/>
            <a:ext cx="2788920" cy="603504"/>
          </a:xfrm>
          <a:prstGeom prst="rect">
            <a:avLst/>
          </a:prstGeom>
          <a:noFill/>
          <a:ln/>
        </p:spPr>
        <p:txBody>
          <a:bodyPr wrap="square" lIns="381" tIns="381" rIns="381" bIns="381" rtlCol="0" anchor="ctr">
            <a:normAutofit/>
          </a:bodyPr>
          <a:lstStyle/>
          <a:p>
            <a:pPr marL="0" indent="0" algn="l">
              <a:buNone/>
            </a:pPr>
            <a:r>
              <a:rPr lang="en-US" sz="1400">
                <a:latin typeface="Calibri Light"/>
                <a:ea typeface="Calibri Light"/>
                <a:cs typeface="Calibri Light"/>
              </a:rPr>
              <a:t>Conflicting constraints can produce incompatible design decisions.</a:t>
            </a:r>
          </a:p>
        </p:txBody>
      </p:sp>
      <p:sp>
        <p:nvSpPr>
          <p:cNvPr id="23" name="Text 21"/>
          <p:cNvSpPr/>
          <p:nvPr/>
        </p:nvSpPr>
        <p:spPr>
          <a:xfrm>
            <a:off x="6656832" y="3130296"/>
            <a:ext cx="4407408" cy="246888"/>
          </a:xfrm>
          <a:prstGeom prst="rect">
            <a:avLst/>
          </a:prstGeom>
          <a:noFill/>
          <a:ln/>
        </p:spPr>
        <p:txBody>
          <a:bodyPr wrap="square" lIns="381" tIns="381" rIns="381" bIns="381" rtlCol="0" anchor="ctr">
            <a:normAutofit/>
          </a:bodyPr>
          <a:lstStyle/>
          <a:p>
            <a:pPr marL="0" indent="0" algn="l">
              <a:buNone/>
            </a:pPr>
            <a:r>
              <a:rPr lang="en-US" sz="1400" b="1">
                <a:solidFill>
                  <a:srgbClr val="D64545"/>
                </a:solidFill>
                <a:latin typeface="Calibri Light"/>
                <a:ea typeface="Calibri Light"/>
                <a:cs typeface="Calibri Light"/>
              </a:rPr>
              <a:t>Unstable architecture and redesign</a:t>
            </a:r>
            <a:endParaRPr lang="en-US" sz="1400">
              <a:latin typeface="Calibri Light"/>
              <a:ea typeface="Calibri Light"/>
              <a:cs typeface="Calibri Light"/>
            </a:endParaRPr>
          </a:p>
        </p:txBody>
      </p:sp>
      <p:sp>
        <p:nvSpPr>
          <p:cNvPr id="24" name="Shape 22"/>
          <p:cNvSpPr/>
          <p:nvPr/>
        </p:nvSpPr>
        <p:spPr>
          <a:xfrm>
            <a:off x="658368" y="4059936"/>
            <a:ext cx="10881360" cy="987552"/>
          </a:xfrm>
          <a:prstGeom prst="roundRect">
            <a:avLst>
              <a:gd name="adj" fmla="val 5556"/>
            </a:avLst>
          </a:prstGeom>
          <a:solidFill>
            <a:srgbClr val="EEF4FA"/>
          </a:solidFill>
          <a:ln w="12700">
            <a:solidFill>
              <a:srgbClr val="D5E1ED"/>
            </a:solidFill>
            <a:prstDash val="solid"/>
          </a:ln>
          <a:effectLst/>
        </p:spPr>
        <p:txBody>
          <a:bodyPr/>
          <a:lstStyle/>
          <a:p>
            <a:endParaRPr/>
          </a:p>
        </p:txBody>
      </p:sp>
      <p:sp>
        <p:nvSpPr>
          <p:cNvPr id="25" name="Shape 23"/>
          <p:cNvSpPr/>
          <p:nvPr/>
        </p:nvSpPr>
        <p:spPr>
          <a:xfrm>
            <a:off x="850392" y="4343400"/>
            <a:ext cx="402336" cy="402336"/>
          </a:xfrm>
          <a:prstGeom prst="ellipse">
            <a:avLst/>
          </a:prstGeom>
          <a:solidFill>
            <a:srgbClr val="4E84C4"/>
          </a:solidFill>
          <a:ln w="12700">
            <a:solidFill>
              <a:srgbClr val="4E84C4"/>
            </a:solidFill>
            <a:prstDash val="solid"/>
          </a:ln>
        </p:spPr>
        <p:txBody>
          <a:bodyPr/>
          <a:lstStyle/>
          <a:p>
            <a:endParaRPr/>
          </a:p>
        </p:txBody>
      </p:sp>
      <p:sp>
        <p:nvSpPr>
          <p:cNvPr id="26" name="Text 24"/>
          <p:cNvSpPr/>
          <p:nvPr/>
        </p:nvSpPr>
        <p:spPr>
          <a:xfrm>
            <a:off x="850392" y="4448556"/>
            <a:ext cx="402336" cy="128016"/>
          </a:xfrm>
          <a:prstGeom prst="rect">
            <a:avLst/>
          </a:prstGeom>
          <a:noFill/>
          <a:ln/>
        </p:spPr>
        <p:txBody>
          <a:bodyPr wrap="square" lIns="381" tIns="381" rIns="381" bIns="381" rtlCol="0" anchor="ctr">
            <a:normAutofit/>
          </a:bodyPr>
          <a:lstStyle/>
          <a:p>
            <a:pPr marL="0" indent="0" algn="ctr">
              <a:buNone/>
            </a:pPr>
            <a:r>
              <a:rPr lang="en-US" sz="950" b="1">
                <a:solidFill>
                  <a:srgbClr val="FFFFFF"/>
                </a:solidFill>
                <a:latin typeface="Calibri Light" pitchFamily="34" charset="0"/>
                <a:ea typeface="Calibri Light" pitchFamily="34" charset="-122"/>
                <a:cs typeface="Calibri Light" pitchFamily="34" charset="-120"/>
              </a:rPr>
              <a:t>3</a:t>
            </a:r>
            <a:endParaRPr lang="en-US" sz="950"/>
          </a:p>
        </p:txBody>
      </p:sp>
      <p:sp>
        <p:nvSpPr>
          <p:cNvPr id="27" name="Text 25"/>
          <p:cNvSpPr/>
          <p:nvPr/>
        </p:nvSpPr>
        <p:spPr>
          <a:xfrm>
            <a:off x="1389888" y="4242816"/>
            <a:ext cx="1783080" cy="603504"/>
          </a:xfrm>
          <a:prstGeom prst="rect">
            <a:avLst/>
          </a:prstGeom>
          <a:noFill/>
          <a:ln/>
        </p:spPr>
        <p:txBody>
          <a:bodyPr wrap="square" lIns="381" tIns="381" rIns="381" bIns="381" rtlCol="0" anchor="ctr">
            <a:normAutofit/>
          </a:bodyPr>
          <a:lstStyle/>
          <a:p>
            <a:pPr marL="0" indent="0" algn="l">
              <a:buNone/>
            </a:pPr>
            <a:r>
              <a:rPr lang="en-US" sz="1420" b="1">
                <a:solidFill>
                  <a:srgbClr val="12233A"/>
                </a:solidFill>
                <a:latin typeface="Calibri Light" pitchFamily="34" charset="0"/>
                <a:ea typeface="Calibri Light" pitchFamily="34" charset="-122"/>
                <a:cs typeface="Calibri Light" pitchFamily="34" charset="-120"/>
              </a:rPr>
              <a:t>Developers and</a:t>
            </a:r>
            <a:endParaRPr lang="en-US" sz="1420"/>
          </a:p>
          <a:p>
            <a:pPr marL="0" indent="0" algn="l">
              <a:buNone/>
            </a:pPr>
            <a:r>
              <a:rPr lang="en-US" sz="1420" b="1">
                <a:solidFill>
                  <a:srgbClr val="12233A"/>
                </a:solidFill>
                <a:latin typeface="Calibri Light" pitchFamily="34" charset="0"/>
                <a:ea typeface="Calibri Light" pitchFamily="34" charset="-122"/>
                <a:cs typeface="Calibri Light" pitchFamily="34" charset="-120"/>
              </a:rPr>
              <a:t>AI coding agents</a:t>
            </a:r>
            <a:endParaRPr lang="en-US" sz="1420"/>
          </a:p>
        </p:txBody>
      </p:sp>
      <p:sp>
        <p:nvSpPr>
          <p:cNvPr id="28" name="Text 26"/>
          <p:cNvSpPr/>
          <p:nvPr/>
        </p:nvSpPr>
        <p:spPr>
          <a:xfrm>
            <a:off x="3310128" y="4242816"/>
            <a:ext cx="2788920" cy="603504"/>
          </a:xfrm>
          <a:prstGeom prst="rect">
            <a:avLst/>
          </a:prstGeom>
          <a:noFill/>
          <a:ln/>
        </p:spPr>
        <p:txBody>
          <a:bodyPr wrap="square" lIns="381" tIns="381" rIns="381" bIns="381" rtlCol="0" anchor="ctr">
            <a:noAutofit/>
          </a:bodyPr>
          <a:lstStyle/>
          <a:p>
            <a:pPr marL="0" indent="0" algn="l">
              <a:buNone/>
            </a:pPr>
            <a:r>
              <a:rPr lang="en-US" sz="1400">
                <a:latin typeface="Calibri Light"/>
                <a:ea typeface="Calibri Light"/>
                <a:cs typeface="Calibri Light"/>
              </a:rPr>
              <a:t>The implementation must choose between multiple plausible interpretations.</a:t>
            </a:r>
          </a:p>
        </p:txBody>
      </p:sp>
      <p:sp>
        <p:nvSpPr>
          <p:cNvPr id="31" name="Text 29"/>
          <p:cNvSpPr/>
          <p:nvPr/>
        </p:nvSpPr>
        <p:spPr>
          <a:xfrm>
            <a:off x="6656832" y="4418584"/>
            <a:ext cx="4407408" cy="246888"/>
          </a:xfrm>
          <a:prstGeom prst="rect">
            <a:avLst/>
          </a:prstGeom>
          <a:noFill/>
          <a:ln/>
        </p:spPr>
        <p:txBody>
          <a:bodyPr wrap="square" lIns="381" tIns="381" rIns="381" bIns="381" rtlCol="0" anchor="ctr">
            <a:normAutofit/>
          </a:bodyPr>
          <a:lstStyle/>
          <a:p>
            <a:pPr marL="0" indent="0" algn="l">
              <a:buNone/>
            </a:pPr>
            <a:r>
              <a:rPr lang="en-US" sz="1400" b="1">
                <a:solidFill>
                  <a:srgbClr val="FF0000"/>
                </a:solidFill>
                <a:latin typeface="Calibri Light"/>
                <a:ea typeface="Calibri Light"/>
                <a:cs typeface="Calibri Light"/>
              </a:rPr>
              <a:t>Inconsistent or incorrect behavior</a:t>
            </a:r>
            <a:endParaRPr lang="en-US" sz="1400">
              <a:solidFill>
                <a:srgbClr val="FF0000"/>
              </a:solidFill>
              <a:latin typeface="Calibri Light"/>
              <a:ea typeface="Calibri Light"/>
              <a:cs typeface="Calibri Light"/>
            </a:endParaRPr>
          </a:p>
        </p:txBody>
      </p:sp>
      <p:sp>
        <p:nvSpPr>
          <p:cNvPr id="32" name="Shape 30"/>
          <p:cNvSpPr/>
          <p:nvPr/>
        </p:nvSpPr>
        <p:spPr>
          <a:xfrm>
            <a:off x="658368" y="5422392"/>
            <a:ext cx="10881360" cy="621792"/>
          </a:xfrm>
          <a:prstGeom prst="roundRect">
            <a:avLst>
              <a:gd name="adj" fmla="val 8824"/>
            </a:avLst>
          </a:prstGeom>
          <a:solidFill>
            <a:srgbClr val="12233A"/>
          </a:solidFill>
          <a:ln w="12700">
            <a:solidFill>
              <a:srgbClr val="12233A"/>
            </a:solidFill>
            <a:prstDash val="solid"/>
          </a:ln>
          <a:effectLst/>
        </p:spPr>
        <p:txBody>
          <a:bodyPr/>
          <a:lstStyle/>
          <a:p>
            <a:endParaRPr/>
          </a:p>
        </p:txBody>
      </p:sp>
      <p:sp>
        <p:nvSpPr>
          <p:cNvPr id="33" name="Shape 31"/>
          <p:cNvSpPr/>
          <p:nvPr/>
        </p:nvSpPr>
        <p:spPr>
          <a:xfrm>
            <a:off x="658368" y="5422392"/>
            <a:ext cx="100584" cy="621792"/>
          </a:xfrm>
          <a:prstGeom prst="rect">
            <a:avLst/>
          </a:prstGeom>
          <a:solidFill>
            <a:srgbClr val="FBB034"/>
          </a:solidFill>
          <a:ln w="12700">
            <a:solidFill>
              <a:srgbClr val="FBB034"/>
            </a:solidFill>
            <a:prstDash val="solid"/>
          </a:ln>
        </p:spPr>
        <p:txBody>
          <a:bodyPr/>
          <a:lstStyle/>
          <a:p>
            <a:endParaRPr/>
          </a:p>
        </p:txBody>
      </p:sp>
      <p:sp>
        <p:nvSpPr>
          <p:cNvPr id="34" name="Text 32"/>
          <p:cNvSpPr/>
          <p:nvPr/>
        </p:nvSpPr>
        <p:spPr>
          <a:xfrm>
            <a:off x="960120" y="5596128"/>
            <a:ext cx="10241280" cy="265176"/>
          </a:xfrm>
          <a:prstGeom prst="rect">
            <a:avLst/>
          </a:prstGeom>
          <a:noFill/>
          <a:ln/>
        </p:spPr>
        <p:txBody>
          <a:bodyPr wrap="square" lIns="381" tIns="381" rIns="381" bIns="381" rtlCol="0" anchor="ctr">
            <a:normAutofit/>
          </a:bodyPr>
          <a:lstStyle/>
          <a:p>
            <a:pPr marL="0" indent="0" algn="ctr">
              <a:buNone/>
            </a:pPr>
            <a:r>
              <a:rPr lang="en-US" sz="1500" b="1">
                <a:solidFill>
                  <a:srgbClr val="FFFFFF"/>
                </a:solidFill>
                <a:latin typeface="Calibri Light" pitchFamily="34" charset="0"/>
                <a:ea typeface="Calibri Light" pitchFamily="34" charset="-122"/>
                <a:cs typeface="Calibri Light" pitchFamily="34" charset="-120"/>
              </a:rPr>
              <a:t>The defect begins in the requirements, but the impact is distributed across the entire delivery lifecycle.</a:t>
            </a:r>
            <a:endParaRPr lang="en-US" sz="1500"/>
          </a:p>
        </p:txBody>
      </p:sp>
      <p:sp>
        <p:nvSpPr>
          <p:cNvPr id="35" name="Text 33"/>
          <p:cNvSpPr/>
          <p:nvPr/>
        </p:nvSpPr>
        <p:spPr>
          <a:xfrm>
            <a:off x="576072" y="6510528"/>
            <a:ext cx="1143000" cy="146304"/>
          </a:xfrm>
          <a:prstGeom prst="rect">
            <a:avLst/>
          </a:prstGeom>
          <a:noFill/>
          <a:ln/>
        </p:spPr>
        <p:txBody>
          <a:bodyPr wrap="square" lIns="381" tIns="381" rIns="381" bIns="381" rtlCol="0" anchor="ctr">
            <a:normAutofit/>
          </a:bodyPr>
          <a:lstStyle/>
          <a:p>
            <a:pPr marL="0" indent="0" algn="l">
              <a:buNone/>
            </a:pPr>
            <a:r>
              <a:rPr lang="en-US" sz="800">
                <a:solidFill>
                  <a:srgbClr val="666666"/>
                </a:solidFill>
                <a:latin typeface="Calibri Light" pitchFamily="34" charset="0"/>
                <a:ea typeface="Calibri Light" pitchFamily="34" charset="-122"/>
                <a:cs typeface="Calibri Light" pitchFamily="34" charset="-120"/>
              </a:rPr>
              <a:t>TCS confidential</a:t>
            </a:r>
            <a:endParaRPr lang="en-US" sz="800"/>
          </a:p>
        </p:txBody>
      </p:sp>
      <p:sp>
        <p:nvSpPr>
          <p:cNvPr id="36" name="Text 34"/>
          <p:cNvSpPr/>
          <p:nvPr/>
        </p:nvSpPr>
        <p:spPr>
          <a:xfrm>
            <a:off x="11018520" y="6419088"/>
            <a:ext cx="603504" cy="228600"/>
          </a:xfrm>
          <a:prstGeom prst="rect">
            <a:avLst/>
          </a:prstGeom>
          <a:noFill/>
          <a:ln/>
        </p:spPr>
        <p:txBody>
          <a:bodyPr wrap="square" lIns="381" tIns="381" rIns="381" bIns="381" rtlCol="0" anchor="ctr">
            <a:normAutofit/>
          </a:bodyPr>
          <a:lstStyle/>
          <a:p>
            <a:pPr marL="0" indent="0" algn="r">
              <a:buNone/>
            </a:pPr>
            <a:r>
              <a:rPr lang="en-US" sz="1800" b="1">
                <a:solidFill>
                  <a:srgbClr val="4E84C4"/>
                </a:solidFill>
                <a:latin typeface="Calibri Light" pitchFamily="34" charset="0"/>
                <a:ea typeface="Calibri Light" pitchFamily="34" charset="-122"/>
                <a:cs typeface="Calibri Light" pitchFamily="34" charset="-120"/>
              </a:rPr>
              <a:t>tcs</a:t>
            </a:r>
            <a:endParaRPr lang="en-US" sz="1800"/>
          </a:p>
        </p:txBody>
      </p:sp>
    </p:spTree>
    <p:extLst>
      <p:ext uri="{BB962C8B-B14F-4D97-AF65-F5344CB8AC3E}">
        <p14:creationId xmlns:p14="http://schemas.microsoft.com/office/powerpoint/2010/main" val="2526689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1" cy="1"/>
          <a:chOff x="0" y="0"/>
          <a:chExt cx="1" cy="1"/>
        </a:xfrm>
      </p:grpSpPr>
      <p:sp>
        <p:nvSpPr>
          <p:cNvPr id="2" name="Text 0"/>
          <p:cNvSpPr/>
          <p:nvPr/>
        </p:nvSpPr>
        <p:spPr>
          <a:xfrm>
            <a:off x="658368" y="475488"/>
            <a:ext cx="5029200" cy="384048"/>
          </a:xfrm>
          <a:prstGeom prst="rect">
            <a:avLst/>
          </a:prstGeom>
          <a:noFill/>
          <a:ln/>
        </p:spPr>
        <p:txBody>
          <a:bodyPr wrap="square" lIns="0" tIns="0" rIns="0" bIns="0" rtlCol="0" anchor="ctr"/>
          <a:lstStyle/>
          <a:p>
            <a:pPr marL="0" indent="0">
              <a:buNone/>
            </a:pPr>
            <a:r>
              <a:rPr lang="en-US" sz="2500">
                <a:solidFill>
                  <a:srgbClr val="12233A"/>
                </a:solidFill>
                <a:latin typeface="Arial" pitchFamily="34" charset="0"/>
                <a:ea typeface="Arial" pitchFamily="34" charset="-122"/>
                <a:cs typeface="Arial" pitchFamily="34" charset="-120"/>
              </a:rPr>
              <a:t>Who has the problem?</a:t>
            </a:r>
            <a:endParaRPr lang="en-US" sz="2500"/>
          </a:p>
        </p:txBody>
      </p:sp>
      <p:sp>
        <p:nvSpPr>
          <p:cNvPr id="3" name="Text 1"/>
          <p:cNvSpPr/>
          <p:nvPr/>
        </p:nvSpPr>
        <p:spPr>
          <a:xfrm>
            <a:off x="676656" y="1005840"/>
            <a:ext cx="7863840" cy="256032"/>
          </a:xfrm>
          <a:prstGeom prst="rect">
            <a:avLst/>
          </a:prstGeom>
          <a:noFill/>
          <a:ln/>
        </p:spPr>
        <p:txBody>
          <a:bodyPr wrap="square" lIns="0" tIns="0" rIns="0" bIns="0" rtlCol="0" anchor="ctr"/>
          <a:lstStyle/>
          <a:p>
            <a:pPr marL="0" indent="0">
              <a:buNone/>
            </a:pPr>
            <a:r>
              <a:rPr lang="en-US" sz="1050">
                <a:solidFill>
                  <a:srgbClr val="667085"/>
                </a:solidFill>
                <a:latin typeface="Arial" pitchFamily="34" charset="0"/>
                <a:ea typeface="Arial" pitchFamily="34" charset="-122"/>
                <a:cs typeface="Arial" pitchFamily="34" charset="-120"/>
              </a:rPr>
              <a:t>The same unclear or inconsistent specification creates different problems at every stage of the SDLC.</a:t>
            </a:r>
            <a:endParaRPr lang="en-US" sz="1050"/>
          </a:p>
        </p:txBody>
      </p:sp>
      <p:sp>
        <p:nvSpPr>
          <p:cNvPr id="4" name="Text 2"/>
          <p:cNvSpPr/>
          <p:nvPr/>
        </p:nvSpPr>
        <p:spPr>
          <a:xfrm>
            <a:off x="868680" y="1444752"/>
            <a:ext cx="2011680" cy="201168"/>
          </a:xfrm>
          <a:prstGeom prst="rect">
            <a:avLst/>
          </a:prstGeom>
          <a:noFill/>
          <a:ln/>
        </p:spPr>
        <p:txBody>
          <a:bodyPr wrap="square" lIns="0" tIns="0" rIns="0" bIns="0" rtlCol="0" anchor="ctr"/>
          <a:lstStyle/>
          <a:p>
            <a:pPr marL="0" indent="0">
              <a:buNone/>
            </a:pPr>
            <a:r>
              <a:rPr lang="en-US" sz="850" b="1">
                <a:solidFill>
                  <a:srgbClr val="4E84C4"/>
                </a:solidFill>
                <a:latin typeface="Arial" pitchFamily="34" charset="0"/>
                <a:ea typeface="Arial" pitchFamily="34" charset="-122"/>
                <a:cs typeface="Arial" pitchFamily="34" charset="-120"/>
              </a:rPr>
              <a:t>STAKEHOLDER</a:t>
            </a:r>
            <a:endParaRPr lang="en-US" sz="850"/>
          </a:p>
        </p:txBody>
      </p:sp>
      <p:sp>
        <p:nvSpPr>
          <p:cNvPr id="5" name="Text 3"/>
          <p:cNvSpPr/>
          <p:nvPr/>
        </p:nvSpPr>
        <p:spPr>
          <a:xfrm>
            <a:off x="3273552" y="1444752"/>
            <a:ext cx="2286000" cy="201168"/>
          </a:xfrm>
          <a:prstGeom prst="rect">
            <a:avLst/>
          </a:prstGeom>
          <a:noFill/>
          <a:ln/>
        </p:spPr>
        <p:txBody>
          <a:bodyPr wrap="square" lIns="0" tIns="0" rIns="0" bIns="0" rtlCol="0" anchor="ctr"/>
          <a:lstStyle/>
          <a:p>
            <a:pPr marL="0" indent="0">
              <a:buNone/>
            </a:pPr>
            <a:r>
              <a:rPr lang="en-US" sz="850" b="1">
                <a:solidFill>
                  <a:srgbClr val="4E84C4"/>
                </a:solidFill>
                <a:latin typeface="Arial" pitchFamily="34" charset="0"/>
                <a:ea typeface="Arial" pitchFamily="34" charset="-122"/>
                <a:cs typeface="Arial" pitchFamily="34" charset="-120"/>
              </a:rPr>
              <a:t>PROBLEM EXPERIENCED</a:t>
            </a:r>
            <a:endParaRPr lang="en-US" sz="850"/>
          </a:p>
        </p:txBody>
      </p:sp>
      <p:sp>
        <p:nvSpPr>
          <p:cNvPr id="6" name="Text 4"/>
          <p:cNvSpPr/>
          <p:nvPr/>
        </p:nvSpPr>
        <p:spPr>
          <a:xfrm>
            <a:off x="6419088" y="1444752"/>
            <a:ext cx="2103120" cy="201168"/>
          </a:xfrm>
          <a:prstGeom prst="rect">
            <a:avLst/>
          </a:prstGeom>
          <a:noFill/>
          <a:ln/>
        </p:spPr>
        <p:txBody>
          <a:bodyPr wrap="square" lIns="0" tIns="0" rIns="0" bIns="0" rtlCol="0" anchor="ctr"/>
          <a:lstStyle/>
          <a:p>
            <a:pPr marL="0" indent="0">
              <a:buNone/>
            </a:pPr>
            <a:r>
              <a:rPr lang="en-US" sz="850" b="1">
                <a:solidFill>
                  <a:srgbClr val="4E84C4"/>
                </a:solidFill>
                <a:latin typeface="Arial" pitchFamily="34" charset="0"/>
                <a:ea typeface="Arial" pitchFamily="34" charset="-122"/>
                <a:cs typeface="Arial" pitchFamily="34" charset="-120"/>
              </a:rPr>
              <a:t>LEVEL OF IMPACT</a:t>
            </a:r>
            <a:endParaRPr lang="en-US" sz="850"/>
          </a:p>
        </p:txBody>
      </p:sp>
      <p:sp>
        <p:nvSpPr>
          <p:cNvPr id="7" name="Shape 5"/>
          <p:cNvSpPr/>
          <p:nvPr/>
        </p:nvSpPr>
        <p:spPr>
          <a:xfrm>
            <a:off x="731520" y="1700784"/>
            <a:ext cx="10469880" cy="950976"/>
          </a:xfrm>
          <a:prstGeom prst="roundRect">
            <a:avLst>
              <a:gd name="adj" fmla="val 5769"/>
            </a:avLst>
          </a:prstGeom>
          <a:solidFill>
            <a:srgbClr val="EAF2FB"/>
          </a:solidFill>
          <a:ln w="10160">
            <a:solidFill>
              <a:srgbClr val="C8D9ED"/>
            </a:solidFill>
            <a:prstDash val="solid"/>
          </a:ln>
          <a:effectLst>
            <a:outerShdw blurRad="12700" dist="5080" dir="2700000" algn="bl" rotWithShape="0">
              <a:srgbClr val="000000">
                <a:alpha val="9000"/>
              </a:srgbClr>
            </a:outerShdw>
          </a:effectLst>
        </p:spPr>
      </p:sp>
      <p:sp>
        <p:nvSpPr>
          <p:cNvPr id="8" name="Shape 6"/>
          <p:cNvSpPr/>
          <p:nvPr/>
        </p:nvSpPr>
        <p:spPr>
          <a:xfrm>
            <a:off x="877824" y="1847088"/>
            <a:ext cx="658368" cy="658368"/>
          </a:xfrm>
          <a:prstGeom prst="ellipse">
            <a:avLst/>
          </a:prstGeom>
          <a:solidFill>
            <a:srgbClr val="FFFFFF"/>
          </a:solidFill>
          <a:ln w="12700">
            <a:solidFill>
              <a:srgbClr val="D2DEEC"/>
            </a:solidFill>
            <a:prstDash val="solid"/>
          </a:ln>
        </p:spPr>
      </p:sp>
      <p:sp>
        <p:nvSpPr>
          <p:cNvPr id="10" name="Shape 7"/>
          <p:cNvSpPr/>
          <p:nvPr/>
        </p:nvSpPr>
        <p:spPr>
          <a:xfrm>
            <a:off x="1444752" y="1792224"/>
            <a:ext cx="274320" cy="274320"/>
          </a:xfrm>
          <a:prstGeom prst="ellipse">
            <a:avLst/>
          </a:prstGeom>
          <a:solidFill>
            <a:srgbClr val="4E84C4"/>
          </a:solidFill>
          <a:ln w="12700">
            <a:solidFill>
              <a:srgbClr val="4E84C4"/>
            </a:solidFill>
            <a:prstDash val="solid"/>
          </a:ln>
        </p:spPr>
      </p:sp>
      <p:sp>
        <p:nvSpPr>
          <p:cNvPr id="11" name="Text 8"/>
          <p:cNvSpPr/>
          <p:nvPr/>
        </p:nvSpPr>
        <p:spPr>
          <a:xfrm>
            <a:off x="1444752" y="1874520"/>
            <a:ext cx="274320" cy="91440"/>
          </a:xfrm>
          <a:prstGeom prst="rect">
            <a:avLst/>
          </a:prstGeom>
          <a:noFill/>
          <a:ln/>
        </p:spPr>
        <p:txBody>
          <a:bodyPr wrap="square" lIns="0" tIns="0" rIns="0" bIns="0" rtlCol="0" anchor="ctr"/>
          <a:lstStyle/>
          <a:p>
            <a:pPr marL="0" indent="0" algn="ctr">
              <a:buNone/>
            </a:pPr>
            <a:r>
              <a:rPr lang="en-US" sz="750" b="1">
                <a:solidFill>
                  <a:srgbClr val="FFFFFF"/>
                </a:solidFill>
              </a:rPr>
              <a:t>1</a:t>
            </a:r>
            <a:endParaRPr lang="en-US" sz="750"/>
          </a:p>
        </p:txBody>
      </p:sp>
      <p:sp>
        <p:nvSpPr>
          <p:cNvPr id="12" name="Text 9"/>
          <p:cNvSpPr/>
          <p:nvPr/>
        </p:nvSpPr>
        <p:spPr>
          <a:xfrm>
            <a:off x="1783080" y="1929384"/>
            <a:ext cx="1389888" cy="502920"/>
          </a:xfrm>
          <a:prstGeom prst="rect">
            <a:avLst/>
          </a:prstGeom>
          <a:noFill/>
          <a:ln/>
        </p:spPr>
        <p:txBody>
          <a:bodyPr wrap="square" lIns="0" tIns="0" rIns="0" bIns="0" rtlCol="0" anchor="ctr"/>
          <a:lstStyle/>
          <a:p>
            <a:pPr marL="0" indent="0">
              <a:buNone/>
            </a:pPr>
            <a:r>
              <a:rPr lang="en-US" sz="1400" b="1">
                <a:solidFill>
                  <a:srgbClr val="12233A"/>
                </a:solidFill>
                <a:latin typeface="Arial"/>
                <a:ea typeface="Arial" pitchFamily="34" charset="-122"/>
                <a:cs typeface="Arial"/>
              </a:rPr>
              <a:t>Business analysts</a:t>
            </a:r>
            <a:endParaRPr lang="en-US" sz="1400">
              <a:latin typeface="Arial"/>
              <a:ea typeface="Calibri Light"/>
              <a:cs typeface="Calibri Light"/>
            </a:endParaRPr>
          </a:p>
          <a:p>
            <a:pPr marL="0" indent="0">
              <a:buNone/>
            </a:pPr>
            <a:r>
              <a:rPr lang="en-US" sz="1400" b="1">
                <a:solidFill>
                  <a:srgbClr val="12233A"/>
                </a:solidFill>
                <a:latin typeface="Arial"/>
                <a:ea typeface="Arial" pitchFamily="34" charset="-122"/>
                <a:cs typeface="Arial"/>
              </a:rPr>
              <a:t>and product owners</a:t>
            </a:r>
            <a:endParaRPr lang="en-US" sz="1400">
              <a:latin typeface="Arial"/>
              <a:ea typeface="Calibri Light"/>
              <a:cs typeface="Calibri Light"/>
            </a:endParaRPr>
          </a:p>
        </p:txBody>
      </p:sp>
      <p:sp>
        <p:nvSpPr>
          <p:cNvPr id="13" name="Text 10"/>
          <p:cNvSpPr/>
          <p:nvPr/>
        </p:nvSpPr>
        <p:spPr>
          <a:xfrm>
            <a:off x="3273552" y="1984248"/>
            <a:ext cx="2788920" cy="402336"/>
          </a:xfrm>
          <a:prstGeom prst="rect">
            <a:avLst/>
          </a:prstGeom>
          <a:noFill/>
          <a:ln/>
        </p:spPr>
        <p:txBody>
          <a:bodyPr wrap="square" lIns="0" tIns="0" rIns="0" bIns="0" rtlCol="0" anchor="ctr"/>
          <a:lstStyle/>
          <a:p>
            <a:pPr marL="0" indent="0">
              <a:buNone/>
            </a:pPr>
            <a:r>
              <a:rPr lang="en-US" sz="1400">
                <a:solidFill>
                  <a:srgbClr val="667085"/>
                </a:solidFill>
                <a:latin typeface="Arial"/>
                <a:ea typeface="Arial" pitchFamily="34" charset="-122"/>
                <a:cs typeface="Arial"/>
              </a:rPr>
              <a:t>Requirements may not accurately represent</a:t>
            </a:r>
            <a:endParaRPr lang="en-US" sz="1400">
              <a:latin typeface="Arial"/>
              <a:ea typeface="Calibri Light"/>
              <a:cs typeface="Calibri Light"/>
            </a:endParaRPr>
          </a:p>
          <a:p>
            <a:pPr marL="0" indent="0">
              <a:buNone/>
            </a:pPr>
            <a:r>
              <a:rPr lang="en-US" sz="1400">
                <a:solidFill>
                  <a:srgbClr val="667085"/>
                </a:solidFill>
                <a:latin typeface="Arial"/>
                <a:ea typeface="Arial" pitchFamily="34" charset="-122"/>
                <a:cs typeface="Arial"/>
              </a:rPr>
              <a:t>the intended business behavior.</a:t>
            </a:r>
            <a:endParaRPr lang="en-US" sz="1400">
              <a:latin typeface="Arial"/>
              <a:ea typeface="Calibri Light"/>
              <a:cs typeface="Calibri Light"/>
            </a:endParaRPr>
          </a:p>
        </p:txBody>
      </p:sp>
      <p:sp>
        <p:nvSpPr>
          <p:cNvPr id="14" name="Shape 11"/>
          <p:cNvSpPr/>
          <p:nvPr/>
        </p:nvSpPr>
        <p:spPr>
          <a:xfrm>
            <a:off x="6464808" y="1865376"/>
            <a:ext cx="1517904" cy="274320"/>
          </a:xfrm>
          <a:prstGeom prst="roundRect">
            <a:avLst>
              <a:gd name="adj" fmla="val 13333"/>
            </a:avLst>
          </a:prstGeom>
          <a:solidFill>
            <a:srgbClr val="4E84C4"/>
          </a:solidFill>
          <a:ln w="12700">
            <a:solidFill>
              <a:srgbClr val="4E84C4"/>
            </a:solidFill>
            <a:prstDash val="solid"/>
          </a:ln>
        </p:spPr>
      </p:sp>
      <p:sp>
        <p:nvSpPr>
          <p:cNvPr id="16" name="Text 13"/>
          <p:cNvSpPr/>
          <p:nvPr/>
        </p:nvSpPr>
        <p:spPr>
          <a:xfrm>
            <a:off x="6473952" y="2258568"/>
            <a:ext cx="4160520" cy="219456"/>
          </a:xfrm>
          <a:prstGeom prst="rect">
            <a:avLst/>
          </a:prstGeom>
          <a:noFill/>
          <a:ln/>
        </p:spPr>
        <p:txBody>
          <a:bodyPr wrap="square" lIns="0" tIns="0" rIns="0" bIns="0" rtlCol="0" anchor="ctr">
            <a:normAutofit/>
          </a:bodyPr>
          <a:lstStyle/>
          <a:p>
            <a:pPr marL="0" indent="0">
              <a:buNone/>
            </a:pPr>
            <a:r>
              <a:rPr lang="en-US" sz="1050" b="1">
                <a:solidFill>
                  <a:srgbClr val="12233A"/>
                </a:solidFill>
                <a:latin typeface="Arial" pitchFamily="34" charset="0"/>
                <a:ea typeface="Arial" pitchFamily="34" charset="-122"/>
                <a:cs typeface="Arial" pitchFamily="34" charset="-120"/>
              </a:rPr>
              <a:t>Incorrect scope and disputed acceptance criteria</a:t>
            </a:r>
            <a:endParaRPr lang="en-US" sz="1050"/>
          </a:p>
        </p:txBody>
      </p:sp>
      <p:sp>
        <p:nvSpPr>
          <p:cNvPr id="17" name="Shape 14"/>
          <p:cNvSpPr/>
          <p:nvPr/>
        </p:nvSpPr>
        <p:spPr>
          <a:xfrm>
            <a:off x="731520" y="2889504"/>
            <a:ext cx="10469880" cy="950976"/>
          </a:xfrm>
          <a:prstGeom prst="roundRect">
            <a:avLst>
              <a:gd name="adj" fmla="val 5769"/>
            </a:avLst>
          </a:prstGeom>
          <a:solidFill>
            <a:srgbClr val="F5F8FC"/>
          </a:solidFill>
          <a:ln w="10160">
            <a:solidFill>
              <a:srgbClr val="C8D9ED"/>
            </a:solidFill>
            <a:prstDash val="solid"/>
          </a:ln>
          <a:effectLst>
            <a:outerShdw blurRad="12700" dist="5080" dir="2700000" algn="bl" rotWithShape="0">
              <a:srgbClr val="000000">
                <a:alpha val="9000"/>
              </a:srgbClr>
            </a:outerShdw>
          </a:effectLst>
        </p:spPr>
      </p:sp>
      <p:sp>
        <p:nvSpPr>
          <p:cNvPr id="18" name="Shape 15"/>
          <p:cNvSpPr/>
          <p:nvPr/>
        </p:nvSpPr>
        <p:spPr>
          <a:xfrm>
            <a:off x="877824" y="3035808"/>
            <a:ext cx="658368" cy="658368"/>
          </a:xfrm>
          <a:prstGeom prst="ellipse">
            <a:avLst/>
          </a:prstGeom>
          <a:solidFill>
            <a:srgbClr val="FFFFFF"/>
          </a:solidFill>
          <a:ln w="12700">
            <a:solidFill>
              <a:srgbClr val="D2DEEC"/>
            </a:solidFill>
            <a:prstDash val="solid"/>
          </a:ln>
        </p:spPr>
      </p:sp>
      <p:sp>
        <p:nvSpPr>
          <p:cNvPr id="20" name="Shape 16"/>
          <p:cNvSpPr/>
          <p:nvPr/>
        </p:nvSpPr>
        <p:spPr>
          <a:xfrm>
            <a:off x="1444752" y="2980944"/>
            <a:ext cx="274320" cy="274320"/>
          </a:xfrm>
          <a:prstGeom prst="ellipse">
            <a:avLst/>
          </a:prstGeom>
          <a:solidFill>
            <a:srgbClr val="FFAA22"/>
          </a:solidFill>
          <a:ln w="12700">
            <a:solidFill>
              <a:srgbClr val="FFAA22"/>
            </a:solidFill>
            <a:prstDash val="solid"/>
          </a:ln>
        </p:spPr>
      </p:sp>
      <p:sp>
        <p:nvSpPr>
          <p:cNvPr id="21" name="Text 17"/>
          <p:cNvSpPr/>
          <p:nvPr/>
        </p:nvSpPr>
        <p:spPr>
          <a:xfrm>
            <a:off x="1444752" y="3063240"/>
            <a:ext cx="274320" cy="91440"/>
          </a:xfrm>
          <a:prstGeom prst="rect">
            <a:avLst/>
          </a:prstGeom>
          <a:noFill/>
          <a:ln/>
        </p:spPr>
        <p:txBody>
          <a:bodyPr wrap="square" lIns="0" tIns="0" rIns="0" bIns="0" rtlCol="0" anchor="ctr"/>
          <a:lstStyle/>
          <a:p>
            <a:pPr marL="0" indent="0" algn="ctr">
              <a:buNone/>
            </a:pPr>
            <a:r>
              <a:rPr lang="en-US" sz="750" b="1">
                <a:solidFill>
                  <a:srgbClr val="FFFFFF"/>
                </a:solidFill>
              </a:rPr>
              <a:t>2</a:t>
            </a:r>
            <a:endParaRPr lang="en-US" sz="750"/>
          </a:p>
        </p:txBody>
      </p:sp>
      <p:sp>
        <p:nvSpPr>
          <p:cNvPr id="22" name="Text 18"/>
          <p:cNvSpPr/>
          <p:nvPr/>
        </p:nvSpPr>
        <p:spPr>
          <a:xfrm>
            <a:off x="1783080" y="3118104"/>
            <a:ext cx="1389888" cy="502920"/>
          </a:xfrm>
          <a:prstGeom prst="rect">
            <a:avLst/>
          </a:prstGeom>
          <a:noFill/>
          <a:ln/>
        </p:spPr>
        <p:txBody>
          <a:bodyPr wrap="square" lIns="0" tIns="0" rIns="0" bIns="0" rtlCol="0" anchor="ctr"/>
          <a:lstStyle/>
          <a:p>
            <a:pPr marL="0" indent="0">
              <a:buNone/>
            </a:pPr>
            <a:r>
              <a:rPr lang="en-US" sz="1150" b="1">
                <a:solidFill>
                  <a:srgbClr val="12233A"/>
                </a:solidFill>
                <a:latin typeface="Arial" pitchFamily="34" charset="0"/>
                <a:ea typeface="Arial" pitchFamily="34" charset="-122"/>
                <a:cs typeface="Arial" pitchFamily="34" charset="-120"/>
              </a:rPr>
              <a:t>Architects</a:t>
            </a:r>
            <a:endParaRPr lang="en-US" sz="1150"/>
          </a:p>
        </p:txBody>
      </p:sp>
      <p:sp>
        <p:nvSpPr>
          <p:cNvPr id="23" name="Text 19"/>
          <p:cNvSpPr/>
          <p:nvPr/>
        </p:nvSpPr>
        <p:spPr>
          <a:xfrm>
            <a:off x="3273552" y="3172968"/>
            <a:ext cx="2788920" cy="402336"/>
          </a:xfrm>
          <a:prstGeom prst="rect">
            <a:avLst/>
          </a:prstGeom>
          <a:noFill/>
          <a:ln/>
        </p:spPr>
        <p:txBody>
          <a:bodyPr wrap="square" lIns="0" tIns="0" rIns="0" bIns="0" rtlCol="0" anchor="ctr"/>
          <a:lstStyle/>
          <a:p>
            <a:pPr marL="0" indent="0">
              <a:buNone/>
            </a:pPr>
            <a:r>
              <a:rPr lang="en-US" sz="940">
                <a:solidFill>
                  <a:srgbClr val="667085"/>
                </a:solidFill>
                <a:latin typeface="Arial" pitchFamily="34" charset="0"/>
                <a:ea typeface="Arial" pitchFamily="34" charset="-122"/>
                <a:cs typeface="Arial" pitchFamily="34" charset="-120"/>
              </a:rPr>
              <a:t>Conflicting constraints can produce</a:t>
            </a:r>
            <a:endParaRPr lang="en-US" sz="940"/>
          </a:p>
          <a:p>
            <a:pPr marL="0" indent="0">
              <a:buNone/>
            </a:pPr>
            <a:r>
              <a:rPr lang="en-US" sz="940">
                <a:solidFill>
                  <a:srgbClr val="667085"/>
                </a:solidFill>
                <a:latin typeface="Arial" pitchFamily="34" charset="0"/>
                <a:ea typeface="Arial" pitchFamily="34" charset="-122"/>
                <a:cs typeface="Arial" pitchFamily="34" charset="-120"/>
              </a:rPr>
              <a:t>incompatible design decisions.</a:t>
            </a:r>
            <a:endParaRPr lang="en-US" sz="940"/>
          </a:p>
        </p:txBody>
      </p:sp>
      <p:sp>
        <p:nvSpPr>
          <p:cNvPr id="24" name="Shape 20"/>
          <p:cNvSpPr/>
          <p:nvPr/>
        </p:nvSpPr>
        <p:spPr>
          <a:xfrm>
            <a:off x="6464808" y="3054096"/>
            <a:ext cx="1517904" cy="274320"/>
          </a:xfrm>
          <a:prstGeom prst="roundRect">
            <a:avLst>
              <a:gd name="adj" fmla="val 13333"/>
            </a:avLst>
          </a:prstGeom>
          <a:solidFill>
            <a:srgbClr val="FFAA22"/>
          </a:solidFill>
          <a:ln w="12700">
            <a:solidFill>
              <a:srgbClr val="FFAA22"/>
            </a:solidFill>
            <a:prstDash val="solid"/>
          </a:ln>
        </p:spPr>
      </p:sp>
      <p:sp>
        <p:nvSpPr>
          <p:cNvPr id="25" name="Text 21"/>
          <p:cNvSpPr/>
          <p:nvPr/>
        </p:nvSpPr>
        <p:spPr>
          <a:xfrm>
            <a:off x="6464808" y="3136392"/>
            <a:ext cx="1517904" cy="82296"/>
          </a:xfrm>
          <a:prstGeom prst="rect">
            <a:avLst/>
          </a:prstGeom>
          <a:noFill/>
          <a:ln/>
        </p:spPr>
        <p:txBody>
          <a:bodyPr wrap="square" lIns="0" tIns="0" rIns="0" bIns="0" rtlCol="0" anchor="ctr">
            <a:normAutofit/>
          </a:bodyPr>
          <a:lstStyle/>
          <a:p>
            <a:pPr marL="0" indent="0" algn="ctr">
              <a:buNone/>
            </a:pPr>
            <a:r>
              <a:rPr lang="en-US" sz="620" b="1">
                <a:solidFill>
                  <a:srgbClr val="FFFFFF"/>
                </a:solidFill>
                <a:latin typeface="Arial" pitchFamily="34" charset="0"/>
                <a:ea typeface="Arial" pitchFamily="34" charset="-122"/>
                <a:cs typeface="Arial" pitchFamily="34" charset="-120"/>
              </a:rPr>
              <a:t>DESIGN IMPACT</a:t>
            </a:r>
            <a:endParaRPr lang="en-US" sz="620"/>
          </a:p>
        </p:txBody>
      </p:sp>
      <p:sp>
        <p:nvSpPr>
          <p:cNvPr id="26" name="Text 22"/>
          <p:cNvSpPr/>
          <p:nvPr/>
        </p:nvSpPr>
        <p:spPr>
          <a:xfrm>
            <a:off x="6473952" y="3447288"/>
            <a:ext cx="4160520" cy="219456"/>
          </a:xfrm>
          <a:prstGeom prst="rect">
            <a:avLst/>
          </a:prstGeom>
          <a:noFill/>
          <a:ln/>
        </p:spPr>
        <p:txBody>
          <a:bodyPr wrap="square" lIns="0" tIns="0" rIns="0" bIns="0" rtlCol="0" anchor="ctr">
            <a:normAutofit/>
          </a:bodyPr>
          <a:lstStyle/>
          <a:p>
            <a:pPr marL="0" indent="0">
              <a:buNone/>
            </a:pPr>
            <a:r>
              <a:rPr lang="en-US" sz="1050" b="1">
                <a:solidFill>
                  <a:srgbClr val="E8473F"/>
                </a:solidFill>
                <a:latin typeface="Arial" pitchFamily="34" charset="0"/>
                <a:ea typeface="Arial" pitchFamily="34" charset="-122"/>
                <a:cs typeface="Arial" pitchFamily="34" charset="-120"/>
              </a:rPr>
              <a:t>Unstable architecture and redesign</a:t>
            </a:r>
            <a:endParaRPr lang="en-US" sz="1050"/>
          </a:p>
        </p:txBody>
      </p:sp>
      <p:sp>
        <p:nvSpPr>
          <p:cNvPr id="27" name="Shape 23"/>
          <p:cNvSpPr/>
          <p:nvPr/>
        </p:nvSpPr>
        <p:spPr>
          <a:xfrm>
            <a:off x="731520" y="4078224"/>
            <a:ext cx="10469880" cy="950976"/>
          </a:xfrm>
          <a:prstGeom prst="roundRect">
            <a:avLst>
              <a:gd name="adj" fmla="val 5769"/>
            </a:avLst>
          </a:prstGeom>
          <a:solidFill>
            <a:srgbClr val="EAF2FB"/>
          </a:solidFill>
          <a:ln w="10160">
            <a:solidFill>
              <a:srgbClr val="C8D9ED"/>
            </a:solidFill>
            <a:prstDash val="solid"/>
          </a:ln>
          <a:effectLst>
            <a:outerShdw blurRad="12700" dist="5080" dir="2700000" algn="bl" rotWithShape="0">
              <a:srgbClr val="000000">
                <a:alpha val="9000"/>
              </a:srgbClr>
            </a:outerShdw>
          </a:effectLst>
        </p:spPr>
      </p:sp>
      <p:sp>
        <p:nvSpPr>
          <p:cNvPr id="28" name="Shape 24"/>
          <p:cNvSpPr/>
          <p:nvPr/>
        </p:nvSpPr>
        <p:spPr>
          <a:xfrm>
            <a:off x="877824" y="4224528"/>
            <a:ext cx="658368" cy="658368"/>
          </a:xfrm>
          <a:prstGeom prst="ellipse">
            <a:avLst/>
          </a:prstGeom>
          <a:solidFill>
            <a:srgbClr val="FFFFFF"/>
          </a:solidFill>
          <a:ln w="12700">
            <a:solidFill>
              <a:srgbClr val="D2DEEC"/>
            </a:solidFill>
            <a:prstDash val="solid"/>
          </a:ln>
        </p:spPr>
      </p:sp>
      <p:sp>
        <p:nvSpPr>
          <p:cNvPr id="30" name="Shape 25"/>
          <p:cNvSpPr/>
          <p:nvPr/>
        </p:nvSpPr>
        <p:spPr>
          <a:xfrm>
            <a:off x="1444752" y="4169664"/>
            <a:ext cx="274320" cy="274320"/>
          </a:xfrm>
          <a:prstGeom prst="ellipse">
            <a:avLst/>
          </a:prstGeom>
          <a:solidFill>
            <a:srgbClr val="4E84C4"/>
          </a:solidFill>
          <a:ln w="12700">
            <a:solidFill>
              <a:srgbClr val="4E84C4"/>
            </a:solidFill>
            <a:prstDash val="solid"/>
          </a:ln>
        </p:spPr>
      </p:sp>
      <p:sp>
        <p:nvSpPr>
          <p:cNvPr id="31" name="Text 26"/>
          <p:cNvSpPr/>
          <p:nvPr/>
        </p:nvSpPr>
        <p:spPr>
          <a:xfrm>
            <a:off x="1444752" y="4251960"/>
            <a:ext cx="274320" cy="91440"/>
          </a:xfrm>
          <a:prstGeom prst="rect">
            <a:avLst/>
          </a:prstGeom>
          <a:noFill/>
          <a:ln/>
        </p:spPr>
        <p:txBody>
          <a:bodyPr wrap="square" lIns="0" tIns="0" rIns="0" bIns="0" rtlCol="0" anchor="ctr"/>
          <a:lstStyle/>
          <a:p>
            <a:pPr marL="0" indent="0" algn="ctr">
              <a:buNone/>
            </a:pPr>
            <a:r>
              <a:rPr lang="en-US" sz="750" b="1">
                <a:solidFill>
                  <a:srgbClr val="FFFFFF"/>
                </a:solidFill>
              </a:rPr>
              <a:t>3</a:t>
            </a:r>
            <a:endParaRPr lang="en-US" sz="750"/>
          </a:p>
        </p:txBody>
      </p:sp>
      <p:sp>
        <p:nvSpPr>
          <p:cNvPr id="32" name="Text 27"/>
          <p:cNvSpPr/>
          <p:nvPr/>
        </p:nvSpPr>
        <p:spPr>
          <a:xfrm>
            <a:off x="1783080" y="4306824"/>
            <a:ext cx="1389888" cy="502920"/>
          </a:xfrm>
          <a:prstGeom prst="rect">
            <a:avLst/>
          </a:prstGeom>
          <a:noFill/>
          <a:ln/>
        </p:spPr>
        <p:txBody>
          <a:bodyPr wrap="square" lIns="0" tIns="0" rIns="0" bIns="0" rtlCol="0" anchor="ctr"/>
          <a:lstStyle/>
          <a:p>
            <a:pPr marL="0" indent="0">
              <a:buNone/>
            </a:pPr>
            <a:r>
              <a:rPr lang="en-US" sz="1150" b="1">
                <a:solidFill>
                  <a:srgbClr val="12233A"/>
                </a:solidFill>
                <a:latin typeface="Arial" pitchFamily="34" charset="0"/>
                <a:ea typeface="Arial" pitchFamily="34" charset="-122"/>
                <a:cs typeface="Arial" pitchFamily="34" charset="-120"/>
              </a:rPr>
              <a:t>Developers and</a:t>
            </a:r>
            <a:endParaRPr lang="en-US" sz="1150"/>
          </a:p>
          <a:p>
            <a:pPr marL="0" indent="0">
              <a:buNone/>
            </a:pPr>
            <a:r>
              <a:rPr lang="en-US" sz="1150" b="1">
                <a:solidFill>
                  <a:srgbClr val="12233A"/>
                </a:solidFill>
                <a:latin typeface="Arial" pitchFamily="34" charset="0"/>
                <a:ea typeface="Arial" pitchFamily="34" charset="-122"/>
                <a:cs typeface="Arial" pitchFamily="34" charset="-120"/>
              </a:rPr>
              <a:t>AI coding agents</a:t>
            </a:r>
            <a:endParaRPr lang="en-US" sz="1150"/>
          </a:p>
        </p:txBody>
      </p:sp>
      <p:sp>
        <p:nvSpPr>
          <p:cNvPr id="33" name="Text 28"/>
          <p:cNvSpPr/>
          <p:nvPr/>
        </p:nvSpPr>
        <p:spPr>
          <a:xfrm>
            <a:off x="3273552" y="4361688"/>
            <a:ext cx="2788920" cy="402336"/>
          </a:xfrm>
          <a:prstGeom prst="rect">
            <a:avLst/>
          </a:prstGeom>
          <a:noFill/>
          <a:ln/>
        </p:spPr>
        <p:txBody>
          <a:bodyPr wrap="square" lIns="0" tIns="0" rIns="0" bIns="0" rtlCol="0" anchor="ctr"/>
          <a:lstStyle/>
          <a:p>
            <a:pPr marL="0" indent="0">
              <a:buNone/>
            </a:pPr>
            <a:r>
              <a:rPr lang="en-US" sz="940">
                <a:solidFill>
                  <a:srgbClr val="667085"/>
                </a:solidFill>
                <a:latin typeface="Arial" pitchFamily="34" charset="0"/>
                <a:ea typeface="Arial" pitchFamily="34" charset="-122"/>
                <a:cs typeface="Arial" pitchFamily="34" charset="-120"/>
              </a:rPr>
              <a:t>The implementation must choose between</a:t>
            </a:r>
            <a:endParaRPr lang="en-US" sz="940"/>
          </a:p>
          <a:p>
            <a:pPr marL="0" indent="0">
              <a:buNone/>
            </a:pPr>
            <a:r>
              <a:rPr lang="en-US" sz="940">
                <a:solidFill>
                  <a:srgbClr val="667085"/>
                </a:solidFill>
                <a:latin typeface="Arial" pitchFamily="34" charset="0"/>
                <a:ea typeface="Arial" pitchFamily="34" charset="-122"/>
                <a:cs typeface="Arial" pitchFamily="34" charset="-120"/>
              </a:rPr>
              <a:t>multiple plausible interpretations.</a:t>
            </a:r>
            <a:endParaRPr lang="en-US" sz="940"/>
          </a:p>
        </p:txBody>
      </p:sp>
      <p:sp>
        <p:nvSpPr>
          <p:cNvPr id="34" name="Shape 29"/>
          <p:cNvSpPr/>
          <p:nvPr/>
        </p:nvSpPr>
        <p:spPr>
          <a:xfrm>
            <a:off x="6464808" y="4242816"/>
            <a:ext cx="1517904" cy="274320"/>
          </a:xfrm>
          <a:prstGeom prst="roundRect">
            <a:avLst>
              <a:gd name="adj" fmla="val 13333"/>
            </a:avLst>
          </a:prstGeom>
          <a:solidFill>
            <a:srgbClr val="4E84C4"/>
          </a:solidFill>
          <a:ln w="12700">
            <a:solidFill>
              <a:srgbClr val="4E84C4"/>
            </a:solidFill>
            <a:prstDash val="solid"/>
          </a:ln>
        </p:spPr>
      </p:sp>
      <p:sp>
        <p:nvSpPr>
          <p:cNvPr id="35" name="Text 30"/>
          <p:cNvSpPr/>
          <p:nvPr/>
        </p:nvSpPr>
        <p:spPr>
          <a:xfrm>
            <a:off x="6464808" y="4325112"/>
            <a:ext cx="1517904" cy="82296"/>
          </a:xfrm>
          <a:prstGeom prst="rect">
            <a:avLst/>
          </a:prstGeom>
          <a:noFill/>
          <a:ln/>
        </p:spPr>
        <p:txBody>
          <a:bodyPr wrap="square" lIns="0" tIns="0" rIns="0" bIns="0" rtlCol="0" anchor="ctr">
            <a:normAutofit/>
          </a:bodyPr>
          <a:lstStyle/>
          <a:p>
            <a:pPr marL="0" indent="0" algn="ctr">
              <a:buNone/>
            </a:pPr>
            <a:r>
              <a:rPr lang="en-US" sz="620" b="1">
                <a:solidFill>
                  <a:srgbClr val="FFFFFF"/>
                </a:solidFill>
                <a:latin typeface="Arial" pitchFamily="34" charset="0"/>
                <a:ea typeface="Arial" pitchFamily="34" charset="-122"/>
                <a:cs typeface="Arial" pitchFamily="34" charset="-120"/>
              </a:rPr>
              <a:t>IMPLEMENTATION IMPACT</a:t>
            </a:r>
            <a:endParaRPr lang="en-US" sz="620"/>
          </a:p>
        </p:txBody>
      </p:sp>
      <p:sp>
        <p:nvSpPr>
          <p:cNvPr id="36" name="Text 31"/>
          <p:cNvSpPr/>
          <p:nvPr/>
        </p:nvSpPr>
        <p:spPr>
          <a:xfrm>
            <a:off x="6473952" y="4636008"/>
            <a:ext cx="4160520" cy="219456"/>
          </a:xfrm>
          <a:prstGeom prst="rect">
            <a:avLst/>
          </a:prstGeom>
          <a:noFill/>
          <a:ln/>
        </p:spPr>
        <p:txBody>
          <a:bodyPr wrap="square" lIns="0" tIns="0" rIns="0" bIns="0" rtlCol="0" anchor="ctr">
            <a:normAutofit/>
          </a:bodyPr>
          <a:lstStyle/>
          <a:p>
            <a:pPr marL="0" indent="0">
              <a:buNone/>
            </a:pPr>
            <a:r>
              <a:rPr lang="en-US" sz="1050" b="1">
                <a:solidFill>
                  <a:srgbClr val="12233A"/>
                </a:solidFill>
                <a:latin typeface="Arial" pitchFamily="34" charset="0"/>
                <a:ea typeface="Arial" pitchFamily="34" charset="-122"/>
                <a:cs typeface="Arial" pitchFamily="34" charset="-120"/>
              </a:rPr>
              <a:t>Inconsistent or incorrect behavior</a:t>
            </a:r>
            <a:endParaRPr lang="en-US" sz="1050"/>
          </a:p>
        </p:txBody>
      </p:sp>
      <p:sp>
        <p:nvSpPr>
          <p:cNvPr id="37" name="Shape 32"/>
          <p:cNvSpPr/>
          <p:nvPr/>
        </p:nvSpPr>
        <p:spPr>
          <a:xfrm>
            <a:off x="731520" y="5413248"/>
            <a:ext cx="10469880" cy="621792"/>
          </a:xfrm>
          <a:prstGeom prst="roundRect">
            <a:avLst>
              <a:gd name="adj" fmla="val 5882"/>
            </a:avLst>
          </a:prstGeom>
          <a:solidFill>
            <a:srgbClr val="122A48"/>
          </a:solidFill>
          <a:ln w="12700">
            <a:solidFill>
              <a:srgbClr val="122A48"/>
            </a:solidFill>
            <a:prstDash val="solid"/>
          </a:ln>
        </p:spPr>
      </p:sp>
      <p:sp>
        <p:nvSpPr>
          <p:cNvPr id="38" name="Shape 33"/>
          <p:cNvSpPr/>
          <p:nvPr/>
        </p:nvSpPr>
        <p:spPr>
          <a:xfrm>
            <a:off x="731520" y="5413248"/>
            <a:ext cx="100584" cy="621792"/>
          </a:xfrm>
          <a:prstGeom prst="rect">
            <a:avLst/>
          </a:prstGeom>
          <a:solidFill>
            <a:srgbClr val="FFAA22"/>
          </a:solidFill>
          <a:ln w="12700">
            <a:solidFill>
              <a:srgbClr val="FFAA22"/>
            </a:solidFill>
            <a:prstDash val="solid"/>
          </a:ln>
        </p:spPr>
      </p:sp>
      <p:sp>
        <p:nvSpPr>
          <p:cNvPr id="39" name="Text 34"/>
          <p:cNvSpPr/>
          <p:nvPr/>
        </p:nvSpPr>
        <p:spPr>
          <a:xfrm>
            <a:off x="1005840" y="5614416"/>
            <a:ext cx="9784080" cy="201168"/>
          </a:xfrm>
          <a:prstGeom prst="rect">
            <a:avLst/>
          </a:prstGeom>
          <a:noFill/>
          <a:ln/>
        </p:spPr>
        <p:txBody>
          <a:bodyPr wrap="square" lIns="0" tIns="0" rIns="0" bIns="0" rtlCol="0" anchor="ctr">
            <a:normAutofit/>
          </a:bodyPr>
          <a:lstStyle/>
          <a:p>
            <a:pPr marL="0" indent="0" algn="ctr">
              <a:buNone/>
            </a:pPr>
            <a:r>
              <a:rPr lang="en-US" sz="1250" b="1">
                <a:solidFill>
                  <a:srgbClr val="FFFFFF"/>
                </a:solidFill>
                <a:latin typeface="Arial" pitchFamily="34" charset="0"/>
                <a:ea typeface="Arial" pitchFamily="34" charset="-122"/>
                <a:cs typeface="Arial" pitchFamily="34" charset="-120"/>
              </a:rPr>
              <a:t>The defect begins in the requirements, but the impact is distributed across the entire delivery lifecycle.</a:t>
            </a:r>
            <a:endParaRPr lang="en-US" sz="1250"/>
          </a:p>
        </p:txBody>
      </p:sp>
      <p:sp>
        <p:nvSpPr>
          <p:cNvPr id="40" name="Slide Number Placeholder 0"/>
          <p:cNvSpPr>
            <a:spLocks noGrp="1"/>
          </p:cNvSpPr>
          <p:nvPr>
            <p:ph type="sldNum" sz="quarter" idx="4294967295"/>
          </p:nvPr>
        </p:nvSpPr>
        <p:spPr>
          <a:xfrm>
            <a:off x="11750040"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67085"/>
                </a:solidFill>
                <a:latin typeface="Arial"/>
                <a:ea typeface="Arial"/>
                <a:cs typeface="Arial"/>
              </a:defRPr>
            </a:lvl1pPr>
          </a:lstStyle>
          <a:p>
            <a:pPr algn="l"/>
            <a:fld id="{F7021451-1387-4CA6-816F-3879F97B5CBC}" type="slidenum">
              <a:rPr lang="en-US" b="0"/>
              <a:t>8</a:t>
            </a:fld>
            <a:endParaRPr lang="en-US"/>
          </a:p>
        </p:txBody>
      </p:sp>
      <p:pic>
        <p:nvPicPr>
          <p:cNvPr id="41" name="Picture 40">
            <a:extLst>
              <a:ext uri="{FF2B5EF4-FFF2-40B4-BE49-F238E27FC236}">
                <a16:creationId xmlns:a16="http://schemas.microsoft.com/office/drawing/2014/main" id="{A785D5C4-4F89-6BED-4846-63873D475929}"/>
              </a:ext>
            </a:extLst>
          </p:cNvPr>
          <p:cNvPicPr>
            <a:picLocks noChangeAspect="1"/>
          </p:cNvPicPr>
          <p:nvPr/>
        </p:nvPicPr>
        <p:blipFill>
          <a:blip r:embed="rId3"/>
          <a:stretch>
            <a:fillRect/>
          </a:stretch>
        </p:blipFill>
        <p:spPr>
          <a:xfrm>
            <a:off x="1005068" y="1926219"/>
            <a:ext cx="439839" cy="497713"/>
          </a:xfrm>
          <a:prstGeom prst="rect">
            <a:avLst/>
          </a:prstGeom>
        </p:spPr>
      </p:pic>
      <p:pic>
        <p:nvPicPr>
          <p:cNvPr id="42" name="Picture 41">
            <a:extLst>
              <a:ext uri="{FF2B5EF4-FFF2-40B4-BE49-F238E27FC236}">
                <a16:creationId xmlns:a16="http://schemas.microsoft.com/office/drawing/2014/main" id="{9B8C6B43-560D-FE0A-56EF-72D1AE2809AF}"/>
              </a:ext>
            </a:extLst>
          </p:cNvPr>
          <p:cNvPicPr>
            <a:picLocks noChangeAspect="1"/>
          </p:cNvPicPr>
          <p:nvPr/>
        </p:nvPicPr>
        <p:blipFill>
          <a:blip r:embed="rId4"/>
          <a:stretch>
            <a:fillRect/>
          </a:stretch>
        </p:blipFill>
        <p:spPr>
          <a:xfrm>
            <a:off x="997545" y="3067291"/>
            <a:ext cx="493468" cy="511216"/>
          </a:xfrm>
          <a:prstGeom prst="rect">
            <a:avLst/>
          </a:prstGeom>
        </p:spPr>
      </p:pic>
      <p:pic>
        <p:nvPicPr>
          <p:cNvPr id="43" name="Picture 42">
            <a:extLst>
              <a:ext uri="{FF2B5EF4-FFF2-40B4-BE49-F238E27FC236}">
                <a16:creationId xmlns:a16="http://schemas.microsoft.com/office/drawing/2014/main" id="{B1C8142F-AE55-83AB-F544-BC8AFE4497A1}"/>
              </a:ext>
            </a:extLst>
          </p:cNvPr>
          <p:cNvPicPr>
            <a:picLocks noChangeAspect="1"/>
          </p:cNvPicPr>
          <p:nvPr/>
        </p:nvPicPr>
        <p:blipFill>
          <a:blip r:embed="rId5"/>
          <a:stretch>
            <a:fillRect/>
          </a:stretch>
        </p:blipFill>
        <p:spPr>
          <a:xfrm>
            <a:off x="993493" y="4340507"/>
            <a:ext cx="424408" cy="424407"/>
          </a:xfrm>
          <a:prstGeom prst="rect">
            <a:avLst/>
          </a:prstGeom>
        </p:spPr>
      </p:pic>
      <p:sp>
        <p:nvSpPr>
          <p:cNvPr id="15" name="Freeform 2">
            <a:extLst>
              <a:ext uri="{FF2B5EF4-FFF2-40B4-BE49-F238E27FC236}">
                <a16:creationId xmlns:a16="http://schemas.microsoft.com/office/drawing/2014/main" id="{C7F6FF5F-D703-3457-5612-0802A9B128B5}"/>
              </a:ext>
            </a:extLst>
          </p:cNvPr>
          <p:cNvSpPr/>
          <p:nvPr/>
        </p:nvSpPr>
        <p:spPr>
          <a:xfrm>
            <a:off x="5142104" y="6380991"/>
            <a:ext cx="1903592" cy="476247"/>
          </a:xfrm>
          <a:custGeom>
            <a:avLst/>
            <a:gdLst/>
            <a:ahLst/>
            <a:cxnLst/>
            <a:rect l="l" t="t" r="r" b="b"/>
            <a:pathLst>
              <a:path w="2855388" h="714371">
                <a:moveTo>
                  <a:pt x="0" y="0"/>
                </a:moveTo>
                <a:lnTo>
                  <a:pt x="2855388" y="0"/>
                </a:lnTo>
                <a:lnTo>
                  <a:pt x="2855388" y="714371"/>
                </a:lnTo>
                <a:lnTo>
                  <a:pt x="0" y="714371"/>
                </a:lnTo>
                <a:lnTo>
                  <a:pt x="0" y="0"/>
                </a:lnTo>
                <a:close/>
              </a:path>
            </a:pathLst>
          </a:custGeom>
          <a:blipFill>
            <a:blip r:embed="rId6"/>
            <a:stretch>
              <a:fillRect t="-1162" b="-1162"/>
            </a:stretch>
          </a:blipFill>
        </p:spPr>
      </p:sp>
    </p:spTree>
    <p:extLst>
      <p:ext uri="{BB962C8B-B14F-4D97-AF65-F5344CB8AC3E}">
        <p14:creationId xmlns:p14="http://schemas.microsoft.com/office/powerpoint/2010/main" val="721925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p:nvPr/>
        </p:nvSpPr>
        <p:spPr>
          <a:xfrm>
            <a:off x="475488" y="320040"/>
            <a:ext cx="11064240" cy="502920"/>
          </a:xfrm>
          <a:prstGeom prst="rect">
            <a:avLst/>
          </a:prstGeom>
          <a:noFill/>
          <a:ln/>
        </p:spPr>
        <p:txBody>
          <a:bodyPr wrap="square" lIns="0" tIns="0" rIns="0" bIns="0" rtlCol="0" anchor="ctr"/>
          <a:lstStyle/>
          <a:p>
            <a:pPr marL="0" indent="0">
              <a:buNone/>
            </a:pPr>
            <a:r>
              <a:rPr lang="en-US" sz="2600" b="1">
                <a:solidFill>
                  <a:srgbClr val="111827"/>
                </a:solidFill>
                <a:latin typeface="Calibri Light" pitchFamily="34" charset="0"/>
                <a:ea typeface="Calibri Light" pitchFamily="34" charset="-122"/>
                <a:cs typeface="Calibri Light" pitchFamily="34" charset="-120"/>
              </a:rPr>
              <a:t>Why convert requirements into formal language?</a:t>
            </a:r>
            <a:endParaRPr lang="en-US" sz="2600"/>
          </a:p>
        </p:txBody>
      </p:sp>
      <p:sp>
        <p:nvSpPr>
          <p:cNvPr id="3" name="Text 1"/>
          <p:cNvSpPr/>
          <p:nvPr/>
        </p:nvSpPr>
        <p:spPr>
          <a:xfrm>
            <a:off x="493776" y="859536"/>
            <a:ext cx="10881360" cy="320040"/>
          </a:xfrm>
          <a:prstGeom prst="rect">
            <a:avLst/>
          </a:prstGeom>
          <a:noFill/>
          <a:ln/>
        </p:spPr>
        <p:txBody>
          <a:bodyPr wrap="square" lIns="0" tIns="0" rIns="0" bIns="0" rtlCol="0" anchor="ctr"/>
          <a:lstStyle/>
          <a:p>
            <a:pPr marL="0" indent="0">
              <a:buNone/>
            </a:pPr>
            <a:r>
              <a:rPr lang="en-US" sz="1250">
                <a:solidFill>
                  <a:srgbClr val="667085"/>
                </a:solidFill>
              </a:rPr>
              <a:t>Formalization turns interpretation into explicit objects that can be checked mechanically.</a:t>
            </a:r>
            <a:endParaRPr lang="en-US" sz="1250"/>
          </a:p>
        </p:txBody>
      </p:sp>
      <p:pic>
        <p:nvPicPr>
          <p:cNvPr id="4" name="Image 0" descr="/mnt/data/71c085d2b9.png"/>
          <p:cNvPicPr>
            <a:picLocks noChangeAspect="1"/>
          </p:cNvPicPr>
          <p:nvPr/>
        </p:nvPicPr>
        <p:blipFill>
          <a:blip r:embed="rId3"/>
          <a:stretch>
            <a:fillRect/>
          </a:stretch>
        </p:blipFill>
        <p:spPr>
          <a:xfrm>
            <a:off x="502920" y="1645920"/>
            <a:ext cx="5486400" cy="3657600"/>
          </a:xfrm>
          <a:prstGeom prst="rect">
            <a:avLst/>
          </a:prstGeom>
        </p:spPr>
      </p:pic>
      <p:sp>
        <p:nvSpPr>
          <p:cNvPr id="5" name="Shape 2"/>
          <p:cNvSpPr/>
          <p:nvPr/>
        </p:nvSpPr>
        <p:spPr>
          <a:xfrm>
            <a:off x="6263640" y="1325880"/>
            <a:ext cx="5257800" cy="914400"/>
          </a:xfrm>
          <a:prstGeom prst="roundRect">
            <a:avLst>
              <a:gd name="adj" fmla="val 8000"/>
            </a:avLst>
          </a:prstGeom>
          <a:solidFill>
            <a:srgbClr val="FFFFFF"/>
          </a:solidFill>
          <a:ln w="12700">
            <a:solidFill>
              <a:srgbClr val="D5DFEA"/>
            </a:solidFill>
            <a:prstDash val="solid"/>
          </a:ln>
          <a:effectLst/>
        </p:spPr>
      </p:sp>
      <p:sp>
        <p:nvSpPr>
          <p:cNvPr id="6" name="Shape 3"/>
          <p:cNvSpPr/>
          <p:nvPr/>
        </p:nvSpPr>
        <p:spPr>
          <a:xfrm>
            <a:off x="6263640" y="1325880"/>
            <a:ext cx="73152" cy="914400"/>
          </a:xfrm>
          <a:prstGeom prst="rect">
            <a:avLst/>
          </a:prstGeom>
          <a:solidFill>
            <a:srgbClr val="4E84C4"/>
          </a:solidFill>
          <a:ln w="12700">
            <a:solidFill>
              <a:srgbClr val="4E84C4"/>
            </a:solidFill>
            <a:prstDash val="solid"/>
          </a:ln>
        </p:spPr>
      </p:sp>
      <p:sp>
        <p:nvSpPr>
          <p:cNvPr id="7" name="Text 4"/>
          <p:cNvSpPr/>
          <p:nvPr/>
        </p:nvSpPr>
        <p:spPr>
          <a:xfrm>
            <a:off x="6492240" y="1490472"/>
            <a:ext cx="4873752" cy="274320"/>
          </a:xfrm>
          <a:prstGeom prst="rect">
            <a:avLst/>
          </a:prstGeom>
          <a:noFill/>
          <a:ln/>
        </p:spPr>
        <p:txBody>
          <a:bodyPr wrap="square" lIns="0" tIns="0" rIns="0" bIns="0" rtlCol="0" anchor="ctr"/>
          <a:lstStyle/>
          <a:p>
            <a:pPr marL="0" indent="0">
              <a:buNone/>
            </a:pPr>
            <a:r>
              <a:rPr lang="en-US" sz="1700" b="1">
                <a:solidFill>
                  <a:srgbClr val="111827"/>
                </a:solidFill>
              </a:rPr>
              <a:t>Explicit semantics</a:t>
            </a:r>
            <a:endParaRPr lang="en-US" sz="1700">
              <a:ea typeface="Calibri Light"/>
              <a:cs typeface="Calibri Light"/>
            </a:endParaRPr>
          </a:p>
        </p:txBody>
      </p:sp>
      <p:sp>
        <p:nvSpPr>
          <p:cNvPr id="8" name="Text 5"/>
          <p:cNvSpPr/>
          <p:nvPr/>
        </p:nvSpPr>
        <p:spPr>
          <a:xfrm>
            <a:off x="6492240" y="1856232"/>
            <a:ext cx="4873752" cy="256032"/>
          </a:xfrm>
          <a:prstGeom prst="rect">
            <a:avLst/>
          </a:prstGeom>
          <a:noFill/>
          <a:ln/>
        </p:spPr>
        <p:txBody>
          <a:bodyPr wrap="square" lIns="381" tIns="381" rIns="381" bIns="381" rtlCol="0" anchor="ctr">
            <a:normAutofit/>
          </a:bodyPr>
          <a:lstStyle/>
          <a:p>
            <a:pPr marL="0" indent="0">
              <a:buNone/>
            </a:pPr>
            <a:r>
              <a:rPr lang="en-US" sz="1400">
                <a:solidFill>
                  <a:srgbClr val="667085"/>
                </a:solidFill>
              </a:rPr>
              <a:t>Predicates, quantifiers, states, bounds and actions are visible.</a:t>
            </a:r>
            <a:endParaRPr lang="en-US" sz="1400">
              <a:ea typeface="Calibri Light"/>
              <a:cs typeface="Calibri Light"/>
            </a:endParaRPr>
          </a:p>
        </p:txBody>
      </p:sp>
      <p:sp>
        <p:nvSpPr>
          <p:cNvPr id="9" name="Shape 6"/>
          <p:cNvSpPr/>
          <p:nvPr/>
        </p:nvSpPr>
        <p:spPr>
          <a:xfrm>
            <a:off x="6263640" y="2441448"/>
            <a:ext cx="5257800" cy="914400"/>
          </a:xfrm>
          <a:prstGeom prst="roundRect">
            <a:avLst>
              <a:gd name="adj" fmla="val 8000"/>
            </a:avLst>
          </a:prstGeom>
          <a:solidFill>
            <a:srgbClr val="FFFFFF"/>
          </a:solidFill>
          <a:ln w="12700">
            <a:solidFill>
              <a:srgbClr val="D5DFEA"/>
            </a:solidFill>
            <a:prstDash val="solid"/>
          </a:ln>
          <a:effectLst/>
        </p:spPr>
      </p:sp>
      <p:sp>
        <p:nvSpPr>
          <p:cNvPr id="10" name="Shape 7"/>
          <p:cNvSpPr/>
          <p:nvPr/>
        </p:nvSpPr>
        <p:spPr>
          <a:xfrm>
            <a:off x="6263640" y="2441448"/>
            <a:ext cx="73152" cy="914400"/>
          </a:xfrm>
          <a:prstGeom prst="rect">
            <a:avLst/>
          </a:prstGeom>
          <a:solidFill>
            <a:srgbClr val="4E84C4"/>
          </a:solidFill>
          <a:ln w="12700">
            <a:solidFill>
              <a:srgbClr val="4E84C4"/>
            </a:solidFill>
            <a:prstDash val="solid"/>
          </a:ln>
        </p:spPr>
      </p:sp>
      <p:sp>
        <p:nvSpPr>
          <p:cNvPr id="11" name="Text 8"/>
          <p:cNvSpPr/>
          <p:nvPr/>
        </p:nvSpPr>
        <p:spPr>
          <a:xfrm>
            <a:off x="6492240" y="2606040"/>
            <a:ext cx="4873752" cy="274320"/>
          </a:xfrm>
          <a:prstGeom prst="rect">
            <a:avLst/>
          </a:prstGeom>
          <a:noFill/>
          <a:ln/>
        </p:spPr>
        <p:txBody>
          <a:bodyPr wrap="square" lIns="0" tIns="0" rIns="0" bIns="0" rtlCol="0" anchor="ctr"/>
          <a:lstStyle/>
          <a:p>
            <a:pPr marL="0" indent="0">
              <a:buNone/>
            </a:pPr>
            <a:r>
              <a:rPr lang="en-US" sz="1700" b="1">
                <a:solidFill>
                  <a:srgbClr val="111827"/>
                </a:solidFill>
              </a:rPr>
              <a:t>Machine-checkable claims</a:t>
            </a:r>
            <a:endParaRPr lang="en-US" sz="1700">
              <a:ea typeface="Calibri Light"/>
              <a:cs typeface="Calibri Light"/>
            </a:endParaRPr>
          </a:p>
        </p:txBody>
      </p:sp>
      <p:sp>
        <p:nvSpPr>
          <p:cNvPr id="12" name="Text 9"/>
          <p:cNvSpPr/>
          <p:nvPr/>
        </p:nvSpPr>
        <p:spPr>
          <a:xfrm>
            <a:off x="6492240" y="2971800"/>
            <a:ext cx="4873752" cy="256032"/>
          </a:xfrm>
          <a:prstGeom prst="rect">
            <a:avLst/>
          </a:prstGeom>
          <a:noFill/>
          <a:ln/>
        </p:spPr>
        <p:txBody>
          <a:bodyPr wrap="square" lIns="381" tIns="381" rIns="381" bIns="381" rtlCol="0" anchor="ctr">
            <a:normAutofit/>
          </a:bodyPr>
          <a:lstStyle/>
          <a:p>
            <a:pPr marL="0" indent="0">
              <a:buNone/>
            </a:pPr>
            <a:r>
              <a:rPr lang="en-US" sz="1400">
                <a:solidFill>
                  <a:srgbClr val="667085"/>
                </a:solidFill>
              </a:rPr>
              <a:t>A prover validates whether conclusions follow from premises.</a:t>
            </a:r>
            <a:endParaRPr lang="en-US" sz="1400">
              <a:ea typeface="Calibri Light"/>
              <a:cs typeface="Calibri Light"/>
            </a:endParaRPr>
          </a:p>
        </p:txBody>
      </p:sp>
      <p:sp>
        <p:nvSpPr>
          <p:cNvPr id="13" name="Shape 10"/>
          <p:cNvSpPr/>
          <p:nvPr/>
        </p:nvSpPr>
        <p:spPr>
          <a:xfrm>
            <a:off x="6263640" y="3557016"/>
            <a:ext cx="5257800" cy="914400"/>
          </a:xfrm>
          <a:prstGeom prst="roundRect">
            <a:avLst>
              <a:gd name="adj" fmla="val 8000"/>
            </a:avLst>
          </a:prstGeom>
          <a:solidFill>
            <a:srgbClr val="FFFFFF"/>
          </a:solidFill>
          <a:ln w="12700">
            <a:solidFill>
              <a:srgbClr val="D5DFEA"/>
            </a:solidFill>
            <a:prstDash val="solid"/>
          </a:ln>
          <a:effectLst/>
        </p:spPr>
      </p:sp>
      <p:sp>
        <p:nvSpPr>
          <p:cNvPr id="14" name="Shape 11"/>
          <p:cNvSpPr/>
          <p:nvPr/>
        </p:nvSpPr>
        <p:spPr>
          <a:xfrm>
            <a:off x="6263640" y="3557016"/>
            <a:ext cx="73152" cy="914400"/>
          </a:xfrm>
          <a:prstGeom prst="rect">
            <a:avLst/>
          </a:prstGeom>
          <a:solidFill>
            <a:srgbClr val="FBB034"/>
          </a:solidFill>
          <a:ln w="12700">
            <a:solidFill>
              <a:srgbClr val="FBB034"/>
            </a:solidFill>
            <a:prstDash val="solid"/>
          </a:ln>
        </p:spPr>
      </p:sp>
      <p:sp>
        <p:nvSpPr>
          <p:cNvPr id="15" name="Text 12"/>
          <p:cNvSpPr/>
          <p:nvPr/>
        </p:nvSpPr>
        <p:spPr>
          <a:xfrm>
            <a:off x="6492240" y="3721608"/>
            <a:ext cx="4873752" cy="274320"/>
          </a:xfrm>
          <a:prstGeom prst="rect">
            <a:avLst/>
          </a:prstGeom>
          <a:noFill/>
          <a:ln/>
        </p:spPr>
        <p:txBody>
          <a:bodyPr wrap="square" lIns="0" tIns="0" rIns="0" bIns="0" rtlCol="0" anchor="ctr"/>
          <a:lstStyle/>
          <a:p>
            <a:r>
              <a:rPr lang="en-US" sz="1700" b="1">
                <a:solidFill>
                  <a:srgbClr val="111827"/>
                </a:solidFill>
              </a:rPr>
              <a:t>Counterexamples and witnesses</a:t>
            </a:r>
            <a:endParaRPr lang="en-US" sz="1700">
              <a:ea typeface="Calibri Light"/>
              <a:cs typeface="Calibri Light"/>
            </a:endParaRPr>
          </a:p>
        </p:txBody>
      </p:sp>
      <p:sp>
        <p:nvSpPr>
          <p:cNvPr id="16" name="Text 13"/>
          <p:cNvSpPr/>
          <p:nvPr/>
        </p:nvSpPr>
        <p:spPr>
          <a:xfrm>
            <a:off x="6492240" y="4087368"/>
            <a:ext cx="4873752" cy="256032"/>
          </a:xfrm>
          <a:prstGeom prst="rect">
            <a:avLst/>
          </a:prstGeom>
          <a:noFill/>
          <a:ln/>
        </p:spPr>
        <p:txBody>
          <a:bodyPr wrap="square" lIns="381" tIns="381" rIns="381" bIns="381" rtlCol="0" anchor="ctr">
            <a:noAutofit/>
          </a:bodyPr>
          <a:lstStyle/>
          <a:p>
            <a:pPr marL="0" indent="0">
              <a:buNone/>
            </a:pPr>
            <a:r>
              <a:rPr lang="en-US" sz="1400">
                <a:solidFill>
                  <a:srgbClr val="667085"/>
                </a:solidFill>
              </a:rPr>
              <a:t>Failures can point to a conflicting pair, uncovered case or invalid transition.</a:t>
            </a:r>
            <a:endParaRPr lang="en-US" sz="1400">
              <a:ea typeface="Calibri Light"/>
              <a:cs typeface="Calibri Light"/>
            </a:endParaRPr>
          </a:p>
        </p:txBody>
      </p:sp>
      <p:sp>
        <p:nvSpPr>
          <p:cNvPr id="17" name="Shape 14"/>
          <p:cNvSpPr/>
          <p:nvPr/>
        </p:nvSpPr>
        <p:spPr>
          <a:xfrm>
            <a:off x="6263640" y="4672584"/>
            <a:ext cx="5257800" cy="914400"/>
          </a:xfrm>
          <a:prstGeom prst="roundRect">
            <a:avLst>
              <a:gd name="adj" fmla="val 8000"/>
            </a:avLst>
          </a:prstGeom>
          <a:solidFill>
            <a:srgbClr val="FFFFFF"/>
          </a:solidFill>
          <a:ln w="12700">
            <a:solidFill>
              <a:srgbClr val="D5DFEA"/>
            </a:solidFill>
            <a:prstDash val="solid"/>
          </a:ln>
          <a:effectLst/>
        </p:spPr>
      </p:sp>
      <p:sp>
        <p:nvSpPr>
          <p:cNvPr id="18" name="Shape 15"/>
          <p:cNvSpPr/>
          <p:nvPr/>
        </p:nvSpPr>
        <p:spPr>
          <a:xfrm>
            <a:off x="6263640" y="4672584"/>
            <a:ext cx="73152" cy="914400"/>
          </a:xfrm>
          <a:prstGeom prst="rect">
            <a:avLst/>
          </a:prstGeom>
          <a:solidFill>
            <a:srgbClr val="4E84C4"/>
          </a:solidFill>
          <a:ln w="12700">
            <a:solidFill>
              <a:srgbClr val="4E84C4"/>
            </a:solidFill>
            <a:prstDash val="solid"/>
          </a:ln>
        </p:spPr>
      </p:sp>
      <p:sp>
        <p:nvSpPr>
          <p:cNvPr id="19" name="Text 16"/>
          <p:cNvSpPr/>
          <p:nvPr/>
        </p:nvSpPr>
        <p:spPr>
          <a:xfrm>
            <a:off x="6492240" y="4837176"/>
            <a:ext cx="4873752" cy="274320"/>
          </a:xfrm>
          <a:prstGeom prst="rect">
            <a:avLst/>
          </a:prstGeom>
          <a:noFill/>
          <a:ln/>
        </p:spPr>
        <p:txBody>
          <a:bodyPr wrap="square" lIns="0" tIns="0" rIns="0" bIns="0" rtlCol="0" anchor="ctr"/>
          <a:lstStyle/>
          <a:p>
            <a:pPr marL="0" indent="0">
              <a:buNone/>
            </a:pPr>
            <a:r>
              <a:rPr lang="en-US" sz="1700" b="1">
                <a:solidFill>
                  <a:srgbClr val="111827"/>
                </a:solidFill>
              </a:rPr>
              <a:t>Repeatability</a:t>
            </a:r>
            <a:endParaRPr lang="en-US" sz="1700">
              <a:ea typeface="Calibri Light"/>
              <a:cs typeface="Calibri Light"/>
            </a:endParaRPr>
          </a:p>
        </p:txBody>
      </p:sp>
      <p:sp>
        <p:nvSpPr>
          <p:cNvPr id="20" name="Text 17"/>
          <p:cNvSpPr/>
          <p:nvPr/>
        </p:nvSpPr>
        <p:spPr>
          <a:xfrm>
            <a:off x="6492240" y="5202936"/>
            <a:ext cx="4873752" cy="256032"/>
          </a:xfrm>
          <a:prstGeom prst="rect">
            <a:avLst/>
          </a:prstGeom>
          <a:noFill/>
          <a:ln/>
        </p:spPr>
        <p:txBody>
          <a:bodyPr wrap="square" lIns="381" tIns="381" rIns="381" bIns="381" rtlCol="0" anchor="ctr">
            <a:noAutofit/>
          </a:bodyPr>
          <a:lstStyle/>
          <a:p>
            <a:pPr marL="0" indent="0">
              <a:buNone/>
            </a:pPr>
            <a:r>
              <a:rPr lang="en-US" sz="1400">
                <a:solidFill>
                  <a:srgbClr val="667085"/>
                </a:solidFill>
              </a:rPr>
              <a:t>The same requirement model produces the same verification obligation.</a:t>
            </a:r>
            <a:endParaRPr lang="en-US" sz="1400">
              <a:ea typeface="Calibri Light"/>
              <a:cs typeface="Calibri Light"/>
            </a:endParaRPr>
          </a:p>
        </p:txBody>
      </p:sp>
      <p:sp>
        <p:nvSpPr>
          <p:cNvPr id="25" name="Slide Number Placeholder 0"/>
          <p:cNvSpPr>
            <a:spLocks noGrp="1"/>
          </p:cNvSpPr>
          <p:nvPr>
            <p:ph type="sldNum" sz="quarter" idx="4294967295"/>
          </p:nvPr>
        </p:nvSpPr>
        <p:spPr>
          <a:xfrm>
            <a:off x="10652760" y="6510528"/>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77777"/>
                </a:solidFill>
              </a:defRPr>
            </a:lvl1pPr>
          </a:lstStyle>
          <a:p>
            <a:pPr algn="ctr"/>
            <a:fld id="{F7021451-1387-4CA6-816F-3879F97B5CBC}" type="slidenum">
              <a:rPr lang="en-US" b="0"/>
              <a:t>9</a:t>
            </a:fld>
            <a:endParaRPr lang="en-US"/>
          </a:p>
        </p:txBody>
      </p:sp>
      <p:sp>
        <p:nvSpPr>
          <p:cNvPr id="22" name="Freeform 2">
            <a:extLst>
              <a:ext uri="{FF2B5EF4-FFF2-40B4-BE49-F238E27FC236}">
                <a16:creationId xmlns:a16="http://schemas.microsoft.com/office/drawing/2014/main" id="{5CA6170F-67ED-35F5-F724-BCE34DF0E2C5}"/>
              </a:ext>
            </a:extLst>
          </p:cNvPr>
          <p:cNvSpPr/>
          <p:nvPr/>
        </p:nvSpPr>
        <p:spPr>
          <a:xfrm>
            <a:off x="5142104" y="6380991"/>
            <a:ext cx="1903592" cy="476247"/>
          </a:xfrm>
          <a:custGeom>
            <a:avLst/>
            <a:gdLst/>
            <a:ahLst/>
            <a:cxnLst/>
            <a:rect l="l" t="t" r="r" b="b"/>
            <a:pathLst>
              <a:path w="2855388" h="714371">
                <a:moveTo>
                  <a:pt x="0" y="0"/>
                </a:moveTo>
                <a:lnTo>
                  <a:pt x="2855388" y="0"/>
                </a:lnTo>
                <a:lnTo>
                  <a:pt x="2855388" y="714371"/>
                </a:lnTo>
                <a:lnTo>
                  <a:pt x="0" y="714371"/>
                </a:lnTo>
                <a:lnTo>
                  <a:pt x="0" y="0"/>
                </a:lnTo>
                <a:close/>
              </a:path>
            </a:pathLst>
          </a:custGeom>
          <a:blipFill>
            <a:blip r:embed="rId4"/>
            <a:stretch>
              <a:fillRect t="-1162" b="-1162"/>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1" cy="1"/>
          <a:chOff x="0" y="0"/>
          <a:chExt cx="1" cy="1"/>
        </a:xfrm>
      </p:grpSpPr>
      <p:sp>
        <p:nvSpPr>
          <p:cNvPr id="2" name="Text 0"/>
          <p:cNvSpPr/>
          <p:nvPr/>
        </p:nvSpPr>
        <p:spPr>
          <a:xfrm>
            <a:off x="475488" y="320040"/>
            <a:ext cx="11064240" cy="502920"/>
          </a:xfrm>
          <a:prstGeom prst="rect">
            <a:avLst/>
          </a:prstGeom>
          <a:noFill/>
          <a:ln/>
        </p:spPr>
        <p:txBody>
          <a:bodyPr wrap="square" lIns="0" tIns="0" rIns="0" bIns="0" rtlCol="0" anchor="ctr"/>
          <a:lstStyle/>
          <a:p>
            <a:pPr marL="0" indent="0">
              <a:buNone/>
            </a:pPr>
            <a:r>
              <a:rPr lang="en-US" sz="2600" b="1">
                <a:solidFill>
                  <a:srgbClr val="111827"/>
                </a:solidFill>
                <a:latin typeface="Calibri Light" pitchFamily="34" charset="0"/>
                <a:ea typeface="Calibri Light" pitchFamily="34" charset="-122"/>
                <a:cs typeface="Calibri Light" pitchFamily="34" charset="-120"/>
              </a:rPr>
              <a:t>Our approach: constrain the LLM, let the prover decide</a:t>
            </a:r>
            <a:endParaRPr lang="en-US" sz="2600"/>
          </a:p>
        </p:txBody>
      </p:sp>
      <p:sp>
        <p:nvSpPr>
          <p:cNvPr id="3" name="Text 1"/>
          <p:cNvSpPr/>
          <p:nvPr/>
        </p:nvSpPr>
        <p:spPr>
          <a:xfrm>
            <a:off x="493776" y="859536"/>
            <a:ext cx="10881360" cy="320040"/>
          </a:xfrm>
          <a:prstGeom prst="rect">
            <a:avLst/>
          </a:prstGeom>
          <a:noFill/>
          <a:ln/>
        </p:spPr>
        <p:txBody>
          <a:bodyPr wrap="square" lIns="0" tIns="0" rIns="0" bIns="0" rtlCol="0" anchor="ctr"/>
          <a:lstStyle/>
          <a:p>
            <a:pPr marL="0" indent="0">
              <a:buNone/>
            </a:pPr>
            <a:r>
              <a:rPr lang="en-US" sz="1250">
                <a:solidFill>
                  <a:srgbClr val="667085"/>
                </a:solidFill>
              </a:rPr>
              <a:t>The LLM performs structured extraction and template filling, not unconstrained theorem invention.</a:t>
            </a:r>
            <a:endParaRPr lang="en-US" sz="1250"/>
          </a:p>
        </p:txBody>
      </p:sp>
      <p:sp>
        <p:nvSpPr>
          <p:cNvPr id="4" name="Shape 2"/>
          <p:cNvSpPr/>
          <p:nvPr/>
        </p:nvSpPr>
        <p:spPr>
          <a:xfrm>
            <a:off x="502920" y="1828800"/>
            <a:ext cx="1600200" cy="2514600"/>
          </a:xfrm>
          <a:prstGeom prst="roundRect">
            <a:avLst>
              <a:gd name="adj" fmla="val 4571"/>
            </a:avLst>
          </a:prstGeom>
          <a:solidFill>
            <a:srgbClr val="FFFFFF"/>
          </a:solidFill>
          <a:ln w="12700">
            <a:solidFill>
              <a:srgbClr val="CBD8E5"/>
            </a:solidFill>
            <a:prstDash val="solid"/>
          </a:ln>
          <a:effectLst/>
        </p:spPr>
      </p:sp>
      <p:sp>
        <p:nvSpPr>
          <p:cNvPr id="5" name="Text 3"/>
          <p:cNvSpPr/>
          <p:nvPr/>
        </p:nvSpPr>
        <p:spPr>
          <a:xfrm>
            <a:off x="640080" y="1993392"/>
            <a:ext cx="292608" cy="292608"/>
          </a:xfrm>
          <a:prstGeom prst="ellipse">
            <a:avLst/>
          </a:prstGeom>
          <a:solidFill>
            <a:srgbClr val="4E84C4"/>
          </a:solidFill>
          <a:ln/>
        </p:spPr>
        <p:txBody>
          <a:bodyPr wrap="square" lIns="0" tIns="0" rIns="0" bIns="0" rtlCol="0" anchor="ctr"/>
          <a:lstStyle/>
          <a:p>
            <a:pPr marL="0" indent="0" algn="ctr">
              <a:buNone/>
            </a:pPr>
            <a:r>
              <a:rPr lang="en-US" sz="1200" b="1">
                <a:solidFill>
                  <a:srgbClr val="FFFFFF"/>
                </a:solidFill>
              </a:rPr>
              <a:t>1</a:t>
            </a:r>
            <a:endParaRPr lang="en-US" sz="1200"/>
          </a:p>
        </p:txBody>
      </p:sp>
      <p:sp>
        <p:nvSpPr>
          <p:cNvPr id="6" name="Text 4"/>
          <p:cNvSpPr/>
          <p:nvPr/>
        </p:nvSpPr>
        <p:spPr>
          <a:xfrm>
            <a:off x="640080" y="2542032"/>
            <a:ext cx="1325880" cy="320040"/>
          </a:xfrm>
          <a:prstGeom prst="rect">
            <a:avLst/>
          </a:prstGeom>
          <a:noFill/>
          <a:ln/>
        </p:spPr>
        <p:txBody>
          <a:bodyPr wrap="square" lIns="0" tIns="0" rIns="0" bIns="0" rtlCol="0" anchor="ctr"/>
          <a:lstStyle/>
          <a:p>
            <a:pPr marL="0" indent="0" algn="ctr">
              <a:buNone/>
            </a:pPr>
            <a:r>
              <a:rPr lang="en-US" sz="1700" b="1">
                <a:solidFill>
                  <a:srgbClr val="111827"/>
                </a:solidFill>
              </a:rPr>
              <a:t>Ingest</a:t>
            </a:r>
            <a:endParaRPr lang="en-US" sz="1700"/>
          </a:p>
        </p:txBody>
      </p:sp>
      <p:sp>
        <p:nvSpPr>
          <p:cNvPr id="7" name="Text 5"/>
          <p:cNvSpPr/>
          <p:nvPr/>
        </p:nvSpPr>
        <p:spPr>
          <a:xfrm>
            <a:off x="649224" y="3127248"/>
            <a:ext cx="1307592" cy="658368"/>
          </a:xfrm>
          <a:prstGeom prst="rect">
            <a:avLst/>
          </a:prstGeom>
          <a:noFill/>
          <a:ln/>
        </p:spPr>
        <p:txBody>
          <a:bodyPr wrap="square" lIns="254" tIns="254" rIns="254" bIns="254" rtlCol="0" anchor="ctr">
            <a:normAutofit/>
          </a:bodyPr>
          <a:lstStyle/>
          <a:p>
            <a:pPr marL="0" indent="0" algn="ctr">
              <a:buNone/>
            </a:pPr>
            <a:r>
              <a:rPr lang="en-US" sz="1150">
                <a:solidFill>
                  <a:srgbClr val="667085"/>
                </a:solidFill>
              </a:rPr>
              <a:t>SRS / SDLC document</a:t>
            </a:r>
            <a:endParaRPr lang="en-US" sz="1150"/>
          </a:p>
        </p:txBody>
      </p:sp>
      <p:sp>
        <p:nvSpPr>
          <p:cNvPr id="8" name="Shape 6"/>
          <p:cNvSpPr/>
          <p:nvPr/>
        </p:nvSpPr>
        <p:spPr>
          <a:xfrm>
            <a:off x="2103120" y="3063240"/>
            <a:ext cx="274320" cy="1"/>
          </a:xfrm>
          <a:prstGeom prst="line">
            <a:avLst/>
          </a:prstGeom>
          <a:noFill/>
          <a:ln w="25400">
            <a:solidFill>
              <a:srgbClr val="4E84C4"/>
            </a:solidFill>
            <a:prstDash val="solid"/>
            <a:headEnd type="none"/>
            <a:tailEnd type="triangle"/>
          </a:ln>
        </p:spPr>
      </p:sp>
      <p:sp>
        <p:nvSpPr>
          <p:cNvPr id="9" name="Shape 7"/>
          <p:cNvSpPr/>
          <p:nvPr/>
        </p:nvSpPr>
        <p:spPr>
          <a:xfrm>
            <a:off x="2423160" y="1828800"/>
            <a:ext cx="1600200" cy="2514600"/>
          </a:xfrm>
          <a:prstGeom prst="roundRect">
            <a:avLst>
              <a:gd name="adj" fmla="val 4571"/>
            </a:avLst>
          </a:prstGeom>
          <a:solidFill>
            <a:srgbClr val="FFFFFF"/>
          </a:solidFill>
          <a:ln w="12700">
            <a:solidFill>
              <a:srgbClr val="CBD8E5"/>
            </a:solidFill>
            <a:prstDash val="solid"/>
          </a:ln>
          <a:effectLst/>
        </p:spPr>
      </p:sp>
      <p:sp>
        <p:nvSpPr>
          <p:cNvPr id="10" name="Text 8"/>
          <p:cNvSpPr/>
          <p:nvPr/>
        </p:nvSpPr>
        <p:spPr>
          <a:xfrm>
            <a:off x="2560320" y="1993392"/>
            <a:ext cx="292608" cy="292608"/>
          </a:xfrm>
          <a:prstGeom prst="ellipse">
            <a:avLst/>
          </a:prstGeom>
          <a:solidFill>
            <a:srgbClr val="4E84C4"/>
          </a:solidFill>
          <a:ln/>
        </p:spPr>
        <p:txBody>
          <a:bodyPr wrap="square" lIns="0" tIns="0" rIns="0" bIns="0" rtlCol="0" anchor="ctr"/>
          <a:lstStyle/>
          <a:p>
            <a:pPr marL="0" indent="0" algn="ctr">
              <a:buNone/>
            </a:pPr>
            <a:r>
              <a:rPr lang="en-US" sz="1200" b="1">
                <a:solidFill>
                  <a:srgbClr val="FFFFFF"/>
                </a:solidFill>
              </a:rPr>
              <a:t>2</a:t>
            </a:r>
            <a:endParaRPr lang="en-US" sz="1200"/>
          </a:p>
        </p:txBody>
      </p:sp>
      <p:sp>
        <p:nvSpPr>
          <p:cNvPr id="11" name="Text 9"/>
          <p:cNvSpPr/>
          <p:nvPr/>
        </p:nvSpPr>
        <p:spPr>
          <a:xfrm>
            <a:off x="2560320" y="2542032"/>
            <a:ext cx="1325880" cy="320040"/>
          </a:xfrm>
          <a:prstGeom prst="rect">
            <a:avLst/>
          </a:prstGeom>
          <a:noFill/>
          <a:ln/>
        </p:spPr>
        <p:txBody>
          <a:bodyPr wrap="square" lIns="0" tIns="0" rIns="0" bIns="0" rtlCol="0" anchor="ctr"/>
          <a:lstStyle/>
          <a:p>
            <a:pPr marL="0" indent="0" algn="ctr">
              <a:buNone/>
            </a:pPr>
            <a:r>
              <a:rPr lang="en-US" sz="1700" b="1">
                <a:solidFill>
                  <a:srgbClr val="111827"/>
                </a:solidFill>
              </a:rPr>
              <a:t>Clarify</a:t>
            </a:r>
            <a:endParaRPr lang="en-US" sz="1700"/>
          </a:p>
        </p:txBody>
      </p:sp>
      <p:sp>
        <p:nvSpPr>
          <p:cNvPr id="12" name="Text 10"/>
          <p:cNvSpPr/>
          <p:nvPr/>
        </p:nvSpPr>
        <p:spPr>
          <a:xfrm>
            <a:off x="2569464" y="3127248"/>
            <a:ext cx="1307592" cy="658368"/>
          </a:xfrm>
          <a:prstGeom prst="rect">
            <a:avLst/>
          </a:prstGeom>
          <a:noFill/>
          <a:ln/>
        </p:spPr>
        <p:txBody>
          <a:bodyPr wrap="square" lIns="254" tIns="254" rIns="254" bIns="254" rtlCol="0" anchor="ctr">
            <a:normAutofit/>
          </a:bodyPr>
          <a:lstStyle/>
          <a:p>
            <a:pPr marL="0" indent="0" algn="ctr">
              <a:buNone/>
            </a:pPr>
            <a:r>
              <a:rPr lang="en-US" sz="1150">
                <a:solidFill>
                  <a:srgbClr val="667085"/>
                </a:solidFill>
              </a:rPr>
              <a:t>Direct ambiguity extraction</a:t>
            </a:r>
            <a:endParaRPr lang="en-US" sz="1150"/>
          </a:p>
        </p:txBody>
      </p:sp>
      <p:sp>
        <p:nvSpPr>
          <p:cNvPr id="13" name="Shape 11"/>
          <p:cNvSpPr/>
          <p:nvPr/>
        </p:nvSpPr>
        <p:spPr>
          <a:xfrm>
            <a:off x="4023360" y="3063240"/>
            <a:ext cx="274320" cy="1"/>
          </a:xfrm>
          <a:prstGeom prst="line">
            <a:avLst/>
          </a:prstGeom>
          <a:noFill/>
          <a:ln w="25400">
            <a:solidFill>
              <a:srgbClr val="4E84C4"/>
            </a:solidFill>
            <a:prstDash val="solid"/>
            <a:headEnd type="none"/>
            <a:tailEnd type="triangle"/>
          </a:ln>
        </p:spPr>
      </p:sp>
      <p:sp>
        <p:nvSpPr>
          <p:cNvPr id="14" name="Shape 12"/>
          <p:cNvSpPr/>
          <p:nvPr/>
        </p:nvSpPr>
        <p:spPr>
          <a:xfrm>
            <a:off x="4343400" y="1828800"/>
            <a:ext cx="1600200" cy="2514600"/>
          </a:xfrm>
          <a:prstGeom prst="roundRect">
            <a:avLst>
              <a:gd name="adj" fmla="val 4571"/>
            </a:avLst>
          </a:prstGeom>
          <a:solidFill>
            <a:srgbClr val="FFFFFF"/>
          </a:solidFill>
          <a:ln w="12700">
            <a:solidFill>
              <a:srgbClr val="CBD8E5"/>
            </a:solidFill>
            <a:prstDash val="solid"/>
          </a:ln>
          <a:effectLst/>
        </p:spPr>
      </p:sp>
      <p:sp>
        <p:nvSpPr>
          <p:cNvPr id="15" name="Text 13"/>
          <p:cNvSpPr/>
          <p:nvPr/>
        </p:nvSpPr>
        <p:spPr>
          <a:xfrm>
            <a:off x="4480560" y="1993392"/>
            <a:ext cx="292608" cy="292608"/>
          </a:xfrm>
          <a:prstGeom prst="ellipse">
            <a:avLst/>
          </a:prstGeom>
          <a:solidFill>
            <a:srgbClr val="4E84C4"/>
          </a:solidFill>
          <a:ln/>
        </p:spPr>
        <p:txBody>
          <a:bodyPr wrap="square" lIns="0" tIns="0" rIns="0" bIns="0" rtlCol="0" anchor="ctr"/>
          <a:lstStyle/>
          <a:p>
            <a:pPr marL="0" indent="0" algn="ctr">
              <a:buNone/>
            </a:pPr>
            <a:r>
              <a:rPr lang="en-US" sz="1200" b="1">
                <a:solidFill>
                  <a:srgbClr val="FFFFFF"/>
                </a:solidFill>
              </a:rPr>
              <a:t>3</a:t>
            </a:r>
            <a:endParaRPr lang="en-US" sz="1200"/>
          </a:p>
        </p:txBody>
      </p:sp>
      <p:sp>
        <p:nvSpPr>
          <p:cNvPr id="16" name="Text 14"/>
          <p:cNvSpPr/>
          <p:nvPr/>
        </p:nvSpPr>
        <p:spPr>
          <a:xfrm>
            <a:off x="4480560" y="2542032"/>
            <a:ext cx="1325880" cy="320040"/>
          </a:xfrm>
          <a:prstGeom prst="rect">
            <a:avLst/>
          </a:prstGeom>
          <a:noFill/>
          <a:ln/>
        </p:spPr>
        <p:txBody>
          <a:bodyPr wrap="square" lIns="0" tIns="0" rIns="0" bIns="0" rtlCol="0" anchor="ctr"/>
          <a:lstStyle/>
          <a:p>
            <a:pPr marL="0" indent="0" algn="ctr">
              <a:buNone/>
            </a:pPr>
            <a:r>
              <a:rPr lang="en-US" sz="1700" b="1">
                <a:solidFill>
                  <a:srgbClr val="111827"/>
                </a:solidFill>
              </a:rPr>
              <a:t>Normalize</a:t>
            </a:r>
            <a:endParaRPr lang="en-US" sz="1700"/>
          </a:p>
        </p:txBody>
      </p:sp>
      <p:sp>
        <p:nvSpPr>
          <p:cNvPr id="17" name="Text 15"/>
          <p:cNvSpPr/>
          <p:nvPr/>
        </p:nvSpPr>
        <p:spPr>
          <a:xfrm>
            <a:off x="4489704" y="3127248"/>
            <a:ext cx="1307592" cy="658368"/>
          </a:xfrm>
          <a:prstGeom prst="rect">
            <a:avLst/>
          </a:prstGeom>
          <a:noFill/>
          <a:ln/>
        </p:spPr>
        <p:txBody>
          <a:bodyPr wrap="square" lIns="254" tIns="254" rIns="254" bIns="254" rtlCol="0" anchor="ctr">
            <a:normAutofit/>
          </a:bodyPr>
          <a:lstStyle/>
          <a:p>
            <a:pPr marL="0" indent="0" algn="ctr">
              <a:buNone/>
            </a:pPr>
            <a:r>
              <a:rPr lang="en-US" sz="1150">
                <a:solidFill>
                  <a:srgbClr val="667085"/>
                </a:solidFill>
              </a:rPr>
              <a:t>Canonical requirement IR</a:t>
            </a:r>
            <a:endParaRPr lang="en-US" sz="1150"/>
          </a:p>
        </p:txBody>
      </p:sp>
      <p:sp>
        <p:nvSpPr>
          <p:cNvPr id="18" name="Shape 16"/>
          <p:cNvSpPr/>
          <p:nvPr/>
        </p:nvSpPr>
        <p:spPr>
          <a:xfrm>
            <a:off x="5943600" y="3063240"/>
            <a:ext cx="274320" cy="1"/>
          </a:xfrm>
          <a:prstGeom prst="line">
            <a:avLst/>
          </a:prstGeom>
          <a:noFill/>
          <a:ln w="25400">
            <a:solidFill>
              <a:srgbClr val="4E84C4"/>
            </a:solidFill>
            <a:prstDash val="solid"/>
            <a:headEnd type="none"/>
            <a:tailEnd type="triangle"/>
          </a:ln>
        </p:spPr>
      </p:sp>
      <p:sp>
        <p:nvSpPr>
          <p:cNvPr id="19" name="Shape 17"/>
          <p:cNvSpPr/>
          <p:nvPr/>
        </p:nvSpPr>
        <p:spPr>
          <a:xfrm>
            <a:off x="6263640" y="1828800"/>
            <a:ext cx="1600200" cy="2514600"/>
          </a:xfrm>
          <a:prstGeom prst="roundRect">
            <a:avLst>
              <a:gd name="adj" fmla="val 4571"/>
            </a:avLst>
          </a:prstGeom>
          <a:solidFill>
            <a:srgbClr val="FFFFFF"/>
          </a:solidFill>
          <a:ln w="12700">
            <a:solidFill>
              <a:srgbClr val="CBD8E5"/>
            </a:solidFill>
            <a:prstDash val="solid"/>
          </a:ln>
          <a:effectLst/>
        </p:spPr>
      </p:sp>
      <p:sp>
        <p:nvSpPr>
          <p:cNvPr id="20" name="Text 18"/>
          <p:cNvSpPr/>
          <p:nvPr/>
        </p:nvSpPr>
        <p:spPr>
          <a:xfrm>
            <a:off x="6400800" y="1993392"/>
            <a:ext cx="292608" cy="292608"/>
          </a:xfrm>
          <a:prstGeom prst="ellipse">
            <a:avLst/>
          </a:prstGeom>
          <a:solidFill>
            <a:srgbClr val="4E84C4"/>
          </a:solidFill>
          <a:ln/>
        </p:spPr>
        <p:txBody>
          <a:bodyPr wrap="square" lIns="0" tIns="0" rIns="0" bIns="0" rtlCol="0" anchor="ctr"/>
          <a:lstStyle/>
          <a:p>
            <a:pPr marL="0" indent="0" algn="ctr">
              <a:buNone/>
            </a:pPr>
            <a:r>
              <a:rPr lang="en-US" sz="1200" b="1">
                <a:solidFill>
                  <a:srgbClr val="FFFFFF"/>
                </a:solidFill>
              </a:rPr>
              <a:t>4</a:t>
            </a:r>
            <a:endParaRPr lang="en-US" sz="1200"/>
          </a:p>
        </p:txBody>
      </p:sp>
      <p:sp>
        <p:nvSpPr>
          <p:cNvPr id="21" name="Text 19"/>
          <p:cNvSpPr/>
          <p:nvPr/>
        </p:nvSpPr>
        <p:spPr>
          <a:xfrm>
            <a:off x="6400800" y="2542032"/>
            <a:ext cx="1325880" cy="320040"/>
          </a:xfrm>
          <a:prstGeom prst="rect">
            <a:avLst/>
          </a:prstGeom>
          <a:noFill/>
          <a:ln/>
        </p:spPr>
        <p:txBody>
          <a:bodyPr wrap="square" lIns="0" tIns="0" rIns="0" bIns="0" rtlCol="0" anchor="ctr"/>
          <a:lstStyle/>
          <a:p>
            <a:pPr marL="0" indent="0" algn="ctr">
              <a:buNone/>
            </a:pPr>
            <a:r>
              <a:rPr lang="en-US" sz="1700" b="1">
                <a:solidFill>
                  <a:srgbClr val="111827"/>
                </a:solidFill>
              </a:rPr>
              <a:t>Formalize</a:t>
            </a:r>
            <a:endParaRPr lang="en-US" sz="1700"/>
          </a:p>
        </p:txBody>
      </p:sp>
      <p:sp>
        <p:nvSpPr>
          <p:cNvPr id="22" name="Text 20"/>
          <p:cNvSpPr/>
          <p:nvPr/>
        </p:nvSpPr>
        <p:spPr>
          <a:xfrm>
            <a:off x="6409944" y="3127248"/>
            <a:ext cx="1307592" cy="658368"/>
          </a:xfrm>
          <a:prstGeom prst="rect">
            <a:avLst/>
          </a:prstGeom>
          <a:noFill/>
          <a:ln/>
        </p:spPr>
        <p:txBody>
          <a:bodyPr wrap="square" lIns="254" tIns="254" rIns="254" bIns="254" rtlCol="0" anchor="ctr">
            <a:normAutofit/>
          </a:bodyPr>
          <a:lstStyle/>
          <a:p>
            <a:pPr marL="0" indent="0" algn="ctr">
              <a:buNone/>
            </a:pPr>
            <a:r>
              <a:rPr lang="en-US" sz="1150">
                <a:solidFill>
                  <a:srgbClr val="667085"/>
                </a:solidFill>
              </a:rPr>
              <a:t>Lean + first-order logic</a:t>
            </a:r>
            <a:endParaRPr lang="en-US" sz="1150"/>
          </a:p>
        </p:txBody>
      </p:sp>
      <p:sp>
        <p:nvSpPr>
          <p:cNvPr id="23" name="Shape 21"/>
          <p:cNvSpPr/>
          <p:nvPr/>
        </p:nvSpPr>
        <p:spPr>
          <a:xfrm>
            <a:off x="7863840" y="3063240"/>
            <a:ext cx="274320" cy="1"/>
          </a:xfrm>
          <a:prstGeom prst="line">
            <a:avLst/>
          </a:prstGeom>
          <a:noFill/>
          <a:ln w="25400">
            <a:solidFill>
              <a:srgbClr val="4E84C4"/>
            </a:solidFill>
            <a:prstDash val="solid"/>
            <a:headEnd type="none"/>
            <a:tailEnd type="triangle"/>
          </a:ln>
        </p:spPr>
      </p:sp>
      <p:sp>
        <p:nvSpPr>
          <p:cNvPr id="24" name="Shape 22"/>
          <p:cNvSpPr/>
          <p:nvPr/>
        </p:nvSpPr>
        <p:spPr>
          <a:xfrm>
            <a:off x="8183880" y="1828800"/>
            <a:ext cx="1600200" cy="2514600"/>
          </a:xfrm>
          <a:prstGeom prst="roundRect">
            <a:avLst>
              <a:gd name="adj" fmla="val 4571"/>
            </a:avLst>
          </a:prstGeom>
          <a:solidFill>
            <a:srgbClr val="FFF7E6"/>
          </a:solidFill>
          <a:ln w="25400">
            <a:solidFill>
              <a:srgbClr val="FBB034"/>
            </a:solidFill>
            <a:prstDash val="solid"/>
          </a:ln>
          <a:effectLst/>
        </p:spPr>
      </p:sp>
      <p:sp>
        <p:nvSpPr>
          <p:cNvPr id="25" name="Text 23"/>
          <p:cNvSpPr/>
          <p:nvPr/>
        </p:nvSpPr>
        <p:spPr>
          <a:xfrm>
            <a:off x="8321040" y="1993392"/>
            <a:ext cx="292608" cy="292608"/>
          </a:xfrm>
          <a:prstGeom prst="ellipse">
            <a:avLst/>
          </a:prstGeom>
          <a:solidFill>
            <a:srgbClr val="FBB034"/>
          </a:solidFill>
          <a:ln/>
        </p:spPr>
        <p:txBody>
          <a:bodyPr wrap="square" lIns="0" tIns="0" rIns="0" bIns="0" rtlCol="0" anchor="ctr"/>
          <a:lstStyle/>
          <a:p>
            <a:pPr marL="0" indent="0" algn="ctr">
              <a:buNone/>
            </a:pPr>
            <a:r>
              <a:rPr lang="en-US" sz="1200" b="1">
                <a:solidFill>
                  <a:srgbClr val="FFFFFF"/>
                </a:solidFill>
              </a:rPr>
              <a:t>5</a:t>
            </a:r>
            <a:endParaRPr lang="en-US" sz="1200"/>
          </a:p>
        </p:txBody>
      </p:sp>
      <p:sp>
        <p:nvSpPr>
          <p:cNvPr id="26" name="Text 24"/>
          <p:cNvSpPr/>
          <p:nvPr/>
        </p:nvSpPr>
        <p:spPr>
          <a:xfrm>
            <a:off x="8321040" y="2542032"/>
            <a:ext cx="1325880" cy="320040"/>
          </a:xfrm>
          <a:prstGeom prst="rect">
            <a:avLst/>
          </a:prstGeom>
          <a:noFill/>
          <a:ln/>
        </p:spPr>
        <p:txBody>
          <a:bodyPr wrap="square" lIns="0" tIns="0" rIns="0" bIns="0" rtlCol="0" anchor="ctr"/>
          <a:lstStyle/>
          <a:p>
            <a:pPr marL="0" indent="0" algn="ctr">
              <a:buNone/>
            </a:pPr>
            <a:r>
              <a:rPr lang="en-US" sz="1700" b="1">
                <a:solidFill>
                  <a:srgbClr val="111827"/>
                </a:solidFill>
              </a:rPr>
              <a:t>Verify</a:t>
            </a:r>
            <a:endParaRPr lang="en-US" sz="1700"/>
          </a:p>
        </p:txBody>
      </p:sp>
      <p:sp>
        <p:nvSpPr>
          <p:cNvPr id="27" name="Text 25"/>
          <p:cNvSpPr/>
          <p:nvPr/>
        </p:nvSpPr>
        <p:spPr>
          <a:xfrm>
            <a:off x="8330184" y="3127248"/>
            <a:ext cx="1307592" cy="658368"/>
          </a:xfrm>
          <a:prstGeom prst="rect">
            <a:avLst/>
          </a:prstGeom>
          <a:noFill/>
          <a:ln/>
        </p:spPr>
        <p:txBody>
          <a:bodyPr wrap="square" lIns="254" tIns="254" rIns="254" bIns="254" rtlCol="0" anchor="ctr">
            <a:normAutofit/>
          </a:bodyPr>
          <a:lstStyle/>
          <a:p>
            <a:pPr marL="0" indent="0" algn="ctr">
              <a:buNone/>
            </a:pPr>
            <a:r>
              <a:rPr lang="en-US" sz="1150">
                <a:solidFill>
                  <a:srgbClr val="667085"/>
                </a:solidFill>
              </a:rPr>
              <a:t>Fixed theorem templates</a:t>
            </a:r>
            <a:endParaRPr lang="en-US" sz="1150"/>
          </a:p>
        </p:txBody>
      </p:sp>
      <p:sp>
        <p:nvSpPr>
          <p:cNvPr id="28" name="Shape 26"/>
          <p:cNvSpPr/>
          <p:nvPr/>
        </p:nvSpPr>
        <p:spPr>
          <a:xfrm>
            <a:off x="9784080" y="3063240"/>
            <a:ext cx="274320" cy="1"/>
          </a:xfrm>
          <a:prstGeom prst="line">
            <a:avLst/>
          </a:prstGeom>
          <a:noFill/>
          <a:ln w="25400">
            <a:solidFill>
              <a:srgbClr val="4E84C4"/>
            </a:solidFill>
            <a:prstDash val="solid"/>
            <a:headEnd type="none"/>
            <a:tailEnd type="triangle"/>
          </a:ln>
        </p:spPr>
      </p:sp>
      <p:sp>
        <p:nvSpPr>
          <p:cNvPr id="29" name="Shape 27"/>
          <p:cNvSpPr/>
          <p:nvPr/>
        </p:nvSpPr>
        <p:spPr>
          <a:xfrm>
            <a:off x="10104120" y="1828800"/>
            <a:ext cx="1600200" cy="2514600"/>
          </a:xfrm>
          <a:prstGeom prst="roundRect">
            <a:avLst>
              <a:gd name="adj" fmla="val 4571"/>
            </a:avLst>
          </a:prstGeom>
          <a:solidFill>
            <a:srgbClr val="FFFFFF"/>
          </a:solidFill>
          <a:ln w="12700">
            <a:solidFill>
              <a:srgbClr val="CBD8E5"/>
            </a:solidFill>
            <a:prstDash val="solid"/>
          </a:ln>
          <a:effectLst/>
        </p:spPr>
      </p:sp>
      <p:sp>
        <p:nvSpPr>
          <p:cNvPr id="30" name="Text 28"/>
          <p:cNvSpPr/>
          <p:nvPr/>
        </p:nvSpPr>
        <p:spPr>
          <a:xfrm>
            <a:off x="10241280" y="1993392"/>
            <a:ext cx="292608" cy="292608"/>
          </a:xfrm>
          <a:prstGeom prst="ellipse">
            <a:avLst/>
          </a:prstGeom>
          <a:solidFill>
            <a:srgbClr val="4E84C4"/>
          </a:solidFill>
          <a:ln/>
        </p:spPr>
        <p:txBody>
          <a:bodyPr wrap="square" lIns="0" tIns="0" rIns="0" bIns="0" rtlCol="0" anchor="ctr"/>
          <a:lstStyle/>
          <a:p>
            <a:pPr marL="0" indent="0" algn="ctr">
              <a:buNone/>
            </a:pPr>
            <a:r>
              <a:rPr lang="en-US" sz="1200" b="1">
                <a:solidFill>
                  <a:srgbClr val="FFFFFF"/>
                </a:solidFill>
              </a:rPr>
              <a:t>6</a:t>
            </a:r>
            <a:endParaRPr lang="en-US" sz="1200"/>
          </a:p>
        </p:txBody>
      </p:sp>
      <p:sp>
        <p:nvSpPr>
          <p:cNvPr id="31" name="Text 29"/>
          <p:cNvSpPr/>
          <p:nvPr/>
        </p:nvSpPr>
        <p:spPr>
          <a:xfrm>
            <a:off x="10241280" y="2542032"/>
            <a:ext cx="1325880" cy="320040"/>
          </a:xfrm>
          <a:prstGeom prst="rect">
            <a:avLst/>
          </a:prstGeom>
          <a:noFill/>
          <a:ln/>
        </p:spPr>
        <p:txBody>
          <a:bodyPr wrap="square" lIns="0" tIns="0" rIns="0" bIns="0" rtlCol="0" anchor="ctr"/>
          <a:lstStyle/>
          <a:p>
            <a:pPr marL="0" indent="0" algn="ctr">
              <a:buNone/>
            </a:pPr>
            <a:r>
              <a:rPr lang="en-US" sz="1700" b="1">
                <a:solidFill>
                  <a:srgbClr val="111827"/>
                </a:solidFill>
              </a:rPr>
              <a:t>Explain</a:t>
            </a:r>
            <a:endParaRPr lang="en-US" sz="1700"/>
          </a:p>
        </p:txBody>
      </p:sp>
      <p:sp>
        <p:nvSpPr>
          <p:cNvPr id="32" name="Text 30"/>
          <p:cNvSpPr/>
          <p:nvPr/>
        </p:nvSpPr>
        <p:spPr>
          <a:xfrm>
            <a:off x="10250424" y="3127248"/>
            <a:ext cx="1307592" cy="658368"/>
          </a:xfrm>
          <a:prstGeom prst="rect">
            <a:avLst/>
          </a:prstGeom>
          <a:noFill/>
          <a:ln/>
        </p:spPr>
        <p:txBody>
          <a:bodyPr wrap="square" lIns="254" tIns="254" rIns="254" bIns="254" rtlCol="0" anchor="ctr">
            <a:normAutofit/>
          </a:bodyPr>
          <a:lstStyle/>
          <a:p>
            <a:pPr marL="0" indent="0" algn="ctr">
              <a:buNone/>
            </a:pPr>
            <a:r>
              <a:rPr lang="en-US" sz="1150">
                <a:solidFill>
                  <a:srgbClr val="667085"/>
                </a:solidFill>
              </a:rPr>
              <a:t>Evidence-linked findings</a:t>
            </a:r>
            <a:endParaRPr lang="en-US" sz="1150"/>
          </a:p>
        </p:txBody>
      </p:sp>
      <p:grpSp>
        <p:nvGrpSpPr>
          <p:cNvPr id="36" name="Group 35">
            <a:extLst>
              <a:ext uri="{FF2B5EF4-FFF2-40B4-BE49-F238E27FC236}">
                <a16:creationId xmlns:a16="http://schemas.microsoft.com/office/drawing/2014/main" id="{4FC01260-F36F-609E-D284-480483DA992C}"/>
              </a:ext>
            </a:extLst>
          </p:cNvPr>
          <p:cNvGrpSpPr/>
          <p:nvPr/>
        </p:nvGrpSpPr>
        <p:grpSpPr>
          <a:xfrm>
            <a:off x="502920" y="5897880"/>
            <a:ext cx="11064240" cy="411480"/>
            <a:chOff x="502920" y="5897880"/>
            <a:chExt cx="11064240" cy="411480"/>
          </a:xfrm>
        </p:grpSpPr>
        <p:sp>
          <p:nvSpPr>
            <p:cNvPr id="33" name="Shape 31"/>
            <p:cNvSpPr/>
            <p:nvPr/>
          </p:nvSpPr>
          <p:spPr>
            <a:xfrm>
              <a:off x="502920" y="5897880"/>
              <a:ext cx="11064240" cy="411480"/>
            </a:xfrm>
            <a:prstGeom prst="roundRect">
              <a:avLst>
                <a:gd name="adj" fmla="val 26667"/>
              </a:avLst>
            </a:prstGeom>
            <a:solidFill>
              <a:srgbClr val="EEF4FA"/>
            </a:solidFill>
            <a:ln w="12700">
              <a:solidFill>
                <a:srgbClr val="D5E2EF"/>
              </a:solidFill>
              <a:prstDash val="solid"/>
            </a:ln>
          </p:spPr>
        </p:sp>
        <p:sp>
          <p:nvSpPr>
            <p:cNvPr id="34" name="Text 32"/>
            <p:cNvSpPr/>
            <p:nvPr/>
          </p:nvSpPr>
          <p:spPr>
            <a:xfrm>
              <a:off x="731520" y="5998464"/>
              <a:ext cx="10607040" cy="182880"/>
            </a:xfrm>
            <a:prstGeom prst="rect">
              <a:avLst/>
            </a:prstGeom>
            <a:noFill/>
            <a:ln/>
          </p:spPr>
          <p:txBody>
            <a:bodyPr wrap="square" lIns="0" tIns="0" rIns="0" bIns="0" rtlCol="0" anchor="ctr"/>
            <a:lstStyle/>
            <a:p>
              <a:pPr marL="0" indent="0" algn="ctr">
                <a:buNone/>
              </a:pPr>
              <a:r>
                <a:rPr lang="en-US" sz="1200" b="1">
                  <a:solidFill>
                    <a:srgbClr val="4E84C4"/>
                  </a:solidFill>
                </a:rPr>
                <a:t>Design principle: fixed schemas at runtime reduce generation freedom and improve consistency.</a:t>
              </a:r>
              <a:endParaRPr lang="en-US" sz="1200"/>
            </a:p>
          </p:txBody>
        </p:sp>
      </p:grpSp>
      <p:sp>
        <p:nvSpPr>
          <p:cNvPr id="35" name="Slide Number Placeholder 0"/>
          <p:cNvSpPr>
            <a:spLocks noGrp="1"/>
          </p:cNvSpPr>
          <p:nvPr>
            <p:ph type="sldNum" sz="quarter" idx="4294967295"/>
          </p:nvPr>
        </p:nvSpPr>
        <p:spPr>
          <a:xfrm>
            <a:off x="10652760" y="6510528"/>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77777"/>
                </a:solidFill>
              </a:defRPr>
            </a:lvl1pPr>
          </a:lstStyle>
          <a:p>
            <a:pPr algn="ct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191695" cy="91440"/>
          </a:xfrm>
          <a:prstGeom prst="rect">
            <a:avLst/>
          </a:prstGeom>
          <a:solidFill>
            <a:srgbClr val="FBB034"/>
          </a:solidFill>
          <a:ln w="12700">
            <a:solidFill>
              <a:srgbClr val="FBB034"/>
            </a:solidFill>
            <a:prstDash val="solid"/>
          </a:ln>
        </p:spPr>
      </p:sp>
      <p:sp>
        <p:nvSpPr>
          <p:cNvPr id="3" name="Text 1"/>
          <p:cNvSpPr/>
          <p:nvPr/>
        </p:nvSpPr>
        <p:spPr>
          <a:xfrm>
            <a:off x="475488" y="274320"/>
            <a:ext cx="6949440" cy="457200"/>
          </a:xfrm>
          <a:prstGeom prst="rect">
            <a:avLst/>
          </a:prstGeom>
          <a:noFill/>
          <a:ln/>
        </p:spPr>
        <p:txBody>
          <a:bodyPr wrap="square" lIns="318" tIns="318" rIns="318" bIns="318" rtlCol="0" anchor="ctr">
            <a:normAutofit/>
          </a:bodyPr>
          <a:lstStyle/>
          <a:p>
            <a:pPr marL="0" indent="0" algn="l">
              <a:buNone/>
            </a:pPr>
            <a:r>
              <a:rPr lang="en-US" sz="2600" b="1">
                <a:solidFill>
                  <a:srgbClr val="12233A"/>
                </a:solidFill>
                <a:latin typeface="Calibri Light" pitchFamily="34" charset="0"/>
                <a:ea typeface="Calibri Light" pitchFamily="34" charset="-122"/>
                <a:cs typeface="Calibri Light" pitchFamily="34" charset="-120"/>
              </a:rPr>
              <a:t>SDLC verification architecture</a:t>
            </a:r>
            <a:endParaRPr lang="en-US" sz="2600"/>
          </a:p>
        </p:txBody>
      </p:sp>
      <p:sp>
        <p:nvSpPr>
          <p:cNvPr id="4" name="Text 2"/>
          <p:cNvSpPr/>
          <p:nvPr/>
        </p:nvSpPr>
        <p:spPr>
          <a:xfrm>
            <a:off x="493776" y="768096"/>
            <a:ext cx="9875520" cy="274320"/>
          </a:xfrm>
          <a:prstGeom prst="rect">
            <a:avLst/>
          </a:prstGeom>
          <a:noFill/>
          <a:ln/>
        </p:spPr>
        <p:txBody>
          <a:bodyPr wrap="square" lIns="318" tIns="318" rIns="318" bIns="318" rtlCol="0" anchor="ctr">
            <a:normAutofit/>
          </a:bodyPr>
          <a:lstStyle/>
          <a:p>
            <a:pPr marL="0" indent="0" algn="l">
              <a:buNone/>
            </a:pPr>
            <a:r>
              <a:rPr lang="en-US" sz="1150">
                <a:solidFill>
                  <a:srgbClr val="667085"/>
                </a:solidFill>
                <a:latin typeface="Calibri Light" pitchFamily="34" charset="0"/>
                <a:ea typeface="Calibri Light" pitchFamily="34" charset="-122"/>
                <a:cs typeface="Calibri Light" pitchFamily="34" charset="-120"/>
              </a:rPr>
              <a:t>A controlled flow from natural-language requirements to executable verification and reviewer-ready evidence</a:t>
            </a:r>
            <a:endParaRPr lang="en-US" sz="1150"/>
          </a:p>
        </p:txBody>
      </p:sp>
      <p:sp>
        <p:nvSpPr>
          <p:cNvPr id="5" name="Shape 3"/>
          <p:cNvSpPr/>
          <p:nvPr/>
        </p:nvSpPr>
        <p:spPr>
          <a:xfrm>
            <a:off x="320040" y="1783080"/>
            <a:ext cx="960120" cy="2971800"/>
          </a:xfrm>
          <a:prstGeom prst="roundRect">
            <a:avLst>
              <a:gd name="adj" fmla="val 5238"/>
            </a:avLst>
          </a:prstGeom>
          <a:solidFill>
            <a:srgbClr val="F6F8FA"/>
          </a:solidFill>
          <a:ln w="14605">
            <a:solidFill>
              <a:srgbClr val="12233A"/>
            </a:solidFill>
            <a:prstDash val="solid"/>
          </a:ln>
          <a:effectLst>
            <a:outerShdw blurRad="12700" dist="3810" dir="2700000" algn="bl" rotWithShape="0">
              <a:srgbClr val="000000">
                <a:alpha val="8000"/>
              </a:srgbClr>
            </a:outerShdw>
          </a:effectLst>
        </p:spPr>
      </p:sp>
      <p:sp>
        <p:nvSpPr>
          <p:cNvPr id="6" name="Shape 4"/>
          <p:cNvSpPr/>
          <p:nvPr/>
        </p:nvSpPr>
        <p:spPr>
          <a:xfrm>
            <a:off x="411480" y="1892808"/>
            <a:ext cx="292608" cy="292608"/>
          </a:xfrm>
          <a:prstGeom prst="ellipse">
            <a:avLst/>
          </a:prstGeom>
          <a:solidFill>
            <a:srgbClr val="12233A"/>
          </a:solidFill>
          <a:ln w="12700">
            <a:solidFill>
              <a:srgbClr val="12233A"/>
            </a:solidFill>
            <a:prstDash val="solid"/>
          </a:ln>
        </p:spPr>
      </p:sp>
      <p:sp>
        <p:nvSpPr>
          <p:cNvPr id="7" name="Text 5"/>
          <p:cNvSpPr/>
          <p:nvPr/>
        </p:nvSpPr>
        <p:spPr>
          <a:xfrm>
            <a:off x="411480" y="1965960"/>
            <a:ext cx="292608" cy="118872"/>
          </a:xfrm>
          <a:prstGeom prst="rect">
            <a:avLst/>
          </a:prstGeom>
          <a:noFill/>
          <a:ln/>
        </p:spPr>
        <p:txBody>
          <a:bodyPr wrap="square" lIns="318" tIns="318" rIns="318" bIns="318" rtlCol="0" anchor="ctr">
            <a:normAutofit/>
          </a:bodyPr>
          <a:lstStyle/>
          <a:p>
            <a:pPr marL="0" indent="0" algn="ctr">
              <a:buNone/>
            </a:pPr>
            <a:r>
              <a:rPr lang="en-US" sz="850" b="1">
                <a:solidFill>
                  <a:srgbClr val="FFFFFF"/>
                </a:solidFill>
                <a:latin typeface="Calibri Light" pitchFamily="34" charset="0"/>
                <a:ea typeface="Calibri Light" pitchFamily="34" charset="-122"/>
                <a:cs typeface="Calibri Light" pitchFamily="34" charset="-120"/>
              </a:rPr>
              <a:t>1</a:t>
            </a:r>
            <a:endParaRPr lang="en-US" sz="850"/>
          </a:p>
        </p:txBody>
      </p:sp>
      <p:sp>
        <p:nvSpPr>
          <p:cNvPr id="8" name="Text 6"/>
          <p:cNvSpPr/>
          <p:nvPr/>
        </p:nvSpPr>
        <p:spPr>
          <a:xfrm>
            <a:off x="429768" y="2313432"/>
            <a:ext cx="740664" cy="420624"/>
          </a:xfrm>
          <a:prstGeom prst="rect">
            <a:avLst/>
          </a:prstGeom>
          <a:noFill/>
          <a:ln/>
        </p:spPr>
        <p:txBody>
          <a:bodyPr wrap="square" lIns="318" tIns="318" rIns="318" bIns="318" rtlCol="0" anchor="ctr">
            <a:normAutofit/>
          </a:bodyPr>
          <a:lstStyle/>
          <a:p>
            <a:pPr marL="0" indent="0" algn="ctr">
              <a:buNone/>
            </a:pPr>
            <a:r>
              <a:rPr lang="en-US" sz="1350" b="1">
                <a:solidFill>
                  <a:srgbClr val="12233A"/>
                </a:solidFill>
                <a:latin typeface="Calibri Light" pitchFamily="34" charset="0"/>
                <a:ea typeface="Calibri Light" pitchFamily="34" charset="-122"/>
                <a:cs typeface="Calibri Light" pitchFamily="34" charset="-120"/>
              </a:rPr>
              <a:t>SDLC input</a:t>
            </a:r>
            <a:endParaRPr lang="en-US" sz="1350"/>
          </a:p>
        </p:txBody>
      </p:sp>
      <p:sp>
        <p:nvSpPr>
          <p:cNvPr id="9" name="Text 7"/>
          <p:cNvSpPr/>
          <p:nvPr/>
        </p:nvSpPr>
        <p:spPr>
          <a:xfrm>
            <a:off x="448056" y="2862072"/>
            <a:ext cx="704088" cy="1709928"/>
          </a:xfrm>
          <a:prstGeom prst="rect">
            <a:avLst/>
          </a:prstGeom>
          <a:noFill/>
          <a:ln/>
        </p:spPr>
        <p:txBody>
          <a:bodyPr wrap="square" lIns="318" tIns="318" rIns="318" bIns="318" rtlCol="0" anchor="ctr">
            <a:normAutofit/>
          </a:bodyPr>
          <a:lstStyle/>
          <a:p>
            <a:pPr marL="0" indent="0" algn="ctr">
              <a:buNone/>
            </a:pPr>
            <a:r>
              <a:rPr lang="en-US" sz="910">
                <a:solidFill>
                  <a:srgbClr val="667085"/>
                </a:solidFill>
                <a:latin typeface="Calibri Light" pitchFamily="34" charset="0"/>
                <a:ea typeface="Calibri Light" pitchFamily="34" charset="-122"/>
                <a:cs typeface="Calibri Light" pitchFamily="34" charset="-120"/>
              </a:rPr>
              <a:t>SRS, BRD, policies and constraints</a:t>
            </a:r>
            <a:endParaRPr lang="en-US" sz="910"/>
          </a:p>
        </p:txBody>
      </p:sp>
      <p:sp>
        <p:nvSpPr>
          <p:cNvPr id="10" name="Shape 8"/>
          <p:cNvSpPr/>
          <p:nvPr/>
        </p:nvSpPr>
        <p:spPr>
          <a:xfrm>
            <a:off x="1481328" y="1783080"/>
            <a:ext cx="1353312" cy="2971800"/>
          </a:xfrm>
          <a:prstGeom prst="roundRect">
            <a:avLst>
              <a:gd name="adj" fmla="val 3716"/>
            </a:avLst>
          </a:prstGeom>
          <a:solidFill>
            <a:srgbClr val="FFF6E4"/>
          </a:solidFill>
          <a:ln w="14605">
            <a:solidFill>
              <a:srgbClr val="FBB034"/>
            </a:solidFill>
            <a:prstDash val="solid"/>
          </a:ln>
          <a:effectLst/>
        </p:spPr>
      </p:sp>
      <p:sp>
        <p:nvSpPr>
          <p:cNvPr id="11" name="Shape 9"/>
          <p:cNvSpPr/>
          <p:nvPr/>
        </p:nvSpPr>
        <p:spPr>
          <a:xfrm>
            <a:off x="1572768" y="1892808"/>
            <a:ext cx="292608" cy="292608"/>
          </a:xfrm>
          <a:prstGeom prst="ellipse">
            <a:avLst/>
          </a:prstGeom>
          <a:solidFill>
            <a:srgbClr val="FBB034"/>
          </a:solidFill>
          <a:ln w="12700">
            <a:solidFill>
              <a:srgbClr val="FBB034"/>
            </a:solidFill>
            <a:prstDash val="solid"/>
          </a:ln>
        </p:spPr>
      </p:sp>
      <p:sp>
        <p:nvSpPr>
          <p:cNvPr id="12" name="Text 10"/>
          <p:cNvSpPr/>
          <p:nvPr/>
        </p:nvSpPr>
        <p:spPr>
          <a:xfrm>
            <a:off x="1572768" y="1965960"/>
            <a:ext cx="292608" cy="118872"/>
          </a:xfrm>
          <a:prstGeom prst="rect">
            <a:avLst/>
          </a:prstGeom>
          <a:noFill/>
          <a:ln/>
        </p:spPr>
        <p:txBody>
          <a:bodyPr wrap="square" lIns="318" tIns="318" rIns="318" bIns="318" rtlCol="0" anchor="ctr">
            <a:normAutofit/>
          </a:bodyPr>
          <a:lstStyle/>
          <a:p>
            <a:pPr marL="0" indent="0" algn="ctr">
              <a:buNone/>
            </a:pPr>
            <a:r>
              <a:rPr lang="en-US" sz="850" b="1">
                <a:solidFill>
                  <a:srgbClr val="FFFFFF"/>
                </a:solidFill>
                <a:latin typeface="Calibri Light" pitchFamily="34" charset="0"/>
                <a:ea typeface="Calibri Light" pitchFamily="34" charset="-122"/>
                <a:cs typeface="Calibri Light" pitchFamily="34" charset="-120"/>
              </a:rPr>
              <a:t>2</a:t>
            </a:r>
            <a:endParaRPr lang="en-US" sz="850"/>
          </a:p>
        </p:txBody>
      </p:sp>
      <p:sp>
        <p:nvSpPr>
          <p:cNvPr id="13" name="Text 11"/>
          <p:cNvSpPr/>
          <p:nvPr/>
        </p:nvSpPr>
        <p:spPr>
          <a:xfrm>
            <a:off x="1591056" y="2313432"/>
            <a:ext cx="1133856" cy="420624"/>
          </a:xfrm>
          <a:prstGeom prst="rect">
            <a:avLst/>
          </a:prstGeom>
          <a:noFill/>
          <a:ln/>
        </p:spPr>
        <p:txBody>
          <a:bodyPr wrap="square" lIns="318" tIns="318" rIns="318" bIns="318" rtlCol="0" anchor="ctr">
            <a:normAutofit/>
          </a:bodyPr>
          <a:lstStyle/>
          <a:p>
            <a:pPr marL="0" indent="0" algn="ctr">
              <a:buNone/>
            </a:pPr>
            <a:r>
              <a:rPr lang="en-US" sz="1350" b="1">
                <a:solidFill>
                  <a:srgbClr val="12233A"/>
                </a:solidFill>
                <a:latin typeface="Calibri Light" pitchFamily="34" charset="0"/>
                <a:ea typeface="Calibri Light" pitchFamily="34" charset="-122"/>
                <a:cs typeface="Calibri Light" pitchFamily="34" charset="-120"/>
              </a:rPr>
              <a:t>Context + ambiguity extraction</a:t>
            </a:r>
            <a:endParaRPr lang="en-US" sz="1350"/>
          </a:p>
        </p:txBody>
      </p:sp>
      <p:sp>
        <p:nvSpPr>
          <p:cNvPr id="14" name="Text 12"/>
          <p:cNvSpPr/>
          <p:nvPr/>
        </p:nvSpPr>
        <p:spPr>
          <a:xfrm>
            <a:off x="1609344" y="2862072"/>
            <a:ext cx="1097280" cy="1709928"/>
          </a:xfrm>
          <a:prstGeom prst="rect">
            <a:avLst/>
          </a:prstGeom>
          <a:noFill/>
          <a:ln/>
        </p:spPr>
        <p:txBody>
          <a:bodyPr wrap="square" lIns="318" tIns="318" rIns="318" bIns="318" rtlCol="0" anchor="ctr">
            <a:normAutofit/>
          </a:bodyPr>
          <a:lstStyle/>
          <a:p>
            <a:pPr marL="0" indent="0" algn="ctr">
              <a:buNone/>
            </a:pPr>
            <a:r>
              <a:rPr lang="en-US" sz="910">
                <a:solidFill>
                  <a:srgbClr val="667085"/>
                </a:solidFill>
                <a:latin typeface="Calibri Light" pitchFamily="34" charset="0"/>
                <a:ea typeface="Calibri Light" pitchFamily="34" charset="-122"/>
                <a:cs typeface="Calibri Light" pitchFamily="34" charset="-120"/>
              </a:rPr>
              <a:t>Build context, identify direct ambiguities and ask focused questions</a:t>
            </a:r>
            <a:endParaRPr lang="en-US" sz="910"/>
          </a:p>
        </p:txBody>
      </p:sp>
      <p:sp>
        <p:nvSpPr>
          <p:cNvPr id="15" name="Shape 13"/>
          <p:cNvSpPr/>
          <p:nvPr/>
        </p:nvSpPr>
        <p:spPr>
          <a:xfrm>
            <a:off x="3035808" y="1783080"/>
            <a:ext cx="1060704" cy="2971800"/>
          </a:xfrm>
          <a:prstGeom prst="roundRect">
            <a:avLst>
              <a:gd name="adj" fmla="val 4741"/>
            </a:avLst>
          </a:prstGeom>
          <a:solidFill>
            <a:srgbClr val="FFFFFF"/>
          </a:solidFill>
          <a:ln w="14605">
            <a:solidFill>
              <a:srgbClr val="4E84C4"/>
            </a:solidFill>
            <a:prstDash val="solid"/>
          </a:ln>
          <a:effectLst/>
        </p:spPr>
      </p:sp>
      <p:sp>
        <p:nvSpPr>
          <p:cNvPr id="16" name="Shape 14"/>
          <p:cNvSpPr/>
          <p:nvPr/>
        </p:nvSpPr>
        <p:spPr>
          <a:xfrm>
            <a:off x="3127248" y="1892808"/>
            <a:ext cx="292608" cy="292608"/>
          </a:xfrm>
          <a:prstGeom prst="ellipse">
            <a:avLst/>
          </a:prstGeom>
          <a:solidFill>
            <a:srgbClr val="4E84C4"/>
          </a:solidFill>
          <a:ln w="12700">
            <a:solidFill>
              <a:srgbClr val="4E84C4"/>
            </a:solidFill>
            <a:prstDash val="solid"/>
          </a:ln>
        </p:spPr>
      </p:sp>
      <p:sp>
        <p:nvSpPr>
          <p:cNvPr id="17" name="Text 15"/>
          <p:cNvSpPr/>
          <p:nvPr/>
        </p:nvSpPr>
        <p:spPr>
          <a:xfrm>
            <a:off x="3127248" y="1965960"/>
            <a:ext cx="292608" cy="118872"/>
          </a:xfrm>
          <a:prstGeom prst="rect">
            <a:avLst/>
          </a:prstGeom>
          <a:noFill/>
          <a:ln/>
        </p:spPr>
        <p:txBody>
          <a:bodyPr wrap="square" lIns="318" tIns="318" rIns="318" bIns="318" rtlCol="0" anchor="ctr">
            <a:normAutofit/>
          </a:bodyPr>
          <a:lstStyle/>
          <a:p>
            <a:pPr marL="0" indent="0" algn="ctr">
              <a:buNone/>
            </a:pPr>
            <a:r>
              <a:rPr lang="en-US" sz="850" b="1">
                <a:solidFill>
                  <a:srgbClr val="FFFFFF"/>
                </a:solidFill>
                <a:latin typeface="Calibri Light" pitchFamily="34" charset="0"/>
                <a:ea typeface="Calibri Light" pitchFamily="34" charset="-122"/>
                <a:cs typeface="Calibri Light" pitchFamily="34" charset="-120"/>
              </a:rPr>
              <a:t>3</a:t>
            </a:r>
            <a:endParaRPr lang="en-US" sz="850"/>
          </a:p>
        </p:txBody>
      </p:sp>
      <p:sp>
        <p:nvSpPr>
          <p:cNvPr id="18" name="Text 16"/>
          <p:cNvSpPr/>
          <p:nvPr/>
        </p:nvSpPr>
        <p:spPr>
          <a:xfrm>
            <a:off x="3029790" y="2313432"/>
            <a:ext cx="947349" cy="439915"/>
          </a:xfrm>
          <a:prstGeom prst="rect">
            <a:avLst/>
          </a:prstGeom>
          <a:noFill/>
          <a:ln/>
        </p:spPr>
        <p:txBody>
          <a:bodyPr wrap="square" lIns="318" tIns="318" rIns="318" bIns="318" rtlCol="0" anchor="ctr">
            <a:normAutofit/>
          </a:bodyPr>
          <a:lstStyle/>
          <a:p>
            <a:pPr marL="0" indent="0" algn="ctr">
              <a:buNone/>
            </a:pPr>
            <a:r>
              <a:rPr lang="en-US" sz="1350" b="1">
                <a:solidFill>
                  <a:srgbClr val="12233A"/>
                </a:solidFill>
                <a:latin typeface="Calibri Light" pitchFamily="34" charset="0"/>
                <a:ea typeface="Calibri Light" pitchFamily="34" charset="-122"/>
                <a:cs typeface="Calibri Light" pitchFamily="34" charset="-120"/>
              </a:rPr>
              <a:t>Refined requirement</a:t>
            </a:r>
            <a:endParaRPr lang="en-US" sz="1350"/>
          </a:p>
        </p:txBody>
      </p:sp>
      <p:sp>
        <p:nvSpPr>
          <p:cNvPr id="19" name="Text 17"/>
          <p:cNvSpPr/>
          <p:nvPr/>
        </p:nvSpPr>
        <p:spPr>
          <a:xfrm>
            <a:off x="3163824" y="2862072"/>
            <a:ext cx="804672" cy="1709928"/>
          </a:xfrm>
          <a:prstGeom prst="rect">
            <a:avLst/>
          </a:prstGeom>
          <a:noFill/>
          <a:ln/>
        </p:spPr>
        <p:txBody>
          <a:bodyPr wrap="square" lIns="318" tIns="318" rIns="318" bIns="318" rtlCol="0" anchor="ctr">
            <a:normAutofit/>
          </a:bodyPr>
          <a:lstStyle/>
          <a:p>
            <a:pPr marL="0" indent="0" algn="ctr">
              <a:buNone/>
            </a:pPr>
            <a:r>
              <a:rPr lang="en-US" sz="910">
                <a:solidFill>
                  <a:srgbClr val="667085"/>
                </a:solidFill>
                <a:latin typeface="Calibri Light" pitchFamily="34" charset="0"/>
                <a:ea typeface="Calibri Light" pitchFamily="34" charset="-122"/>
                <a:cs typeface="Calibri Light" pitchFamily="34" charset="-120"/>
              </a:rPr>
              <a:t>Clarified, testable requirement statement</a:t>
            </a:r>
            <a:endParaRPr lang="en-US" sz="910"/>
          </a:p>
        </p:txBody>
      </p:sp>
      <p:sp>
        <p:nvSpPr>
          <p:cNvPr id="20" name="Shape 18"/>
          <p:cNvSpPr/>
          <p:nvPr/>
        </p:nvSpPr>
        <p:spPr>
          <a:xfrm>
            <a:off x="4297680" y="1783080"/>
            <a:ext cx="1060704" cy="2971800"/>
          </a:xfrm>
          <a:prstGeom prst="roundRect">
            <a:avLst>
              <a:gd name="adj" fmla="val 4741"/>
            </a:avLst>
          </a:prstGeom>
          <a:solidFill>
            <a:srgbClr val="FFFFFF"/>
          </a:solidFill>
          <a:ln w="14605">
            <a:solidFill>
              <a:srgbClr val="4E84C4"/>
            </a:solidFill>
            <a:prstDash val="solid"/>
          </a:ln>
          <a:effectLst/>
        </p:spPr>
      </p:sp>
      <p:sp>
        <p:nvSpPr>
          <p:cNvPr id="21" name="Shape 19"/>
          <p:cNvSpPr/>
          <p:nvPr/>
        </p:nvSpPr>
        <p:spPr>
          <a:xfrm>
            <a:off x="4389120" y="1892808"/>
            <a:ext cx="292608" cy="292608"/>
          </a:xfrm>
          <a:prstGeom prst="ellipse">
            <a:avLst/>
          </a:prstGeom>
          <a:solidFill>
            <a:srgbClr val="4E84C4"/>
          </a:solidFill>
          <a:ln w="12700">
            <a:solidFill>
              <a:srgbClr val="4E84C4"/>
            </a:solidFill>
            <a:prstDash val="solid"/>
          </a:ln>
        </p:spPr>
      </p:sp>
      <p:sp>
        <p:nvSpPr>
          <p:cNvPr id="22" name="Text 20"/>
          <p:cNvSpPr/>
          <p:nvPr/>
        </p:nvSpPr>
        <p:spPr>
          <a:xfrm>
            <a:off x="4389120" y="1965960"/>
            <a:ext cx="292608" cy="118872"/>
          </a:xfrm>
          <a:prstGeom prst="rect">
            <a:avLst/>
          </a:prstGeom>
          <a:noFill/>
          <a:ln/>
        </p:spPr>
        <p:txBody>
          <a:bodyPr wrap="square" lIns="318" tIns="318" rIns="318" bIns="318" rtlCol="0" anchor="ctr">
            <a:normAutofit/>
          </a:bodyPr>
          <a:lstStyle/>
          <a:p>
            <a:pPr marL="0" indent="0" algn="ctr">
              <a:buNone/>
            </a:pPr>
            <a:r>
              <a:rPr lang="en-US" sz="850" b="1">
                <a:solidFill>
                  <a:srgbClr val="FFFFFF"/>
                </a:solidFill>
                <a:latin typeface="Calibri Light" pitchFamily="34" charset="0"/>
                <a:ea typeface="Calibri Light" pitchFamily="34" charset="-122"/>
                <a:cs typeface="Calibri Light" pitchFamily="34" charset="-120"/>
              </a:rPr>
              <a:t>4</a:t>
            </a:r>
            <a:endParaRPr lang="en-US" sz="850"/>
          </a:p>
        </p:txBody>
      </p:sp>
      <p:sp>
        <p:nvSpPr>
          <p:cNvPr id="23" name="Text 21"/>
          <p:cNvSpPr/>
          <p:nvPr/>
        </p:nvSpPr>
        <p:spPr>
          <a:xfrm>
            <a:off x="4407408" y="2313432"/>
            <a:ext cx="841248" cy="420624"/>
          </a:xfrm>
          <a:prstGeom prst="rect">
            <a:avLst/>
          </a:prstGeom>
          <a:noFill/>
          <a:ln/>
        </p:spPr>
        <p:txBody>
          <a:bodyPr wrap="square" lIns="318" tIns="318" rIns="318" bIns="318" rtlCol="0" anchor="ctr">
            <a:normAutofit/>
          </a:bodyPr>
          <a:lstStyle/>
          <a:p>
            <a:pPr marL="0" indent="0" algn="ctr">
              <a:buNone/>
            </a:pPr>
            <a:r>
              <a:rPr lang="en-US" sz="1350" b="1">
                <a:solidFill>
                  <a:srgbClr val="12233A"/>
                </a:solidFill>
                <a:latin typeface="Calibri Light" pitchFamily="34" charset="0"/>
                <a:ea typeface="Calibri Light" pitchFamily="34" charset="-122"/>
                <a:cs typeface="Calibri Light" pitchFamily="34" charset="-120"/>
              </a:rPr>
              <a:t>Refined context</a:t>
            </a:r>
            <a:endParaRPr lang="en-US" sz="1350"/>
          </a:p>
        </p:txBody>
      </p:sp>
      <p:sp>
        <p:nvSpPr>
          <p:cNvPr id="24" name="Text 22"/>
          <p:cNvSpPr/>
          <p:nvPr/>
        </p:nvSpPr>
        <p:spPr>
          <a:xfrm>
            <a:off x="4425696" y="2862072"/>
            <a:ext cx="804672" cy="1709928"/>
          </a:xfrm>
          <a:prstGeom prst="rect">
            <a:avLst/>
          </a:prstGeom>
          <a:noFill/>
          <a:ln/>
        </p:spPr>
        <p:txBody>
          <a:bodyPr wrap="square" lIns="318" tIns="318" rIns="318" bIns="318" rtlCol="0" anchor="ctr">
            <a:normAutofit/>
          </a:bodyPr>
          <a:lstStyle/>
          <a:p>
            <a:pPr marL="0" indent="0" algn="ctr">
              <a:buNone/>
            </a:pPr>
            <a:r>
              <a:rPr lang="en-US" sz="910">
                <a:solidFill>
                  <a:srgbClr val="667085"/>
                </a:solidFill>
                <a:latin typeface="Calibri Light" pitchFamily="34" charset="0"/>
                <a:ea typeface="Calibri Light" pitchFamily="34" charset="-122"/>
                <a:cs typeface="Calibri Light" pitchFamily="34" charset="-120"/>
              </a:rPr>
              <a:t>Decisions, definitions and source trace</a:t>
            </a:r>
            <a:endParaRPr lang="en-US" sz="910"/>
          </a:p>
        </p:txBody>
      </p:sp>
      <p:sp>
        <p:nvSpPr>
          <p:cNvPr id="25" name="Shape 23"/>
          <p:cNvSpPr/>
          <p:nvPr/>
        </p:nvSpPr>
        <p:spPr>
          <a:xfrm>
            <a:off x="5559552" y="1783080"/>
            <a:ext cx="1207008" cy="2971800"/>
          </a:xfrm>
          <a:prstGeom prst="roundRect">
            <a:avLst>
              <a:gd name="adj" fmla="val 4167"/>
            </a:avLst>
          </a:prstGeom>
          <a:solidFill>
            <a:srgbClr val="FFF6E4"/>
          </a:solidFill>
          <a:ln w="14605">
            <a:solidFill>
              <a:srgbClr val="FBB034"/>
            </a:solidFill>
            <a:prstDash val="solid"/>
          </a:ln>
          <a:effectLst/>
        </p:spPr>
      </p:sp>
      <p:sp>
        <p:nvSpPr>
          <p:cNvPr id="26" name="Shape 24"/>
          <p:cNvSpPr/>
          <p:nvPr/>
        </p:nvSpPr>
        <p:spPr>
          <a:xfrm>
            <a:off x="5650992" y="1892808"/>
            <a:ext cx="292608" cy="292608"/>
          </a:xfrm>
          <a:prstGeom prst="ellipse">
            <a:avLst/>
          </a:prstGeom>
          <a:solidFill>
            <a:srgbClr val="FBB034"/>
          </a:solidFill>
          <a:ln w="12700">
            <a:solidFill>
              <a:srgbClr val="FBB034"/>
            </a:solidFill>
            <a:prstDash val="solid"/>
          </a:ln>
        </p:spPr>
      </p:sp>
      <p:sp>
        <p:nvSpPr>
          <p:cNvPr id="27" name="Text 25"/>
          <p:cNvSpPr/>
          <p:nvPr/>
        </p:nvSpPr>
        <p:spPr>
          <a:xfrm>
            <a:off x="5650992" y="1965960"/>
            <a:ext cx="292608" cy="118872"/>
          </a:xfrm>
          <a:prstGeom prst="rect">
            <a:avLst/>
          </a:prstGeom>
          <a:noFill/>
          <a:ln/>
        </p:spPr>
        <p:txBody>
          <a:bodyPr wrap="square" lIns="318" tIns="318" rIns="318" bIns="318" rtlCol="0" anchor="ctr">
            <a:normAutofit/>
          </a:bodyPr>
          <a:lstStyle/>
          <a:p>
            <a:pPr marL="0" indent="0" algn="ctr">
              <a:buNone/>
            </a:pPr>
            <a:r>
              <a:rPr lang="en-US" sz="850" b="1">
                <a:solidFill>
                  <a:srgbClr val="FFFFFF"/>
                </a:solidFill>
                <a:latin typeface="Calibri Light" pitchFamily="34" charset="0"/>
                <a:ea typeface="Calibri Light" pitchFamily="34" charset="-122"/>
                <a:cs typeface="Calibri Light" pitchFamily="34" charset="-120"/>
              </a:rPr>
              <a:t>5</a:t>
            </a:r>
            <a:endParaRPr lang="en-US" sz="850"/>
          </a:p>
        </p:txBody>
      </p:sp>
      <p:sp>
        <p:nvSpPr>
          <p:cNvPr id="28" name="Text 26"/>
          <p:cNvSpPr/>
          <p:nvPr/>
        </p:nvSpPr>
        <p:spPr>
          <a:xfrm>
            <a:off x="5669280" y="2313432"/>
            <a:ext cx="987552" cy="420624"/>
          </a:xfrm>
          <a:prstGeom prst="rect">
            <a:avLst/>
          </a:prstGeom>
          <a:noFill/>
          <a:ln/>
        </p:spPr>
        <p:txBody>
          <a:bodyPr wrap="square" lIns="318" tIns="318" rIns="318" bIns="318" rtlCol="0" anchor="ctr">
            <a:normAutofit/>
          </a:bodyPr>
          <a:lstStyle/>
          <a:p>
            <a:pPr marL="0" indent="0" algn="ctr">
              <a:buNone/>
            </a:pPr>
            <a:r>
              <a:rPr lang="en-US" sz="1350" b="1">
                <a:solidFill>
                  <a:srgbClr val="12233A"/>
                </a:solidFill>
                <a:latin typeface="Calibri Light" pitchFamily="34" charset="0"/>
                <a:ea typeface="Calibri Light" pitchFamily="34" charset="-122"/>
                <a:cs typeface="Calibri Light" pitchFamily="34" charset="-120"/>
              </a:rPr>
              <a:t>Formal IR</a:t>
            </a:r>
            <a:endParaRPr lang="en-US" sz="1350"/>
          </a:p>
        </p:txBody>
      </p:sp>
      <p:sp>
        <p:nvSpPr>
          <p:cNvPr id="29" name="Shape 27"/>
          <p:cNvSpPr/>
          <p:nvPr/>
        </p:nvSpPr>
        <p:spPr>
          <a:xfrm>
            <a:off x="6967728" y="1783080"/>
            <a:ext cx="1261872" cy="2971800"/>
          </a:xfrm>
          <a:prstGeom prst="roundRect">
            <a:avLst>
              <a:gd name="adj" fmla="val 3986"/>
            </a:avLst>
          </a:prstGeom>
          <a:solidFill>
            <a:srgbClr val="EAF2FB"/>
          </a:solidFill>
          <a:ln w="14605">
            <a:solidFill>
              <a:srgbClr val="4E84C4"/>
            </a:solidFill>
            <a:prstDash val="solid"/>
          </a:ln>
          <a:effectLst/>
        </p:spPr>
      </p:sp>
      <p:sp>
        <p:nvSpPr>
          <p:cNvPr id="30" name="Shape 28"/>
          <p:cNvSpPr/>
          <p:nvPr/>
        </p:nvSpPr>
        <p:spPr>
          <a:xfrm>
            <a:off x="7059168" y="1892808"/>
            <a:ext cx="292608" cy="292608"/>
          </a:xfrm>
          <a:prstGeom prst="ellipse">
            <a:avLst/>
          </a:prstGeom>
          <a:solidFill>
            <a:srgbClr val="4E84C4"/>
          </a:solidFill>
          <a:ln w="12700">
            <a:solidFill>
              <a:srgbClr val="4E84C4"/>
            </a:solidFill>
            <a:prstDash val="solid"/>
          </a:ln>
        </p:spPr>
      </p:sp>
      <p:sp>
        <p:nvSpPr>
          <p:cNvPr id="31" name="Text 29"/>
          <p:cNvSpPr/>
          <p:nvPr/>
        </p:nvSpPr>
        <p:spPr>
          <a:xfrm>
            <a:off x="7059168" y="1965960"/>
            <a:ext cx="292608" cy="118872"/>
          </a:xfrm>
          <a:prstGeom prst="rect">
            <a:avLst/>
          </a:prstGeom>
          <a:noFill/>
          <a:ln/>
        </p:spPr>
        <p:txBody>
          <a:bodyPr wrap="square" lIns="318" tIns="318" rIns="318" bIns="318" rtlCol="0" anchor="ctr">
            <a:normAutofit/>
          </a:bodyPr>
          <a:lstStyle/>
          <a:p>
            <a:pPr marL="0" indent="0" algn="ctr">
              <a:buNone/>
            </a:pPr>
            <a:r>
              <a:rPr lang="en-US" sz="850" b="1">
                <a:solidFill>
                  <a:srgbClr val="FFFFFF"/>
                </a:solidFill>
                <a:latin typeface="Calibri Light" pitchFamily="34" charset="0"/>
                <a:ea typeface="Calibri Light" pitchFamily="34" charset="-122"/>
                <a:cs typeface="Calibri Light" pitchFamily="34" charset="-120"/>
              </a:rPr>
              <a:t>6</a:t>
            </a:r>
            <a:endParaRPr lang="en-US" sz="850"/>
          </a:p>
        </p:txBody>
      </p:sp>
      <p:sp>
        <p:nvSpPr>
          <p:cNvPr id="32" name="Text 30"/>
          <p:cNvSpPr/>
          <p:nvPr/>
        </p:nvSpPr>
        <p:spPr>
          <a:xfrm>
            <a:off x="7077456" y="2313432"/>
            <a:ext cx="1042416" cy="420624"/>
          </a:xfrm>
          <a:prstGeom prst="rect">
            <a:avLst/>
          </a:prstGeom>
          <a:noFill/>
          <a:ln/>
        </p:spPr>
        <p:txBody>
          <a:bodyPr wrap="square" lIns="318" tIns="318" rIns="318" bIns="318" rtlCol="0" anchor="ctr">
            <a:normAutofit/>
          </a:bodyPr>
          <a:lstStyle/>
          <a:p>
            <a:pPr marL="0" indent="0" algn="ctr">
              <a:buNone/>
            </a:pPr>
            <a:r>
              <a:rPr lang="en-US" sz="1350" b="1">
                <a:solidFill>
                  <a:srgbClr val="12233A"/>
                </a:solidFill>
                <a:latin typeface="Calibri Light" pitchFamily="34" charset="0"/>
                <a:ea typeface="Calibri Light" pitchFamily="34" charset="-122"/>
                <a:cs typeface="Calibri Light" pitchFamily="34" charset="-120"/>
              </a:rPr>
              <a:t>Code generation</a:t>
            </a:r>
            <a:endParaRPr lang="en-US" sz="1350"/>
          </a:p>
        </p:txBody>
      </p:sp>
      <p:sp>
        <p:nvSpPr>
          <p:cNvPr id="33" name="Shape 31"/>
          <p:cNvSpPr/>
          <p:nvPr/>
        </p:nvSpPr>
        <p:spPr>
          <a:xfrm>
            <a:off x="8430768" y="1783080"/>
            <a:ext cx="1152144" cy="2971800"/>
          </a:xfrm>
          <a:prstGeom prst="roundRect">
            <a:avLst>
              <a:gd name="adj" fmla="val 4365"/>
            </a:avLst>
          </a:prstGeom>
          <a:solidFill>
            <a:srgbClr val="EAF2FB"/>
          </a:solidFill>
          <a:ln w="14605">
            <a:solidFill>
              <a:srgbClr val="4E84C4"/>
            </a:solidFill>
            <a:prstDash val="solid"/>
          </a:ln>
          <a:effectLst/>
        </p:spPr>
      </p:sp>
      <p:sp>
        <p:nvSpPr>
          <p:cNvPr id="34" name="Shape 32"/>
          <p:cNvSpPr/>
          <p:nvPr/>
        </p:nvSpPr>
        <p:spPr>
          <a:xfrm>
            <a:off x="8522208" y="1892808"/>
            <a:ext cx="292608" cy="292608"/>
          </a:xfrm>
          <a:prstGeom prst="ellipse">
            <a:avLst/>
          </a:prstGeom>
          <a:solidFill>
            <a:srgbClr val="4E84C4"/>
          </a:solidFill>
          <a:ln w="12700">
            <a:solidFill>
              <a:srgbClr val="4E84C4"/>
            </a:solidFill>
            <a:prstDash val="solid"/>
          </a:ln>
        </p:spPr>
      </p:sp>
      <p:sp>
        <p:nvSpPr>
          <p:cNvPr id="35" name="Text 33"/>
          <p:cNvSpPr/>
          <p:nvPr/>
        </p:nvSpPr>
        <p:spPr>
          <a:xfrm>
            <a:off x="8522208" y="1965960"/>
            <a:ext cx="292608" cy="118872"/>
          </a:xfrm>
          <a:prstGeom prst="rect">
            <a:avLst/>
          </a:prstGeom>
          <a:noFill/>
          <a:ln/>
        </p:spPr>
        <p:txBody>
          <a:bodyPr wrap="square" lIns="318" tIns="318" rIns="318" bIns="318" rtlCol="0" anchor="ctr">
            <a:normAutofit/>
          </a:bodyPr>
          <a:lstStyle/>
          <a:p>
            <a:pPr marL="0" indent="0" algn="ctr">
              <a:buNone/>
            </a:pPr>
            <a:r>
              <a:rPr lang="en-US" sz="850" b="1">
                <a:solidFill>
                  <a:srgbClr val="FFFFFF"/>
                </a:solidFill>
                <a:latin typeface="Calibri Light" pitchFamily="34" charset="0"/>
                <a:ea typeface="Calibri Light" pitchFamily="34" charset="-122"/>
                <a:cs typeface="Calibri Light" pitchFamily="34" charset="-120"/>
              </a:rPr>
              <a:t>7</a:t>
            </a:r>
            <a:endParaRPr lang="en-US" sz="850"/>
          </a:p>
        </p:txBody>
      </p:sp>
      <p:sp>
        <p:nvSpPr>
          <p:cNvPr id="36" name="Text 34"/>
          <p:cNvSpPr/>
          <p:nvPr/>
        </p:nvSpPr>
        <p:spPr>
          <a:xfrm>
            <a:off x="8540496" y="2313432"/>
            <a:ext cx="932688" cy="420624"/>
          </a:xfrm>
          <a:prstGeom prst="rect">
            <a:avLst/>
          </a:prstGeom>
          <a:noFill/>
          <a:ln/>
        </p:spPr>
        <p:txBody>
          <a:bodyPr wrap="square" lIns="318" tIns="318" rIns="318" bIns="318" rtlCol="0" anchor="ctr">
            <a:normAutofit/>
          </a:bodyPr>
          <a:lstStyle/>
          <a:p>
            <a:pPr marL="0" indent="0" algn="ctr">
              <a:buNone/>
            </a:pPr>
            <a:r>
              <a:rPr lang="en-US" sz="1350" b="1">
                <a:solidFill>
                  <a:srgbClr val="12233A"/>
                </a:solidFill>
                <a:latin typeface="Calibri Light" pitchFamily="34" charset="0"/>
                <a:ea typeface="Calibri Light" pitchFamily="34" charset="-122"/>
                <a:cs typeface="Calibri Light" pitchFamily="34" charset="-120"/>
              </a:rPr>
              <a:t>Same test cases</a:t>
            </a:r>
            <a:endParaRPr lang="en-US" sz="1350"/>
          </a:p>
        </p:txBody>
      </p:sp>
      <p:sp>
        <p:nvSpPr>
          <p:cNvPr id="37" name="Text 35"/>
          <p:cNvSpPr/>
          <p:nvPr/>
        </p:nvSpPr>
        <p:spPr>
          <a:xfrm>
            <a:off x="8558784" y="2862072"/>
            <a:ext cx="896112" cy="1709928"/>
          </a:xfrm>
          <a:prstGeom prst="rect">
            <a:avLst/>
          </a:prstGeom>
          <a:noFill/>
          <a:ln/>
        </p:spPr>
        <p:txBody>
          <a:bodyPr wrap="square" lIns="318" tIns="318" rIns="318" bIns="318" rtlCol="0" anchor="ctr">
            <a:normAutofit/>
          </a:bodyPr>
          <a:lstStyle/>
          <a:p>
            <a:pPr marL="0" indent="0" algn="ctr">
              <a:buNone/>
            </a:pPr>
            <a:r>
              <a:rPr lang="en-US" sz="910">
                <a:solidFill>
                  <a:srgbClr val="667085"/>
                </a:solidFill>
                <a:latin typeface="Calibri Light" pitchFamily="34" charset="0"/>
                <a:ea typeface="Calibri Light" pitchFamily="34" charset="-122"/>
                <a:cs typeface="Calibri Light" pitchFamily="34" charset="-120"/>
              </a:rPr>
              <a:t>Identical verification library applied to both paths</a:t>
            </a:r>
            <a:endParaRPr lang="en-US" sz="910"/>
          </a:p>
        </p:txBody>
      </p:sp>
      <p:sp>
        <p:nvSpPr>
          <p:cNvPr id="38" name="Shape 36"/>
          <p:cNvSpPr/>
          <p:nvPr/>
        </p:nvSpPr>
        <p:spPr>
          <a:xfrm>
            <a:off x="9784080" y="1783080"/>
            <a:ext cx="2084832" cy="2971800"/>
          </a:xfrm>
          <a:prstGeom prst="roundRect">
            <a:avLst>
              <a:gd name="adj" fmla="val 2412"/>
            </a:avLst>
          </a:prstGeom>
          <a:solidFill>
            <a:srgbClr val="F6F8FA"/>
          </a:solidFill>
          <a:ln w="14605">
            <a:solidFill>
              <a:srgbClr val="12233A"/>
            </a:solidFill>
            <a:prstDash val="solid"/>
          </a:ln>
          <a:effectLst/>
        </p:spPr>
      </p:sp>
      <p:sp>
        <p:nvSpPr>
          <p:cNvPr id="39" name="Shape 37"/>
          <p:cNvSpPr/>
          <p:nvPr/>
        </p:nvSpPr>
        <p:spPr>
          <a:xfrm>
            <a:off x="9875520" y="1892808"/>
            <a:ext cx="292608" cy="292608"/>
          </a:xfrm>
          <a:prstGeom prst="ellipse">
            <a:avLst/>
          </a:prstGeom>
          <a:solidFill>
            <a:srgbClr val="12233A"/>
          </a:solidFill>
          <a:ln w="12700">
            <a:solidFill>
              <a:srgbClr val="12233A"/>
            </a:solidFill>
            <a:prstDash val="solid"/>
          </a:ln>
        </p:spPr>
      </p:sp>
      <p:sp>
        <p:nvSpPr>
          <p:cNvPr id="40" name="Text 38"/>
          <p:cNvSpPr/>
          <p:nvPr/>
        </p:nvSpPr>
        <p:spPr>
          <a:xfrm>
            <a:off x="9875520" y="1965960"/>
            <a:ext cx="292608" cy="118872"/>
          </a:xfrm>
          <a:prstGeom prst="rect">
            <a:avLst/>
          </a:prstGeom>
          <a:noFill/>
          <a:ln/>
        </p:spPr>
        <p:txBody>
          <a:bodyPr wrap="square" lIns="318" tIns="318" rIns="318" bIns="318" rtlCol="0" anchor="ctr">
            <a:normAutofit/>
          </a:bodyPr>
          <a:lstStyle/>
          <a:p>
            <a:pPr marL="0" indent="0" algn="ctr">
              <a:buNone/>
            </a:pPr>
            <a:r>
              <a:rPr lang="en-US" sz="850" b="1">
                <a:solidFill>
                  <a:srgbClr val="FFFFFF"/>
                </a:solidFill>
                <a:latin typeface="Calibri Light" pitchFamily="34" charset="0"/>
                <a:ea typeface="Calibri Light" pitchFamily="34" charset="-122"/>
                <a:cs typeface="Calibri Light" pitchFamily="34" charset="-120"/>
              </a:rPr>
              <a:t>8</a:t>
            </a:r>
            <a:endParaRPr lang="en-US" sz="850"/>
          </a:p>
        </p:txBody>
      </p:sp>
      <p:sp>
        <p:nvSpPr>
          <p:cNvPr id="41" name="Text 39"/>
          <p:cNvSpPr/>
          <p:nvPr/>
        </p:nvSpPr>
        <p:spPr>
          <a:xfrm>
            <a:off x="9893808" y="2313432"/>
            <a:ext cx="1865376" cy="420624"/>
          </a:xfrm>
          <a:prstGeom prst="rect">
            <a:avLst/>
          </a:prstGeom>
          <a:noFill/>
          <a:ln/>
        </p:spPr>
        <p:txBody>
          <a:bodyPr wrap="square" lIns="318" tIns="318" rIns="318" bIns="318" rtlCol="0" anchor="ctr">
            <a:normAutofit/>
          </a:bodyPr>
          <a:lstStyle/>
          <a:p>
            <a:pPr marL="0" indent="0" algn="ctr">
              <a:buNone/>
            </a:pPr>
            <a:r>
              <a:rPr lang="en-US" sz="1350" b="1">
                <a:solidFill>
                  <a:srgbClr val="12233A"/>
                </a:solidFill>
                <a:latin typeface="Calibri Light" pitchFamily="34" charset="0"/>
                <a:ea typeface="Calibri Light" pitchFamily="34" charset="-122"/>
                <a:cs typeface="Calibri Light" pitchFamily="34" charset="-120"/>
              </a:rPr>
              <a:t>Report</a:t>
            </a:r>
            <a:endParaRPr lang="en-US" sz="1350"/>
          </a:p>
        </p:txBody>
      </p:sp>
      <p:sp>
        <p:nvSpPr>
          <p:cNvPr id="42" name="Shape 40"/>
          <p:cNvSpPr/>
          <p:nvPr/>
        </p:nvSpPr>
        <p:spPr>
          <a:xfrm>
            <a:off x="5715000" y="2907792"/>
            <a:ext cx="896112" cy="420624"/>
          </a:xfrm>
          <a:prstGeom prst="roundRect">
            <a:avLst>
              <a:gd name="adj" fmla="val 11957"/>
            </a:avLst>
          </a:prstGeom>
          <a:solidFill>
            <a:srgbClr val="FFFFFF"/>
          </a:solidFill>
          <a:ln w="11430">
            <a:solidFill>
              <a:srgbClr val="FBB034"/>
            </a:solidFill>
            <a:prstDash val="solid"/>
          </a:ln>
          <a:effectLst/>
        </p:spPr>
      </p:sp>
      <p:sp>
        <p:nvSpPr>
          <p:cNvPr id="43" name="Text 41"/>
          <p:cNvSpPr/>
          <p:nvPr/>
        </p:nvSpPr>
        <p:spPr>
          <a:xfrm>
            <a:off x="5769864" y="3026664"/>
            <a:ext cx="786384" cy="146304"/>
          </a:xfrm>
          <a:prstGeom prst="rect">
            <a:avLst/>
          </a:prstGeom>
          <a:noFill/>
          <a:ln/>
        </p:spPr>
        <p:txBody>
          <a:bodyPr wrap="square" lIns="318" tIns="318" rIns="318" bIns="318" rtlCol="0" anchor="ctr">
            <a:normAutofit/>
          </a:bodyPr>
          <a:lstStyle/>
          <a:p>
            <a:pPr marL="0" indent="0" algn="ctr">
              <a:buNone/>
            </a:pPr>
            <a:r>
              <a:rPr lang="en-US" sz="960" b="1">
                <a:solidFill>
                  <a:srgbClr val="12233A"/>
                </a:solidFill>
                <a:latin typeface="Calibri Light" pitchFamily="34" charset="0"/>
                <a:ea typeface="Calibri Light" pitchFamily="34" charset="-122"/>
                <a:cs typeface="Calibri Light" pitchFamily="34" charset="-120"/>
              </a:rPr>
              <a:t>Lean IR</a:t>
            </a:r>
            <a:endParaRPr lang="en-US" sz="960"/>
          </a:p>
        </p:txBody>
      </p:sp>
      <p:sp>
        <p:nvSpPr>
          <p:cNvPr id="44" name="Shape 42"/>
          <p:cNvSpPr/>
          <p:nvPr/>
        </p:nvSpPr>
        <p:spPr>
          <a:xfrm>
            <a:off x="5715000" y="3529584"/>
            <a:ext cx="896112" cy="420624"/>
          </a:xfrm>
          <a:prstGeom prst="roundRect">
            <a:avLst>
              <a:gd name="adj" fmla="val 11957"/>
            </a:avLst>
          </a:prstGeom>
          <a:solidFill>
            <a:srgbClr val="FFFFFF"/>
          </a:solidFill>
          <a:ln w="11430">
            <a:solidFill>
              <a:srgbClr val="4E84C4"/>
            </a:solidFill>
            <a:prstDash val="solid"/>
          </a:ln>
          <a:effectLst/>
        </p:spPr>
      </p:sp>
      <p:sp>
        <p:nvSpPr>
          <p:cNvPr id="45" name="Text 43"/>
          <p:cNvSpPr/>
          <p:nvPr/>
        </p:nvSpPr>
        <p:spPr>
          <a:xfrm>
            <a:off x="5769864" y="3648456"/>
            <a:ext cx="786384" cy="146304"/>
          </a:xfrm>
          <a:prstGeom prst="rect">
            <a:avLst/>
          </a:prstGeom>
          <a:noFill/>
          <a:ln/>
        </p:spPr>
        <p:txBody>
          <a:bodyPr wrap="square" lIns="318" tIns="318" rIns="318" bIns="318" rtlCol="0" anchor="ctr">
            <a:normAutofit/>
          </a:bodyPr>
          <a:lstStyle/>
          <a:p>
            <a:pPr marL="0" indent="0" algn="ctr">
              <a:buNone/>
            </a:pPr>
            <a:r>
              <a:rPr lang="en-US" sz="960" b="1">
                <a:solidFill>
                  <a:srgbClr val="12233A"/>
                </a:solidFill>
                <a:latin typeface="Calibri Light" pitchFamily="34" charset="0"/>
                <a:ea typeface="Calibri Light" pitchFamily="34" charset="-122"/>
                <a:cs typeface="Calibri Light" pitchFamily="34" charset="-120"/>
              </a:rPr>
              <a:t>FOL IR</a:t>
            </a:r>
            <a:endParaRPr lang="en-US" sz="960"/>
          </a:p>
        </p:txBody>
      </p:sp>
      <p:sp>
        <p:nvSpPr>
          <p:cNvPr id="46" name="Shape 44"/>
          <p:cNvSpPr/>
          <p:nvPr/>
        </p:nvSpPr>
        <p:spPr>
          <a:xfrm>
            <a:off x="7123176" y="2907792"/>
            <a:ext cx="950976" cy="420624"/>
          </a:xfrm>
          <a:prstGeom prst="roundRect">
            <a:avLst>
              <a:gd name="adj" fmla="val 11957"/>
            </a:avLst>
          </a:prstGeom>
          <a:solidFill>
            <a:srgbClr val="FFFFFF"/>
          </a:solidFill>
          <a:ln w="11430">
            <a:solidFill>
              <a:srgbClr val="FBB034"/>
            </a:solidFill>
            <a:prstDash val="solid"/>
          </a:ln>
          <a:effectLst/>
        </p:spPr>
      </p:sp>
      <p:sp>
        <p:nvSpPr>
          <p:cNvPr id="47" name="Text 45"/>
          <p:cNvSpPr/>
          <p:nvPr/>
        </p:nvSpPr>
        <p:spPr>
          <a:xfrm>
            <a:off x="7178040" y="3026664"/>
            <a:ext cx="841248" cy="146304"/>
          </a:xfrm>
          <a:prstGeom prst="rect">
            <a:avLst/>
          </a:prstGeom>
          <a:noFill/>
          <a:ln/>
        </p:spPr>
        <p:txBody>
          <a:bodyPr wrap="square" lIns="318" tIns="318" rIns="318" bIns="318" rtlCol="0" anchor="ctr">
            <a:normAutofit/>
          </a:bodyPr>
          <a:lstStyle/>
          <a:p>
            <a:pPr marL="0" indent="0" algn="ctr">
              <a:buNone/>
            </a:pPr>
            <a:r>
              <a:rPr lang="en-US" sz="960" b="1">
                <a:solidFill>
                  <a:srgbClr val="12233A"/>
                </a:solidFill>
                <a:latin typeface="Calibri Light" pitchFamily="34" charset="0"/>
                <a:ea typeface="Calibri Light" pitchFamily="34" charset="-122"/>
                <a:cs typeface="Calibri Light" pitchFamily="34" charset="-120"/>
              </a:rPr>
              <a:t>Lean code</a:t>
            </a:r>
            <a:endParaRPr lang="en-US" sz="960"/>
          </a:p>
        </p:txBody>
      </p:sp>
      <p:sp>
        <p:nvSpPr>
          <p:cNvPr id="48" name="Shape 46"/>
          <p:cNvSpPr/>
          <p:nvPr/>
        </p:nvSpPr>
        <p:spPr>
          <a:xfrm>
            <a:off x="7123176" y="3529584"/>
            <a:ext cx="950976" cy="420624"/>
          </a:xfrm>
          <a:prstGeom prst="roundRect">
            <a:avLst>
              <a:gd name="adj" fmla="val 11957"/>
            </a:avLst>
          </a:prstGeom>
          <a:solidFill>
            <a:srgbClr val="FFFFFF"/>
          </a:solidFill>
          <a:ln w="11430">
            <a:solidFill>
              <a:srgbClr val="4E84C4"/>
            </a:solidFill>
            <a:prstDash val="solid"/>
          </a:ln>
          <a:effectLst/>
        </p:spPr>
      </p:sp>
      <p:sp>
        <p:nvSpPr>
          <p:cNvPr id="49" name="Text 47"/>
          <p:cNvSpPr/>
          <p:nvPr/>
        </p:nvSpPr>
        <p:spPr>
          <a:xfrm>
            <a:off x="7178040" y="3648456"/>
            <a:ext cx="841248" cy="146304"/>
          </a:xfrm>
          <a:prstGeom prst="rect">
            <a:avLst/>
          </a:prstGeom>
          <a:noFill/>
          <a:ln/>
        </p:spPr>
        <p:txBody>
          <a:bodyPr wrap="square" lIns="318" tIns="318" rIns="318" bIns="318" rtlCol="0" anchor="ctr">
            <a:normAutofit/>
          </a:bodyPr>
          <a:lstStyle/>
          <a:p>
            <a:pPr marL="0" indent="0" algn="ctr">
              <a:buNone/>
            </a:pPr>
            <a:r>
              <a:rPr lang="en-US" sz="960" b="1">
                <a:solidFill>
                  <a:srgbClr val="12233A"/>
                </a:solidFill>
                <a:latin typeface="Calibri Light" pitchFamily="34" charset="0"/>
                <a:ea typeface="Calibri Light" pitchFamily="34" charset="-122"/>
                <a:cs typeface="Calibri Light" pitchFamily="34" charset="-120"/>
              </a:rPr>
              <a:t>Z3 code</a:t>
            </a:r>
            <a:endParaRPr lang="en-US" sz="960"/>
          </a:p>
        </p:txBody>
      </p:sp>
      <p:sp>
        <p:nvSpPr>
          <p:cNvPr id="50" name="Shape 48"/>
          <p:cNvSpPr/>
          <p:nvPr/>
        </p:nvSpPr>
        <p:spPr>
          <a:xfrm>
            <a:off x="10040112" y="2743200"/>
            <a:ext cx="1572768" cy="420624"/>
          </a:xfrm>
          <a:prstGeom prst="roundRect">
            <a:avLst>
              <a:gd name="adj" fmla="val 11957"/>
            </a:avLst>
          </a:prstGeom>
          <a:solidFill>
            <a:srgbClr val="FFFFFF"/>
          </a:solidFill>
          <a:ln w="11430">
            <a:solidFill>
              <a:srgbClr val="C54E4E"/>
            </a:solidFill>
            <a:prstDash val="solid"/>
          </a:ln>
          <a:effectLst/>
        </p:spPr>
      </p:sp>
      <p:sp>
        <p:nvSpPr>
          <p:cNvPr id="51" name="Text 49"/>
          <p:cNvSpPr/>
          <p:nvPr/>
        </p:nvSpPr>
        <p:spPr>
          <a:xfrm>
            <a:off x="10094976" y="2862072"/>
            <a:ext cx="1463040" cy="146304"/>
          </a:xfrm>
          <a:prstGeom prst="rect">
            <a:avLst/>
          </a:prstGeom>
          <a:noFill/>
          <a:ln/>
        </p:spPr>
        <p:txBody>
          <a:bodyPr wrap="square" lIns="318" tIns="318" rIns="318" bIns="318" rtlCol="0" anchor="ctr">
            <a:normAutofit/>
          </a:bodyPr>
          <a:lstStyle/>
          <a:p>
            <a:pPr marL="0" indent="0" algn="ctr">
              <a:buNone/>
            </a:pPr>
            <a:r>
              <a:rPr lang="en-US" sz="960" b="1">
                <a:solidFill>
                  <a:srgbClr val="12233A"/>
                </a:solidFill>
                <a:latin typeface="Calibri Light" pitchFamily="34" charset="0"/>
                <a:ea typeface="Calibri Light" pitchFamily="34" charset="-122"/>
                <a:cs typeface="Calibri Light" pitchFamily="34" charset="-120"/>
              </a:rPr>
              <a:t>Finding</a:t>
            </a:r>
            <a:endParaRPr lang="en-US" sz="960"/>
          </a:p>
        </p:txBody>
      </p:sp>
      <p:sp>
        <p:nvSpPr>
          <p:cNvPr id="52" name="Shape 50"/>
          <p:cNvSpPr/>
          <p:nvPr/>
        </p:nvSpPr>
        <p:spPr>
          <a:xfrm>
            <a:off x="10040112" y="3346704"/>
            <a:ext cx="1572768" cy="420624"/>
          </a:xfrm>
          <a:prstGeom prst="roundRect">
            <a:avLst>
              <a:gd name="adj" fmla="val 11957"/>
            </a:avLst>
          </a:prstGeom>
          <a:solidFill>
            <a:srgbClr val="FFFFFF"/>
          </a:solidFill>
          <a:ln w="11430">
            <a:solidFill>
              <a:srgbClr val="4E84C4"/>
            </a:solidFill>
            <a:prstDash val="solid"/>
          </a:ln>
          <a:effectLst/>
        </p:spPr>
      </p:sp>
      <p:sp>
        <p:nvSpPr>
          <p:cNvPr id="53" name="Text 51"/>
          <p:cNvSpPr/>
          <p:nvPr/>
        </p:nvSpPr>
        <p:spPr>
          <a:xfrm>
            <a:off x="10094976" y="3465576"/>
            <a:ext cx="1463040" cy="146304"/>
          </a:xfrm>
          <a:prstGeom prst="rect">
            <a:avLst/>
          </a:prstGeom>
          <a:noFill/>
          <a:ln/>
        </p:spPr>
        <p:txBody>
          <a:bodyPr wrap="square" lIns="318" tIns="318" rIns="318" bIns="318" rtlCol="0" anchor="ctr">
            <a:normAutofit/>
          </a:bodyPr>
          <a:lstStyle/>
          <a:p>
            <a:pPr marL="0" indent="0" algn="ctr">
              <a:buNone/>
            </a:pPr>
            <a:r>
              <a:rPr lang="en-US" sz="960" b="1">
                <a:solidFill>
                  <a:srgbClr val="12233A"/>
                </a:solidFill>
                <a:latin typeface="Calibri Light" pitchFamily="34" charset="0"/>
                <a:ea typeface="Calibri Light" pitchFamily="34" charset="-122"/>
                <a:cs typeface="Calibri Light" pitchFamily="34" charset="-120"/>
              </a:rPr>
              <a:t>Explanation</a:t>
            </a:r>
            <a:endParaRPr lang="en-US" sz="960"/>
          </a:p>
        </p:txBody>
      </p:sp>
      <p:sp>
        <p:nvSpPr>
          <p:cNvPr id="54" name="Shape 52"/>
          <p:cNvSpPr/>
          <p:nvPr/>
        </p:nvSpPr>
        <p:spPr>
          <a:xfrm>
            <a:off x="10040112" y="3950208"/>
            <a:ext cx="1572768" cy="420624"/>
          </a:xfrm>
          <a:prstGeom prst="roundRect">
            <a:avLst>
              <a:gd name="adj" fmla="val 11957"/>
            </a:avLst>
          </a:prstGeom>
          <a:solidFill>
            <a:srgbClr val="FFFFFF"/>
          </a:solidFill>
          <a:ln w="11430">
            <a:solidFill>
              <a:srgbClr val="FBB034"/>
            </a:solidFill>
            <a:prstDash val="solid"/>
          </a:ln>
          <a:effectLst/>
        </p:spPr>
      </p:sp>
      <p:sp>
        <p:nvSpPr>
          <p:cNvPr id="55" name="Text 53"/>
          <p:cNvSpPr/>
          <p:nvPr/>
        </p:nvSpPr>
        <p:spPr>
          <a:xfrm>
            <a:off x="10094976" y="4069080"/>
            <a:ext cx="1463040" cy="146304"/>
          </a:xfrm>
          <a:prstGeom prst="rect">
            <a:avLst/>
          </a:prstGeom>
          <a:noFill/>
          <a:ln/>
        </p:spPr>
        <p:txBody>
          <a:bodyPr wrap="square" lIns="318" tIns="318" rIns="318" bIns="318" rtlCol="0" anchor="ctr">
            <a:normAutofit/>
          </a:bodyPr>
          <a:lstStyle/>
          <a:p>
            <a:pPr marL="0" indent="0" algn="ctr">
              <a:buNone/>
            </a:pPr>
            <a:r>
              <a:rPr lang="en-US" sz="960" b="1">
                <a:solidFill>
                  <a:srgbClr val="12233A"/>
                </a:solidFill>
                <a:latin typeface="Calibri Light" pitchFamily="34" charset="0"/>
                <a:ea typeface="Calibri Light" pitchFamily="34" charset="-122"/>
                <a:cs typeface="Calibri Light" pitchFamily="34" charset="-120"/>
              </a:rPr>
              <a:t>Action</a:t>
            </a:r>
            <a:endParaRPr lang="en-US" sz="960"/>
          </a:p>
        </p:txBody>
      </p:sp>
      <p:sp>
        <p:nvSpPr>
          <p:cNvPr id="56" name="Shape 54"/>
          <p:cNvSpPr/>
          <p:nvPr/>
        </p:nvSpPr>
        <p:spPr>
          <a:xfrm>
            <a:off x="1280160" y="3246120"/>
            <a:ext cx="155448" cy="1"/>
          </a:xfrm>
          <a:prstGeom prst="line">
            <a:avLst/>
          </a:prstGeom>
          <a:noFill/>
          <a:ln w="22860">
            <a:solidFill>
              <a:srgbClr val="4E84C4"/>
            </a:solidFill>
            <a:prstDash val="solid"/>
            <a:tailEnd type="triangle"/>
          </a:ln>
        </p:spPr>
      </p:sp>
      <p:sp>
        <p:nvSpPr>
          <p:cNvPr id="57" name="Shape 55"/>
          <p:cNvSpPr/>
          <p:nvPr/>
        </p:nvSpPr>
        <p:spPr>
          <a:xfrm>
            <a:off x="2834640" y="3246120"/>
            <a:ext cx="155448" cy="1"/>
          </a:xfrm>
          <a:prstGeom prst="line">
            <a:avLst/>
          </a:prstGeom>
          <a:noFill/>
          <a:ln w="22860">
            <a:solidFill>
              <a:srgbClr val="4E84C4"/>
            </a:solidFill>
            <a:prstDash val="solid"/>
            <a:tailEnd type="triangle"/>
          </a:ln>
        </p:spPr>
      </p:sp>
      <p:sp>
        <p:nvSpPr>
          <p:cNvPr id="58" name="Shape 56"/>
          <p:cNvSpPr/>
          <p:nvPr/>
        </p:nvSpPr>
        <p:spPr>
          <a:xfrm>
            <a:off x="4096512" y="3246120"/>
            <a:ext cx="155448" cy="1"/>
          </a:xfrm>
          <a:prstGeom prst="line">
            <a:avLst/>
          </a:prstGeom>
          <a:noFill/>
          <a:ln w="22860">
            <a:solidFill>
              <a:srgbClr val="4E84C4"/>
            </a:solidFill>
            <a:prstDash val="solid"/>
            <a:tailEnd type="triangle"/>
          </a:ln>
        </p:spPr>
      </p:sp>
      <p:sp>
        <p:nvSpPr>
          <p:cNvPr id="59" name="Shape 57"/>
          <p:cNvSpPr/>
          <p:nvPr/>
        </p:nvSpPr>
        <p:spPr>
          <a:xfrm>
            <a:off x="5358384" y="3246120"/>
            <a:ext cx="155448" cy="1"/>
          </a:xfrm>
          <a:prstGeom prst="line">
            <a:avLst/>
          </a:prstGeom>
          <a:noFill/>
          <a:ln w="22860">
            <a:solidFill>
              <a:srgbClr val="4E84C4"/>
            </a:solidFill>
            <a:prstDash val="solid"/>
            <a:tailEnd type="triangle"/>
          </a:ln>
        </p:spPr>
      </p:sp>
      <p:sp>
        <p:nvSpPr>
          <p:cNvPr id="60" name="Shape 58"/>
          <p:cNvSpPr/>
          <p:nvPr/>
        </p:nvSpPr>
        <p:spPr>
          <a:xfrm>
            <a:off x="6766560" y="3246120"/>
            <a:ext cx="155448" cy="1"/>
          </a:xfrm>
          <a:prstGeom prst="line">
            <a:avLst/>
          </a:prstGeom>
          <a:noFill/>
          <a:ln w="22860">
            <a:solidFill>
              <a:srgbClr val="4E84C4"/>
            </a:solidFill>
            <a:prstDash val="solid"/>
            <a:tailEnd type="triangle"/>
          </a:ln>
        </p:spPr>
      </p:sp>
      <p:sp>
        <p:nvSpPr>
          <p:cNvPr id="61" name="Shape 59"/>
          <p:cNvSpPr/>
          <p:nvPr/>
        </p:nvSpPr>
        <p:spPr>
          <a:xfrm>
            <a:off x="8229600" y="3246120"/>
            <a:ext cx="155448" cy="1"/>
          </a:xfrm>
          <a:prstGeom prst="line">
            <a:avLst/>
          </a:prstGeom>
          <a:noFill/>
          <a:ln w="22860">
            <a:solidFill>
              <a:srgbClr val="4E84C4"/>
            </a:solidFill>
            <a:prstDash val="solid"/>
            <a:tailEnd type="triangle"/>
          </a:ln>
        </p:spPr>
      </p:sp>
      <p:sp>
        <p:nvSpPr>
          <p:cNvPr id="62" name="Shape 60"/>
          <p:cNvSpPr/>
          <p:nvPr/>
        </p:nvSpPr>
        <p:spPr>
          <a:xfrm>
            <a:off x="9582912" y="3246120"/>
            <a:ext cx="155448" cy="1"/>
          </a:xfrm>
          <a:prstGeom prst="line">
            <a:avLst/>
          </a:prstGeom>
          <a:noFill/>
          <a:ln w="22860">
            <a:solidFill>
              <a:srgbClr val="4E84C4"/>
            </a:solidFill>
            <a:prstDash val="solid"/>
            <a:tailEnd type="triangle"/>
          </a:ln>
        </p:spPr>
      </p:sp>
      <p:sp>
        <p:nvSpPr>
          <p:cNvPr id="63" name="Shape 61"/>
          <p:cNvSpPr/>
          <p:nvPr/>
        </p:nvSpPr>
        <p:spPr>
          <a:xfrm>
            <a:off x="5870448" y="5010912"/>
            <a:ext cx="3703320" cy="438912"/>
          </a:xfrm>
          <a:prstGeom prst="roundRect">
            <a:avLst>
              <a:gd name="adj" fmla="val 11458"/>
            </a:avLst>
          </a:prstGeom>
          <a:solidFill>
            <a:srgbClr val="FFFFFF"/>
          </a:solidFill>
          <a:ln w="12700">
            <a:solidFill>
              <a:srgbClr val="CBD8E5"/>
            </a:solidFill>
            <a:prstDash val="solid"/>
          </a:ln>
          <a:effectLst/>
        </p:spPr>
      </p:sp>
      <p:sp>
        <p:nvSpPr>
          <p:cNvPr id="64" name="Text 62"/>
          <p:cNvSpPr/>
          <p:nvPr/>
        </p:nvSpPr>
        <p:spPr>
          <a:xfrm>
            <a:off x="5998464" y="5148072"/>
            <a:ext cx="3447288" cy="164592"/>
          </a:xfrm>
          <a:prstGeom prst="rect">
            <a:avLst/>
          </a:prstGeom>
          <a:noFill/>
          <a:ln/>
        </p:spPr>
        <p:txBody>
          <a:bodyPr wrap="square" lIns="318" tIns="318" rIns="318" bIns="318" rtlCol="0" anchor="ctr">
            <a:normAutofit/>
          </a:bodyPr>
          <a:lstStyle/>
          <a:p>
            <a:pPr marL="0" indent="0" algn="ctr">
              <a:buNone/>
            </a:pPr>
            <a:r>
              <a:rPr lang="en-US" sz="880" b="1">
                <a:solidFill>
                  <a:srgbClr val="667085"/>
                </a:solidFill>
                <a:latin typeface="Calibri Light" pitchFamily="34" charset="0"/>
                <a:ea typeface="Calibri Light" pitchFamily="34" charset="-122"/>
                <a:cs typeface="Calibri Light" pitchFamily="34" charset="-120"/>
              </a:rPr>
              <a:t>Formal IR → executable Lean / Z3 encodings → shared test library</a:t>
            </a:r>
            <a:endParaRPr lang="en-US" sz="880"/>
          </a:p>
        </p:txBody>
      </p:sp>
      <p:sp>
        <p:nvSpPr>
          <p:cNvPr id="68" name="Text 66"/>
          <p:cNvSpPr/>
          <p:nvPr/>
        </p:nvSpPr>
        <p:spPr>
          <a:xfrm>
            <a:off x="347472" y="6510528"/>
            <a:ext cx="1143000" cy="146304"/>
          </a:xfrm>
          <a:prstGeom prst="rect">
            <a:avLst/>
          </a:prstGeom>
          <a:noFill/>
          <a:ln/>
        </p:spPr>
        <p:txBody>
          <a:bodyPr wrap="square" lIns="318" tIns="318" rIns="318" bIns="318" rtlCol="0" anchor="ctr">
            <a:normAutofit/>
          </a:bodyPr>
          <a:lstStyle/>
          <a:p>
            <a:pPr marL="0" indent="0" algn="l">
              <a:buNone/>
            </a:pPr>
            <a:r>
              <a:rPr lang="en-US" sz="800">
                <a:solidFill>
                  <a:srgbClr val="666666"/>
                </a:solidFill>
                <a:latin typeface="Calibri Light" pitchFamily="34" charset="0"/>
                <a:ea typeface="Calibri Light" pitchFamily="34" charset="-122"/>
                <a:cs typeface="Calibri Light" pitchFamily="34" charset="-120"/>
              </a:rPr>
              <a:t>TCS confidential</a:t>
            </a:r>
            <a:endParaRPr lang="en-US" sz="800"/>
          </a:p>
        </p:txBody>
      </p:sp>
      <p:sp>
        <p:nvSpPr>
          <p:cNvPr id="69" name="Text 67"/>
          <p:cNvSpPr/>
          <p:nvPr/>
        </p:nvSpPr>
        <p:spPr>
          <a:xfrm>
            <a:off x="11064240" y="6428232"/>
            <a:ext cx="594360" cy="219456"/>
          </a:xfrm>
          <a:prstGeom prst="rect">
            <a:avLst/>
          </a:prstGeom>
          <a:noFill/>
          <a:ln/>
        </p:spPr>
        <p:txBody>
          <a:bodyPr wrap="square" lIns="318" tIns="318" rIns="318" bIns="318" rtlCol="0" anchor="ctr">
            <a:normAutofit/>
          </a:bodyPr>
          <a:lstStyle/>
          <a:p>
            <a:pPr marL="0" indent="0" algn="r">
              <a:buNone/>
            </a:pPr>
            <a:r>
              <a:rPr lang="en-US" sz="1700" b="1">
                <a:solidFill>
                  <a:srgbClr val="4E84C4"/>
                </a:solidFill>
                <a:latin typeface="Calibri Light" pitchFamily="34" charset="0"/>
                <a:ea typeface="Calibri Light" pitchFamily="34" charset="-122"/>
                <a:cs typeface="Calibri Light" pitchFamily="34" charset="-120"/>
              </a:rPr>
              <a:t>tcs</a:t>
            </a:r>
            <a:endParaRPr lang="en-US" sz="1700"/>
          </a:p>
        </p:txBody>
      </p:sp>
      <p:grpSp>
        <p:nvGrpSpPr>
          <p:cNvPr id="73" name="Group 72">
            <a:extLst>
              <a:ext uri="{FF2B5EF4-FFF2-40B4-BE49-F238E27FC236}">
                <a16:creationId xmlns:a16="http://schemas.microsoft.com/office/drawing/2014/main" id="{63584381-5251-664E-6B12-93159D5D5480}"/>
              </a:ext>
            </a:extLst>
          </p:cNvPr>
          <p:cNvGrpSpPr/>
          <p:nvPr/>
        </p:nvGrpSpPr>
        <p:grpSpPr>
          <a:xfrm>
            <a:off x="502920" y="5897880"/>
            <a:ext cx="11064240" cy="411480"/>
            <a:chOff x="502920" y="5897880"/>
            <a:chExt cx="11064240" cy="411480"/>
          </a:xfrm>
        </p:grpSpPr>
        <p:sp>
          <p:nvSpPr>
            <p:cNvPr id="71" name="Shape 31">
              <a:extLst>
                <a:ext uri="{FF2B5EF4-FFF2-40B4-BE49-F238E27FC236}">
                  <a16:creationId xmlns:a16="http://schemas.microsoft.com/office/drawing/2014/main" id="{16207F92-B78B-512F-3173-B47EF3519FF8}"/>
                </a:ext>
              </a:extLst>
            </p:cNvPr>
            <p:cNvSpPr/>
            <p:nvPr/>
          </p:nvSpPr>
          <p:spPr>
            <a:xfrm>
              <a:off x="502920" y="5897880"/>
              <a:ext cx="11064240" cy="411480"/>
            </a:xfrm>
            <a:prstGeom prst="roundRect">
              <a:avLst>
                <a:gd name="adj" fmla="val 26667"/>
              </a:avLst>
            </a:prstGeom>
            <a:solidFill>
              <a:srgbClr val="EEF4FA"/>
            </a:solidFill>
            <a:ln w="12700">
              <a:solidFill>
                <a:srgbClr val="D5E2EF"/>
              </a:solidFill>
              <a:prstDash val="solid"/>
            </a:ln>
          </p:spPr>
        </p:sp>
        <p:sp>
          <p:nvSpPr>
            <p:cNvPr id="72" name="Text 32">
              <a:extLst>
                <a:ext uri="{FF2B5EF4-FFF2-40B4-BE49-F238E27FC236}">
                  <a16:creationId xmlns:a16="http://schemas.microsoft.com/office/drawing/2014/main" id="{95B6D4AD-29E0-746E-EA37-DC61525470C4}"/>
                </a:ext>
              </a:extLst>
            </p:cNvPr>
            <p:cNvSpPr/>
            <p:nvPr/>
          </p:nvSpPr>
          <p:spPr>
            <a:xfrm>
              <a:off x="731520" y="5998464"/>
              <a:ext cx="10607040" cy="182880"/>
            </a:xfrm>
            <a:prstGeom prst="rect">
              <a:avLst/>
            </a:prstGeom>
            <a:noFill/>
            <a:ln/>
          </p:spPr>
          <p:txBody>
            <a:bodyPr wrap="square" lIns="0" tIns="0" rIns="0" bIns="0" rtlCol="0" anchor="ctr"/>
            <a:lstStyle/>
            <a:p>
              <a:pPr marL="0" indent="0" algn="ctr">
                <a:buNone/>
              </a:pPr>
              <a:r>
                <a:rPr lang="en-US" sz="1200" b="1">
                  <a:solidFill>
                    <a:srgbClr val="4E84C4"/>
                  </a:solidFill>
                </a:rPr>
                <a:t>Design principle: fixed schemas at runtime reduce generation freedom and improve consistency.</a:t>
              </a:r>
              <a:endParaRPr lang="en-US" sz="1200"/>
            </a:p>
          </p:txBody>
        </p:sp>
      </p:grpSp>
      <p:sp>
        <p:nvSpPr>
          <p:cNvPr id="66" name="Freeform 2">
            <a:extLst>
              <a:ext uri="{FF2B5EF4-FFF2-40B4-BE49-F238E27FC236}">
                <a16:creationId xmlns:a16="http://schemas.microsoft.com/office/drawing/2014/main" id="{DE5C9058-46A3-F320-E0A3-1ED6FC6CD28E}"/>
              </a:ext>
            </a:extLst>
          </p:cNvPr>
          <p:cNvSpPr/>
          <p:nvPr/>
        </p:nvSpPr>
        <p:spPr>
          <a:xfrm>
            <a:off x="5142104" y="6380991"/>
            <a:ext cx="1903592" cy="476247"/>
          </a:xfrm>
          <a:custGeom>
            <a:avLst/>
            <a:gdLst/>
            <a:ahLst/>
            <a:cxnLst/>
            <a:rect l="l" t="t" r="r" b="b"/>
            <a:pathLst>
              <a:path w="2855388" h="714371">
                <a:moveTo>
                  <a:pt x="0" y="0"/>
                </a:moveTo>
                <a:lnTo>
                  <a:pt x="2855388" y="0"/>
                </a:lnTo>
                <a:lnTo>
                  <a:pt x="2855388" y="714371"/>
                </a:lnTo>
                <a:lnTo>
                  <a:pt x="0" y="714371"/>
                </a:lnTo>
                <a:lnTo>
                  <a:pt x="0" y="0"/>
                </a:lnTo>
                <a:close/>
              </a:path>
            </a:pathLst>
          </a:custGeom>
          <a:blipFill>
            <a:blip r:embed="rId3"/>
            <a:stretch>
              <a:fillRect t="-1162" b="-1162"/>
            </a:stretch>
          </a:blipFill>
        </p:spPr>
      </p:sp>
    </p:spTree>
    <p:extLst>
      <p:ext uri="{BB962C8B-B14F-4D97-AF65-F5344CB8AC3E}">
        <p14:creationId xmlns:p14="http://schemas.microsoft.com/office/powerpoint/2010/main" val="3587389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7">
    <p:spTree>
      <p:nvGrpSpPr>
        <p:cNvPr id="1" name=""/>
        <p:cNvGrpSpPr/>
        <p:nvPr/>
      </p:nvGrpSpPr>
      <p:grpSpPr>
        <a:xfrm>
          <a:off x="0" y="0"/>
          <a:ext cx="1" cy="1"/>
          <a:chOff x="0" y="0"/>
          <a:chExt cx="1" cy="1"/>
        </a:xfrm>
      </p:grpSpPr>
      <p:sp>
        <p:nvSpPr>
          <p:cNvPr id="2" name="Text 0"/>
          <p:cNvSpPr/>
          <p:nvPr/>
        </p:nvSpPr>
        <p:spPr>
          <a:xfrm>
            <a:off x="475488" y="320040"/>
            <a:ext cx="11064240" cy="502920"/>
          </a:xfrm>
          <a:prstGeom prst="rect">
            <a:avLst/>
          </a:prstGeom>
          <a:noFill/>
          <a:ln/>
        </p:spPr>
        <p:txBody>
          <a:bodyPr wrap="square" lIns="0" tIns="0" rIns="0" bIns="0" rtlCol="0" anchor="ctr"/>
          <a:lstStyle/>
          <a:p>
            <a:pPr marL="0" indent="0">
              <a:buNone/>
            </a:pPr>
            <a:r>
              <a:rPr lang="en-US" sz="2600" b="1">
                <a:solidFill>
                  <a:srgbClr val="111827"/>
                </a:solidFill>
                <a:latin typeface="Calibri Light" pitchFamily="34" charset="0"/>
                <a:ea typeface="Calibri Light" pitchFamily="34" charset="-122"/>
                <a:cs typeface="Calibri Light" pitchFamily="34" charset="-120"/>
              </a:rPr>
              <a:t>Architecture: major boxes and modules</a:t>
            </a:r>
            <a:endParaRPr lang="en-US" sz="2600"/>
          </a:p>
        </p:txBody>
      </p:sp>
      <p:sp>
        <p:nvSpPr>
          <p:cNvPr id="3" name="Text 1"/>
          <p:cNvSpPr/>
          <p:nvPr/>
        </p:nvSpPr>
        <p:spPr>
          <a:xfrm>
            <a:off x="493776" y="859536"/>
            <a:ext cx="10881360" cy="320040"/>
          </a:xfrm>
          <a:prstGeom prst="rect">
            <a:avLst/>
          </a:prstGeom>
          <a:noFill/>
          <a:ln/>
        </p:spPr>
        <p:txBody>
          <a:bodyPr wrap="square" lIns="0" tIns="0" rIns="0" bIns="0" rtlCol="0" anchor="ctr"/>
          <a:lstStyle/>
          <a:p>
            <a:pPr marL="0" indent="0">
              <a:buNone/>
            </a:pPr>
            <a:r>
              <a:rPr lang="en-US" sz="1250">
                <a:solidFill>
                  <a:srgbClr val="667085"/>
                </a:solidFill>
              </a:rPr>
              <a:t>A modular pipeline preserves traceability from source text to proof result.</a:t>
            </a:r>
            <a:endParaRPr lang="en-US" sz="1250"/>
          </a:p>
        </p:txBody>
      </p:sp>
      <p:sp>
        <p:nvSpPr>
          <p:cNvPr id="4" name="Shape 2"/>
          <p:cNvSpPr/>
          <p:nvPr/>
        </p:nvSpPr>
        <p:spPr>
          <a:xfrm>
            <a:off x="502920" y="1417320"/>
            <a:ext cx="2148840" cy="4480560"/>
          </a:xfrm>
          <a:prstGeom prst="roundRect">
            <a:avLst>
              <a:gd name="adj" fmla="val 3404"/>
            </a:avLst>
          </a:prstGeom>
          <a:solidFill>
            <a:srgbClr val="EAF2FB"/>
          </a:solidFill>
          <a:ln w="12700">
            <a:solidFill>
              <a:srgbClr val="CAD6E3"/>
            </a:solidFill>
            <a:prstDash val="solid"/>
          </a:ln>
        </p:spPr>
      </p:sp>
      <p:sp>
        <p:nvSpPr>
          <p:cNvPr id="5" name="Text 3"/>
          <p:cNvSpPr/>
          <p:nvPr/>
        </p:nvSpPr>
        <p:spPr>
          <a:xfrm>
            <a:off x="658368" y="1618488"/>
            <a:ext cx="1837944" cy="347472"/>
          </a:xfrm>
          <a:prstGeom prst="rect">
            <a:avLst/>
          </a:prstGeom>
          <a:noFill/>
          <a:ln/>
        </p:spPr>
        <p:txBody>
          <a:bodyPr wrap="square" lIns="0" tIns="0" rIns="0" bIns="0" rtlCol="0" anchor="ctr"/>
          <a:lstStyle/>
          <a:p>
            <a:pPr marL="0" indent="0" algn="ctr">
              <a:buNone/>
            </a:pPr>
            <a:r>
              <a:rPr lang="en-US" sz="1600" b="1">
                <a:solidFill>
                  <a:srgbClr val="111827"/>
                </a:solidFill>
              </a:rPr>
              <a:t>A. Understand</a:t>
            </a:r>
            <a:endParaRPr lang="en-US" sz="1600"/>
          </a:p>
        </p:txBody>
      </p:sp>
      <p:sp>
        <p:nvSpPr>
          <p:cNvPr id="6" name="Shape 4"/>
          <p:cNvSpPr/>
          <p:nvPr/>
        </p:nvSpPr>
        <p:spPr>
          <a:xfrm>
            <a:off x="667512" y="2194560"/>
            <a:ext cx="1819656" cy="557784"/>
          </a:xfrm>
          <a:prstGeom prst="roundRect">
            <a:avLst>
              <a:gd name="adj" fmla="val 9836"/>
            </a:avLst>
          </a:prstGeom>
          <a:solidFill>
            <a:srgbClr val="FFFFFF"/>
          </a:solidFill>
          <a:ln w="12700">
            <a:solidFill>
              <a:srgbClr val="D7E0EA"/>
            </a:solidFill>
            <a:prstDash val="solid"/>
          </a:ln>
        </p:spPr>
      </p:sp>
      <p:sp>
        <p:nvSpPr>
          <p:cNvPr id="7" name="Text 5"/>
          <p:cNvSpPr/>
          <p:nvPr/>
        </p:nvSpPr>
        <p:spPr>
          <a:xfrm>
            <a:off x="758952" y="2368296"/>
            <a:ext cx="1636776" cy="182880"/>
          </a:xfrm>
          <a:prstGeom prst="rect">
            <a:avLst/>
          </a:prstGeom>
          <a:noFill/>
          <a:ln/>
        </p:spPr>
        <p:txBody>
          <a:bodyPr wrap="square" lIns="0" tIns="0" rIns="0" bIns="0" rtlCol="0" anchor="ctr"/>
          <a:lstStyle/>
          <a:p>
            <a:pPr marL="0" indent="0" algn="ctr">
              <a:buNone/>
            </a:pPr>
            <a:r>
              <a:rPr lang="en-US" sz="1080">
                <a:solidFill>
                  <a:srgbClr val="667085"/>
                </a:solidFill>
              </a:rPr>
              <a:t>Document parser</a:t>
            </a:r>
            <a:endParaRPr lang="en-US" sz="1080"/>
          </a:p>
        </p:txBody>
      </p:sp>
      <p:sp>
        <p:nvSpPr>
          <p:cNvPr id="8" name="Shape 6"/>
          <p:cNvSpPr/>
          <p:nvPr/>
        </p:nvSpPr>
        <p:spPr>
          <a:xfrm>
            <a:off x="667512" y="2980944"/>
            <a:ext cx="1819656" cy="557784"/>
          </a:xfrm>
          <a:prstGeom prst="roundRect">
            <a:avLst>
              <a:gd name="adj" fmla="val 9836"/>
            </a:avLst>
          </a:prstGeom>
          <a:solidFill>
            <a:srgbClr val="FFFFFF"/>
          </a:solidFill>
          <a:ln w="12700">
            <a:solidFill>
              <a:srgbClr val="D7E0EA"/>
            </a:solidFill>
            <a:prstDash val="solid"/>
          </a:ln>
        </p:spPr>
      </p:sp>
      <p:sp>
        <p:nvSpPr>
          <p:cNvPr id="9" name="Text 7"/>
          <p:cNvSpPr/>
          <p:nvPr/>
        </p:nvSpPr>
        <p:spPr>
          <a:xfrm>
            <a:off x="758952" y="3154680"/>
            <a:ext cx="1636776" cy="182880"/>
          </a:xfrm>
          <a:prstGeom prst="rect">
            <a:avLst/>
          </a:prstGeom>
          <a:noFill/>
          <a:ln/>
        </p:spPr>
        <p:txBody>
          <a:bodyPr wrap="square" lIns="0" tIns="0" rIns="0" bIns="0" rtlCol="0" anchor="ctr"/>
          <a:lstStyle/>
          <a:p>
            <a:pPr marL="0" indent="0" algn="ctr">
              <a:buNone/>
            </a:pPr>
            <a:r>
              <a:rPr lang="en-US" sz="1080">
                <a:solidFill>
                  <a:srgbClr val="667085"/>
                </a:solidFill>
              </a:rPr>
              <a:t>Context builder</a:t>
            </a:r>
            <a:endParaRPr lang="en-US" sz="1080"/>
          </a:p>
        </p:txBody>
      </p:sp>
      <p:sp>
        <p:nvSpPr>
          <p:cNvPr id="10" name="Shape 8"/>
          <p:cNvSpPr/>
          <p:nvPr/>
        </p:nvSpPr>
        <p:spPr>
          <a:xfrm>
            <a:off x="667512" y="3767328"/>
            <a:ext cx="1819656" cy="557784"/>
          </a:xfrm>
          <a:prstGeom prst="roundRect">
            <a:avLst>
              <a:gd name="adj" fmla="val 9836"/>
            </a:avLst>
          </a:prstGeom>
          <a:solidFill>
            <a:srgbClr val="FFFFFF"/>
          </a:solidFill>
          <a:ln w="12700">
            <a:solidFill>
              <a:srgbClr val="D7E0EA"/>
            </a:solidFill>
            <a:prstDash val="solid"/>
          </a:ln>
        </p:spPr>
      </p:sp>
      <p:sp>
        <p:nvSpPr>
          <p:cNvPr id="11" name="Text 9"/>
          <p:cNvSpPr/>
          <p:nvPr/>
        </p:nvSpPr>
        <p:spPr>
          <a:xfrm>
            <a:off x="758952" y="3941064"/>
            <a:ext cx="1636776" cy="182880"/>
          </a:xfrm>
          <a:prstGeom prst="rect">
            <a:avLst/>
          </a:prstGeom>
          <a:noFill/>
          <a:ln/>
        </p:spPr>
        <p:txBody>
          <a:bodyPr wrap="square" lIns="0" tIns="0" rIns="0" bIns="0" rtlCol="0" anchor="ctr"/>
          <a:lstStyle/>
          <a:p>
            <a:pPr marL="0" indent="0" algn="ctr">
              <a:buNone/>
            </a:pPr>
            <a:r>
              <a:rPr lang="en-US" sz="1080">
                <a:solidFill>
                  <a:srgbClr val="667085"/>
                </a:solidFill>
              </a:rPr>
              <a:t>Ambiguity extractor</a:t>
            </a:r>
            <a:endParaRPr lang="en-US" sz="1080"/>
          </a:p>
        </p:txBody>
      </p:sp>
      <p:sp>
        <p:nvSpPr>
          <p:cNvPr id="12" name="Shape 10"/>
          <p:cNvSpPr/>
          <p:nvPr/>
        </p:nvSpPr>
        <p:spPr>
          <a:xfrm>
            <a:off x="667512" y="4553712"/>
            <a:ext cx="1819656" cy="557784"/>
          </a:xfrm>
          <a:prstGeom prst="roundRect">
            <a:avLst>
              <a:gd name="adj" fmla="val 9836"/>
            </a:avLst>
          </a:prstGeom>
          <a:solidFill>
            <a:srgbClr val="FFFFFF"/>
          </a:solidFill>
          <a:ln w="12700">
            <a:solidFill>
              <a:srgbClr val="D7E0EA"/>
            </a:solidFill>
            <a:prstDash val="solid"/>
          </a:ln>
        </p:spPr>
      </p:sp>
      <p:sp>
        <p:nvSpPr>
          <p:cNvPr id="13" name="Text 11"/>
          <p:cNvSpPr/>
          <p:nvPr/>
        </p:nvSpPr>
        <p:spPr>
          <a:xfrm>
            <a:off x="758952" y="4727448"/>
            <a:ext cx="1636776" cy="182880"/>
          </a:xfrm>
          <a:prstGeom prst="rect">
            <a:avLst/>
          </a:prstGeom>
          <a:noFill/>
          <a:ln/>
        </p:spPr>
        <p:txBody>
          <a:bodyPr wrap="square" lIns="0" tIns="0" rIns="0" bIns="0" rtlCol="0" anchor="ctr"/>
          <a:lstStyle/>
          <a:p>
            <a:pPr marL="0" indent="0" algn="ctr">
              <a:buNone/>
            </a:pPr>
            <a:r>
              <a:rPr lang="en-US" sz="1080">
                <a:solidFill>
                  <a:srgbClr val="667085"/>
                </a:solidFill>
              </a:rPr>
              <a:t>Question + refinement</a:t>
            </a:r>
            <a:endParaRPr lang="en-US" sz="1080"/>
          </a:p>
        </p:txBody>
      </p:sp>
      <p:sp>
        <p:nvSpPr>
          <p:cNvPr id="14" name="Shape 12"/>
          <p:cNvSpPr/>
          <p:nvPr/>
        </p:nvSpPr>
        <p:spPr>
          <a:xfrm>
            <a:off x="2651760" y="3703320"/>
            <a:ext cx="109728" cy="1"/>
          </a:xfrm>
          <a:prstGeom prst="line">
            <a:avLst/>
          </a:prstGeom>
          <a:noFill/>
          <a:ln w="25400">
            <a:solidFill>
              <a:srgbClr val="4E84C4"/>
            </a:solidFill>
            <a:prstDash val="solid"/>
            <a:headEnd type="none"/>
            <a:tailEnd type="triangle"/>
          </a:ln>
        </p:spPr>
      </p:sp>
      <p:sp>
        <p:nvSpPr>
          <p:cNvPr id="15" name="Shape 13"/>
          <p:cNvSpPr/>
          <p:nvPr/>
        </p:nvSpPr>
        <p:spPr>
          <a:xfrm>
            <a:off x="2816352" y="1417320"/>
            <a:ext cx="2148840" cy="4480560"/>
          </a:xfrm>
          <a:prstGeom prst="roundRect">
            <a:avLst>
              <a:gd name="adj" fmla="val 3404"/>
            </a:avLst>
          </a:prstGeom>
          <a:solidFill>
            <a:srgbClr val="F4F7FB"/>
          </a:solidFill>
          <a:ln w="12700">
            <a:solidFill>
              <a:srgbClr val="CAD6E3"/>
            </a:solidFill>
            <a:prstDash val="solid"/>
          </a:ln>
        </p:spPr>
      </p:sp>
      <p:sp>
        <p:nvSpPr>
          <p:cNvPr id="16" name="Text 14"/>
          <p:cNvSpPr/>
          <p:nvPr/>
        </p:nvSpPr>
        <p:spPr>
          <a:xfrm>
            <a:off x="2971800" y="1618488"/>
            <a:ext cx="1837944" cy="347472"/>
          </a:xfrm>
          <a:prstGeom prst="rect">
            <a:avLst/>
          </a:prstGeom>
          <a:noFill/>
          <a:ln/>
        </p:spPr>
        <p:txBody>
          <a:bodyPr wrap="square" lIns="0" tIns="0" rIns="0" bIns="0" rtlCol="0" anchor="ctr"/>
          <a:lstStyle/>
          <a:p>
            <a:pPr marL="0" indent="0" algn="ctr">
              <a:buNone/>
            </a:pPr>
            <a:r>
              <a:rPr lang="en-US" sz="1600" b="1">
                <a:solidFill>
                  <a:srgbClr val="111827"/>
                </a:solidFill>
              </a:rPr>
              <a:t>B. Structure</a:t>
            </a:r>
            <a:endParaRPr lang="en-US" sz="1600"/>
          </a:p>
        </p:txBody>
      </p:sp>
      <p:sp>
        <p:nvSpPr>
          <p:cNvPr id="17" name="Shape 15"/>
          <p:cNvSpPr/>
          <p:nvPr/>
        </p:nvSpPr>
        <p:spPr>
          <a:xfrm>
            <a:off x="2980944" y="2194560"/>
            <a:ext cx="1819656" cy="557784"/>
          </a:xfrm>
          <a:prstGeom prst="roundRect">
            <a:avLst>
              <a:gd name="adj" fmla="val 9836"/>
            </a:avLst>
          </a:prstGeom>
          <a:solidFill>
            <a:srgbClr val="FFFFFF"/>
          </a:solidFill>
          <a:ln w="12700">
            <a:solidFill>
              <a:srgbClr val="D7E0EA"/>
            </a:solidFill>
            <a:prstDash val="solid"/>
          </a:ln>
        </p:spPr>
      </p:sp>
      <p:sp>
        <p:nvSpPr>
          <p:cNvPr id="18" name="Text 16"/>
          <p:cNvSpPr/>
          <p:nvPr/>
        </p:nvSpPr>
        <p:spPr>
          <a:xfrm>
            <a:off x="3072384" y="2368296"/>
            <a:ext cx="1636776" cy="182880"/>
          </a:xfrm>
          <a:prstGeom prst="rect">
            <a:avLst/>
          </a:prstGeom>
          <a:noFill/>
          <a:ln/>
        </p:spPr>
        <p:txBody>
          <a:bodyPr wrap="square" lIns="0" tIns="0" rIns="0" bIns="0" rtlCol="0" anchor="ctr"/>
          <a:lstStyle/>
          <a:p>
            <a:pPr marL="0" indent="0" algn="ctr">
              <a:buNone/>
            </a:pPr>
            <a:r>
              <a:rPr lang="en-US" sz="1080">
                <a:solidFill>
                  <a:srgbClr val="667085"/>
                </a:solidFill>
              </a:rPr>
              <a:t>Requirement classifier</a:t>
            </a:r>
            <a:endParaRPr lang="en-US" sz="1080"/>
          </a:p>
        </p:txBody>
      </p:sp>
      <p:sp>
        <p:nvSpPr>
          <p:cNvPr id="19" name="Shape 17"/>
          <p:cNvSpPr/>
          <p:nvPr/>
        </p:nvSpPr>
        <p:spPr>
          <a:xfrm>
            <a:off x="2980944" y="2980944"/>
            <a:ext cx="1819656" cy="557784"/>
          </a:xfrm>
          <a:prstGeom prst="roundRect">
            <a:avLst>
              <a:gd name="adj" fmla="val 9836"/>
            </a:avLst>
          </a:prstGeom>
          <a:solidFill>
            <a:srgbClr val="FFFFFF"/>
          </a:solidFill>
          <a:ln w="12700">
            <a:solidFill>
              <a:srgbClr val="D7E0EA"/>
            </a:solidFill>
            <a:prstDash val="solid"/>
          </a:ln>
        </p:spPr>
      </p:sp>
      <p:sp>
        <p:nvSpPr>
          <p:cNvPr id="20" name="Text 18"/>
          <p:cNvSpPr/>
          <p:nvPr/>
        </p:nvSpPr>
        <p:spPr>
          <a:xfrm>
            <a:off x="3072384" y="3154680"/>
            <a:ext cx="1636776" cy="182880"/>
          </a:xfrm>
          <a:prstGeom prst="rect">
            <a:avLst/>
          </a:prstGeom>
          <a:noFill/>
          <a:ln/>
        </p:spPr>
        <p:txBody>
          <a:bodyPr wrap="square" lIns="0" tIns="0" rIns="0" bIns="0" rtlCol="0" anchor="ctr"/>
          <a:lstStyle/>
          <a:p>
            <a:pPr marL="0" indent="0" algn="ctr">
              <a:buNone/>
            </a:pPr>
            <a:r>
              <a:rPr lang="en-US" sz="1080">
                <a:solidFill>
                  <a:srgbClr val="667085"/>
                </a:solidFill>
              </a:rPr>
              <a:t>Pattern mapper</a:t>
            </a:r>
            <a:endParaRPr lang="en-US" sz="1080"/>
          </a:p>
        </p:txBody>
      </p:sp>
      <p:sp>
        <p:nvSpPr>
          <p:cNvPr id="21" name="Shape 19"/>
          <p:cNvSpPr/>
          <p:nvPr/>
        </p:nvSpPr>
        <p:spPr>
          <a:xfrm>
            <a:off x="2980944" y="3767328"/>
            <a:ext cx="1819656" cy="557784"/>
          </a:xfrm>
          <a:prstGeom prst="roundRect">
            <a:avLst>
              <a:gd name="adj" fmla="val 9836"/>
            </a:avLst>
          </a:prstGeom>
          <a:solidFill>
            <a:srgbClr val="FFFFFF"/>
          </a:solidFill>
          <a:ln w="12700">
            <a:solidFill>
              <a:srgbClr val="D7E0EA"/>
            </a:solidFill>
            <a:prstDash val="solid"/>
          </a:ln>
        </p:spPr>
      </p:sp>
      <p:sp>
        <p:nvSpPr>
          <p:cNvPr id="22" name="Text 20"/>
          <p:cNvSpPr/>
          <p:nvPr/>
        </p:nvSpPr>
        <p:spPr>
          <a:xfrm>
            <a:off x="3072384" y="3941064"/>
            <a:ext cx="1636776" cy="182880"/>
          </a:xfrm>
          <a:prstGeom prst="rect">
            <a:avLst/>
          </a:prstGeom>
          <a:noFill/>
          <a:ln/>
        </p:spPr>
        <p:txBody>
          <a:bodyPr wrap="square" lIns="0" tIns="0" rIns="0" bIns="0" rtlCol="0" anchor="ctr"/>
          <a:lstStyle/>
          <a:p>
            <a:pPr marL="0" indent="0" algn="ctr">
              <a:buNone/>
            </a:pPr>
            <a:r>
              <a:rPr lang="en-US" sz="1080">
                <a:solidFill>
                  <a:srgbClr val="667085"/>
                </a:solidFill>
              </a:rPr>
              <a:t>Canonical IR</a:t>
            </a:r>
            <a:endParaRPr lang="en-US" sz="1080"/>
          </a:p>
        </p:txBody>
      </p:sp>
      <p:sp>
        <p:nvSpPr>
          <p:cNvPr id="23" name="Shape 21"/>
          <p:cNvSpPr/>
          <p:nvPr/>
        </p:nvSpPr>
        <p:spPr>
          <a:xfrm>
            <a:off x="2980944" y="4553712"/>
            <a:ext cx="1819656" cy="557784"/>
          </a:xfrm>
          <a:prstGeom prst="roundRect">
            <a:avLst>
              <a:gd name="adj" fmla="val 9836"/>
            </a:avLst>
          </a:prstGeom>
          <a:solidFill>
            <a:srgbClr val="FFFFFF"/>
          </a:solidFill>
          <a:ln w="12700">
            <a:solidFill>
              <a:srgbClr val="D7E0EA"/>
            </a:solidFill>
            <a:prstDash val="solid"/>
          </a:ln>
        </p:spPr>
      </p:sp>
      <p:sp>
        <p:nvSpPr>
          <p:cNvPr id="24" name="Text 22"/>
          <p:cNvSpPr/>
          <p:nvPr/>
        </p:nvSpPr>
        <p:spPr>
          <a:xfrm>
            <a:off x="3072384" y="4727448"/>
            <a:ext cx="1636776" cy="182880"/>
          </a:xfrm>
          <a:prstGeom prst="rect">
            <a:avLst/>
          </a:prstGeom>
          <a:noFill/>
          <a:ln/>
        </p:spPr>
        <p:txBody>
          <a:bodyPr wrap="square" lIns="0" tIns="0" rIns="0" bIns="0" rtlCol="0" anchor="ctr"/>
          <a:lstStyle/>
          <a:p>
            <a:pPr marL="0" indent="0" algn="ctr">
              <a:buNone/>
            </a:pPr>
            <a:r>
              <a:rPr lang="en-US" sz="1080">
                <a:solidFill>
                  <a:srgbClr val="667085"/>
                </a:solidFill>
              </a:rPr>
              <a:t>Entity / unit normalization</a:t>
            </a:r>
            <a:endParaRPr lang="en-US" sz="1080"/>
          </a:p>
        </p:txBody>
      </p:sp>
      <p:sp>
        <p:nvSpPr>
          <p:cNvPr id="25" name="Shape 23"/>
          <p:cNvSpPr/>
          <p:nvPr/>
        </p:nvSpPr>
        <p:spPr>
          <a:xfrm>
            <a:off x="4965192" y="3703320"/>
            <a:ext cx="109728" cy="1"/>
          </a:xfrm>
          <a:prstGeom prst="line">
            <a:avLst/>
          </a:prstGeom>
          <a:noFill/>
          <a:ln w="25400">
            <a:solidFill>
              <a:srgbClr val="4E84C4"/>
            </a:solidFill>
            <a:prstDash val="solid"/>
            <a:headEnd type="none"/>
            <a:tailEnd type="triangle"/>
          </a:ln>
        </p:spPr>
      </p:sp>
      <p:sp>
        <p:nvSpPr>
          <p:cNvPr id="26" name="Shape 24"/>
          <p:cNvSpPr/>
          <p:nvPr/>
        </p:nvSpPr>
        <p:spPr>
          <a:xfrm>
            <a:off x="5129784" y="1417320"/>
            <a:ext cx="2148840" cy="4480560"/>
          </a:xfrm>
          <a:prstGeom prst="roundRect">
            <a:avLst>
              <a:gd name="adj" fmla="val 3404"/>
            </a:avLst>
          </a:prstGeom>
          <a:solidFill>
            <a:srgbClr val="FFF7E6"/>
          </a:solidFill>
          <a:ln w="25400">
            <a:solidFill>
              <a:srgbClr val="FBB034"/>
            </a:solidFill>
            <a:prstDash val="solid"/>
          </a:ln>
        </p:spPr>
      </p:sp>
      <p:sp>
        <p:nvSpPr>
          <p:cNvPr id="27" name="Text 25"/>
          <p:cNvSpPr/>
          <p:nvPr/>
        </p:nvSpPr>
        <p:spPr>
          <a:xfrm>
            <a:off x="5285232" y="1618488"/>
            <a:ext cx="1837944" cy="347472"/>
          </a:xfrm>
          <a:prstGeom prst="rect">
            <a:avLst/>
          </a:prstGeom>
          <a:noFill/>
          <a:ln/>
        </p:spPr>
        <p:txBody>
          <a:bodyPr wrap="square" lIns="0" tIns="0" rIns="0" bIns="0" rtlCol="0" anchor="ctr"/>
          <a:lstStyle/>
          <a:p>
            <a:pPr marL="0" indent="0" algn="ctr">
              <a:buNone/>
            </a:pPr>
            <a:r>
              <a:rPr lang="en-US" sz="1600" b="1">
                <a:solidFill>
                  <a:srgbClr val="111827"/>
                </a:solidFill>
              </a:rPr>
              <a:t>C. Formalize</a:t>
            </a:r>
            <a:endParaRPr lang="en-US" sz="1600"/>
          </a:p>
        </p:txBody>
      </p:sp>
      <p:sp>
        <p:nvSpPr>
          <p:cNvPr id="28" name="Shape 26"/>
          <p:cNvSpPr/>
          <p:nvPr/>
        </p:nvSpPr>
        <p:spPr>
          <a:xfrm>
            <a:off x="5294376" y="2194560"/>
            <a:ext cx="1819656" cy="557784"/>
          </a:xfrm>
          <a:prstGeom prst="roundRect">
            <a:avLst>
              <a:gd name="adj" fmla="val 9836"/>
            </a:avLst>
          </a:prstGeom>
          <a:solidFill>
            <a:srgbClr val="FFFFFF"/>
          </a:solidFill>
          <a:ln w="12700">
            <a:solidFill>
              <a:srgbClr val="D7E0EA"/>
            </a:solidFill>
            <a:prstDash val="solid"/>
          </a:ln>
        </p:spPr>
      </p:sp>
      <p:sp>
        <p:nvSpPr>
          <p:cNvPr id="29" name="Text 27"/>
          <p:cNvSpPr/>
          <p:nvPr/>
        </p:nvSpPr>
        <p:spPr>
          <a:xfrm>
            <a:off x="5385816" y="2368296"/>
            <a:ext cx="1636776" cy="182880"/>
          </a:xfrm>
          <a:prstGeom prst="rect">
            <a:avLst/>
          </a:prstGeom>
          <a:noFill/>
          <a:ln/>
        </p:spPr>
        <p:txBody>
          <a:bodyPr wrap="square" lIns="0" tIns="0" rIns="0" bIns="0" rtlCol="0" anchor="ctr"/>
          <a:lstStyle/>
          <a:p>
            <a:pPr marL="0" indent="0" algn="ctr">
              <a:buNone/>
            </a:pPr>
            <a:r>
              <a:rPr lang="en-US" sz="1080">
                <a:solidFill>
                  <a:srgbClr val="667085"/>
                </a:solidFill>
              </a:rPr>
              <a:t>Lean preamble</a:t>
            </a:r>
            <a:endParaRPr lang="en-US" sz="1080"/>
          </a:p>
        </p:txBody>
      </p:sp>
      <p:sp>
        <p:nvSpPr>
          <p:cNvPr id="30" name="Shape 28"/>
          <p:cNvSpPr/>
          <p:nvPr/>
        </p:nvSpPr>
        <p:spPr>
          <a:xfrm>
            <a:off x="5294376" y="2980944"/>
            <a:ext cx="1819656" cy="557784"/>
          </a:xfrm>
          <a:prstGeom prst="roundRect">
            <a:avLst>
              <a:gd name="adj" fmla="val 9836"/>
            </a:avLst>
          </a:prstGeom>
          <a:solidFill>
            <a:srgbClr val="FFFFFF"/>
          </a:solidFill>
          <a:ln w="12700">
            <a:solidFill>
              <a:srgbClr val="D7E0EA"/>
            </a:solidFill>
            <a:prstDash val="solid"/>
          </a:ln>
        </p:spPr>
      </p:sp>
      <p:sp>
        <p:nvSpPr>
          <p:cNvPr id="31" name="Text 29"/>
          <p:cNvSpPr/>
          <p:nvPr/>
        </p:nvSpPr>
        <p:spPr>
          <a:xfrm>
            <a:off x="5385816" y="3154680"/>
            <a:ext cx="1636776" cy="182880"/>
          </a:xfrm>
          <a:prstGeom prst="rect">
            <a:avLst/>
          </a:prstGeom>
          <a:noFill/>
          <a:ln/>
        </p:spPr>
        <p:txBody>
          <a:bodyPr wrap="square" lIns="0" tIns="0" rIns="0" bIns="0" rtlCol="0" anchor="ctr"/>
          <a:lstStyle/>
          <a:p>
            <a:pPr marL="0" indent="0" algn="ctr">
              <a:buNone/>
            </a:pPr>
            <a:r>
              <a:rPr lang="en-US" sz="1080">
                <a:solidFill>
                  <a:srgbClr val="667085"/>
                </a:solidFill>
              </a:rPr>
              <a:t>Lean generator</a:t>
            </a:r>
            <a:endParaRPr lang="en-US" sz="1080"/>
          </a:p>
        </p:txBody>
      </p:sp>
      <p:sp>
        <p:nvSpPr>
          <p:cNvPr id="32" name="Shape 30"/>
          <p:cNvSpPr/>
          <p:nvPr/>
        </p:nvSpPr>
        <p:spPr>
          <a:xfrm>
            <a:off x="5294376" y="3767328"/>
            <a:ext cx="1819656" cy="557784"/>
          </a:xfrm>
          <a:prstGeom prst="roundRect">
            <a:avLst>
              <a:gd name="adj" fmla="val 9836"/>
            </a:avLst>
          </a:prstGeom>
          <a:solidFill>
            <a:srgbClr val="FFFFFF"/>
          </a:solidFill>
          <a:ln w="12700">
            <a:solidFill>
              <a:srgbClr val="D7E0EA"/>
            </a:solidFill>
            <a:prstDash val="solid"/>
          </a:ln>
        </p:spPr>
      </p:sp>
      <p:sp>
        <p:nvSpPr>
          <p:cNvPr id="33" name="Text 31"/>
          <p:cNvSpPr/>
          <p:nvPr/>
        </p:nvSpPr>
        <p:spPr>
          <a:xfrm>
            <a:off x="5385816" y="3941064"/>
            <a:ext cx="1636776" cy="182880"/>
          </a:xfrm>
          <a:prstGeom prst="rect">
            <a:avLst/>
          </a:prstGeom>
          <a:noFill/>
          <a:ln/>
        </p:spPr>
        <p:txBody>
          <a:bodyPr wrap="square" lIns="0" tIns="0" rIns="0" bIns="0" rtlCol="0" anchor="ctr"/>
          <a:lstStyle/>
          <a:p>
            <a:pPr marL="0" indent="0" algn="ctr">
              <a:buNone/>
            </a:pPr>
            <a:r>
              <a:rPr lang="en-US" sz="1080">
                <a:solidFill>
                  <a:srgbClr val="667085"/>
                </a:solidFill>
              </a:rPr>
              <a:t>FOL generator</a:t>
            </a:r>
            <a:endParaRPr lang="en-US" sz="1080"/>
          </a:p>
        </p:txBody>
      </p:sp>
      <p:sp>
        <p:nvSpPr>
          <p:cNvPr id="34" name="Shape 32"/>
          <p:cNvSpPr/>
          <p:nvPr/>
        </p:nvSpPr>
        <p:spPr>
          <a:xfrm>
            <a:off x="5294376" y="4553712"/>
            <a:ext cx="1819656" cy="557784"/>
          </a:xfrm>
          <a:prstGeom prst="roundRect">
            <a:avLst>
              <a:gd name="adj" fmla="val 9836"/>
            </a:avLst>
          </a:prstGeom>
          <a:solidFill>
            <a:srgbClr val="FFFFFF"/>
          </a:solidFill>
          <a:ln w="12700">
            <a:solidFill>
              <a:srgbClr val="D7E0EA"/>
            </a:solidFill>
            <a:prstDash val="solid"/>
          </a:ln>
        </p:spPr>
      </p:sp>
      <p:sp>
        <p:nvSpPr>
          <p:cNvPr id="35" name="Text 33"/>
          <p:cNvSpPr/>
          <p:nvPr/>
        </p:nvSpPr>
        <p:spPr>
          <a:xfrm>
            <a:off x="5385816" y="4727448"/>
            <a:ext cx="1636776" cy="182880"/>
          </a:xfrm>
          <a:prstGeom prst="rect">
            <a:avLst/>
          </a:prstGeom>
          <a:noFill/>
          <a:ln/>
        </p:spPr>
        <p:txBody>
          <a:bodyPr wrap="square" lIns="0" tIns="0" rIns="0" bIns="0" rtlCol="0" anchor="ctr"/>
          <a:lstStyle/>
          <a:p>
            <a:pPr marL="0" indent="0" algn="ctr">
              <a:buNone/>
            </a:pPr>
            <a:r>
              <a:rPr lang="en-US" sz="1080">
                <a:solidFill>
                  <a:srgbClr val="667085"/>
                </a:solidFill>
              </a:rPr>
              <a:t>Assembler</a:t>
            </a:r>
            <a:endParaRPr lang="en-US" sz="1080"/>
          </a:p>
        </p:txBody>
      </p:sp>
      <p:sp>
        <p:nvSpPr>
          <p:cNvPr id="36" name="Shape 34"/>
          <p:cNvSpPr/>
          <p:nvPr/>
        </p:nvSpPr>
        <p:spPr>
          <a:xfrm>
            <a:off x="7278624" y="3703320"/>
            <a:ext cx="109728" cy="1"/>
          </a:xfrm>
          <a:prstGeom prst="line">
            <a:avLst/>
          </a:prstGeom>
          <a:noFill/>
          <a:ln w="25400">
            <a:solidFill>
              <a:srgbClr val="4E84C4"/>
            </a:solidFill>
            <a:prstDash val="solid"/>
            <a:headEnd type="none"/>
            <a:tailEnd type="triangle"/>
          </a:ln>
        </p:spPr>
      </p:sp>
      <p:sp>
        <p:nvSpPr>
          <p:cNvPr id="37" name="Shape 35"/>
          <p:cNvSpPr/>
          <p:nvPr/>
        </p:nvSpPr>
        <p:spPr>
          <a:xfrm>
            <a:off x="7443216" y="1417320"/>
            <a:ext cx="2148840" cy="4480560"/>
          </a:xfrm>
          <a:prstGeom prst="roundRect">
            <a:avLst>
              <a:gd name="adj" fmla="val 3404"/>
            </a:avLst>
          </a:prstGeom>
          <a:solidFill>
            <a:srgbClr val="EEF8F2"/>
          </a:solidFill>
          <a:ln w="12700">
            <a:solidFill>
              <a:srgbClr val="CAD6E3"/>
            </a:solidFill>
            <a:prstDash val="solid"/>
          </a:ln>
        </p:spPr>
      </p:sp>
      <p:sp>
        <p:nvSpPr>
          <p:cNvPr id="38" name="Text 36"/>
          <p:cNvSpPr/>
          <p:nvPr/>
        </p:nvSpPr>
        <p:spPr>
          <a:xfrm>
            <a:off x="7598664" y="1618488"/>
            <a:ext cx="1837944" cy="347472"/>
          </a:xfrm>
          <a:prstGeom prst="rect">
            <a:avLst/>
          </a:prstGeom>
          <a:noFill/>
          <a:ln/>
        </p:spPr>
        <p:txBody>
          <a:bodyPr wrap="square" lIns="0" tIns="0" rIns="0" bIns="0" rtlCol="0" anchor="ctr"/>
          <a:lstStyle/>
          <a:p>
            <a:pPr marL="0" indent="0" algn="ctr">
              <a:buNone/>
            </a:pPr>
            <a:r>
              <a:rPr lang="en-US" sz="1600" b="1">
                <a:solidFill>
                  <a:srgbClr val="111827"/>
                </a:solidFill>
              </a:rPr>
              <a:t>D. Verify</a:t>
            </a:r>
            <a:endParaRPr lang="en-US" sz="1600"/>
          </a:p>
        </p:txBody>
      </p:sp>
      <p:sp>
        <p:nvSpPr>
          <p:cNvPr id="39" name="Shape 37"/>
          <p:cNvSpPr/>
          <p:nvPr/>
        </p:nvSpPr>
        <p:spPr>
          <a:xfrm>
            <a:off x="7607808" y="2194560"/>
            <a:ext cx="1819656" cy="557784"/>
          </a:xfrm>
          <a:prstGeom prst="roundRect">
            <a:avLst>
              <a:gd name="adj" fmla="val 9836"/>
            </a:avLst>
          </a:prstGeom>
          <a:solidFill>
            <a:srgbClr val="FFFFFF"/>
          </a:solidFill>
          <a:ln w="12700">
            <a:solidFill>
              <a:srgbClr val="D7E0EA"/>
            </a:solidFill>
            <a:prstDash val="solid"/>
          </a:ln>
        </p:spPr>
      </p:sp>
      <p:sp>
        <p:nvSpPr>
          <p:cNvPr id="40" name="Text 38"/>
          <p:cNvSpPr/>
          <p:nvPr/>
        </p:nvSpPr>
        <p:spPr>
          <a:xfrm>
            <a:off x="7699248" y="2368296"/>
            <a:ext cx="1636776" cy="182880"/>
          </a:xfrm>
          <a:prstGeom prst="rect">
            <a:avLst/>
          </a:prstGeom>
          <a:noFill/>
          <a:ln/>
        </p:spPr>
        <p:txBody>
          <a:bodyPr wrap="square" lIns="0" tIns="0" rIns="0" bIns="0" rtlCol="0" anchor="ctr"/>
          <a:lstStyle/>
          <a:p>
            <a:pPr marL="0" indent="0" algn="ctr">
              <a:buNone/>
            </a:pPr>
            <a:r>
              <a:rPr lang="en-US" sz="1080">
                <a:solidFill>
                  <a:srgbClr val="667085"/>
                </a:solidFill>
              </a:rPr>
              <a:t>15 theorem templates</a:t>
            </a:r>
            <a:endParaRPr lang="en-US" sz="1080"/>
          </a:p>
        </p:txBody>
      </p:sp>
      <p:sp>
        <p:nvSpPr>
          <p:cNvPr id="41" name="Shape 39"/>
          <p:cNvSpPr/>
          <p:nvPr/>
        </p:nvSpPr>
        <p:spPr>
          <a:xfrm>
            <a:off x="7607808" y="2980944"/>
            <a:ext cx="1819656" cy="557784"/>
          </a:xfrm>
          <a:prstGeom prst="roundRect">
            <a:avLst>
              <a:gd name="adj" fmla="val 9836"/>
            </a:avLst>
          </a:prstGeom>
          <a:solidFill>
            <a:srgbClr val="FFFFFF"/>
          </a:solidFill>
          <a:ln w="12700">
            <a:solidFill>
              <a:srgbClr val="D7E0EA"/>
            </a:solidFill>
            <a:prstDash val="solid"/>
          </a:ln>
        </p:spPr>
      </p:sp>
      <p:sp>
        <p:nvSpPr>
          <p:cNvPr id="42" name="Text 40"/>
          <p:cNvSpPr/>
          <p:nvPr/>
        </p:nvSpPr>
        <p:spPr>
          <a:xfrm>
            <a:off x="7699248" y="3154680"/>
            <a:ext cx="1636776" cy="182880"/>
          </a:xfrm>
          <a:prstGeom prst="rect">
            <a:avLst/>
          </a:prstGeom>
          <a:noFill/>
          <a:ln/>
        </p:spPr>
        <p:txBody>
          <a:bodyPr wrap="square" lIns="0" tIns="0" rIns="0" bIns="0" rtlCol="0" anchor="ctr"/>
          <a:lstStyle/>
          <a:p>
            <a:pPr marL="0" indent="0" algn="ctr">
              <a:buNone/>
            </a:pPr>
            <a:r>
              <a:rPr lang="en-US" sz="1080">
                <a:solidFill>
                  <a:srgbClr val="667085"/>
                </a:solidFill>
              </a:rPr>
              <a:t>Lean compiler</a:t>
            </a:r>
            <a:endParaRPr lang="en-US" sz="1080"/>
          </a:p>
        </p:txBody>
      </p:sp>
      <p:sp>
        <p:nvSpPr>
          <p:cNvPr id="43" name="Shape 41"/>
          <p:cNvSpPr/>
          <p:nvPr/>
        </p:nvSpPr>
        <p:spPr>
          <a:xfrm>
            <a:off x="7607808" y="3767328"/>
            <a:ext cx="1819656" cy="557784"/>
          </a:xfrm>
          <a:prstGeom prst="roundRect">
            <a:avLst>
              <a:gd name="adj" fmla="val 9836"/>
            </a:avLst>
          </a:prstGeom>
          <a:solidFill>
            <a:srgbClr val="FFFFFF"/>
          </a:solidFill>
          <a:ln w="12700">
            <a:solidFill>
              <a:srgbClr val="D7E0EA"/>
            </a:solidFill>
            <a:prstDash val="solid"/>
          </a:ln>
        </p:spPr>
      </p:sp>
      <p:sp>
        <p:nvSpPr>
          <p:cNvPr id="44" name="Text 42"/>
          <p:cNvSpPr/>
          <p:nvPr/>
        </p:nvSpPr>
        <p:spPr>
          <a:xfrm>
            <a:off x="7699248" y="3941064"/>
            <a:ext cx="1636776" cy="182880"/>
          </a:xfrm>
          <a:prstGeom prst="rect">
            <a:avLst/>
          </a:prstGeom>
          <a:noFill/>
          <a:ln/>
        </p:spPr>
        <p:txBody>
          <a:bodyPr wrap="square" lIns="0" tIns="0" rIns="0" bIns="0" rtlCol="0" anchor="ctr"/>
          <a:lstStyle/>
          <a:p>
            <a:pPr marL="0" indent="0" algn="ctr">
              <a:buNone/>
            </a:pPr>
            <a:r>
              <a:rPr lang="en-US" sz="1080">
                <a:solidFill>
                  <a:srgbClr val="667085"/>
                </a:solidFill>
              </a:rPr>
              <a:t>FOL reasoner</a:t>
            </a:r>
            <a:endParaRPr lang="en-US" sz="1080"/>
          </a:p>
        </p:txBody>
      </p:sp>
      <p:sp>
        <p:nvSpPr>
          <p:cNvPr id="45" name="Shape 43"/>
          <p:cNvSpPr/>
          <p:nvPr/>
        </p:nvSpPr>
        <p:spPr>
          <a:xfrm>
            <a:off x="7607808" y="4553712"/>
            <a:ext cx="1819656" cy="557784"/>
          </a:xfrm>
          <a:prstGeom prst="roundRect">
            <a:avLst>
              <a:gd name="adj" fmla="val 9836"/>
            </a:avLst>
          </a:prstGeom>
          <a:solidFill>
            <a:srgbClr val="FFFFFF"/>
          </a:solidFill>
          <a:ln w="12700">
            <a:solidFill>
              <a:srgbClr val="D7E0EA"/>
            </a:solidFill>
            <a:prstDash val="solid"/>
          </a:ln>
        </p:spPr>
      </p:sp>
      <p:sp>
        <p:nvSpPr>
          <p:cNvPr id="46" name="Text 44"/>
          <p:cNvSpPr/>
          <p:nvPr/>
        </p:nvSpPr>
        <p:spPr>
          <a:xfrm>
            <a:off x="7699248" y="4727448"/>
            <a:ext cx="1636776" cy="182880"/>
          </a:xfrm>
          <a:prstGeom prst="rect">
            <a:avLst/>
          </a:prstGeom>
          <a:noFill/>
          <a:ln/>
        </p:spPr>
        <p:txBody>
          <a:bodyPr wrap="square" lIns="0" tIns="0" rIns="0" bIns="0" rtlCol="0" anchor="ctr"/>
          <a:lstStyle/>
          <a:p>
            <a:pPr marL="0" indent="0" algn="ctr">
              <a:buNone/>
            </a:pPr>
            <a:r>
              <a:rPr lang="en-US" sz="1080">
                <a:solidFill>
                  <a:srgbClr val="667085"/>
                </a:solidFill>
              </a:rPr>
              <a:t>Witness / conflict mapper</a:t>
            </a:r>
            <a:endParaRPr lang="en-US" sz="1080"/>
          </a:p>
        </p:txBody>
      </p:sp>
      <p:sp>
        <p:nvSpPr>
          <p:cNvPr id="47" name="Shape 45"/>
          <p:cNvSpPr/>
          <p:nvPr/>
        </p:nvSpPr>
        <p:spPr>
          <a:xfrm>
            <a:off x="9592056" y="3703320"/>
            <a:ext cx="109728" cy="1"/>
          </a:xfrm>
          <a:prstGeom prst="line">
            <a:avLst/>
          </a:prstGeom>
          <a:noFill/>
          <a:ln w="25400">
            <a:solidFill>
              <a:srgbClr val="4E84C4"/>
            </a:solidFill>
            <a:prstDash val="solid"/>
            <a:headEnd type="none"/>
            <a:tailEnd type="triangle"/>
          </a:ln>
        </p:spPr>
      </p:sp>
      <p:sp>
        <p:nvSpPr>
          <p:cNvPr id="48" name="Shape 46"/>
          <p:cNvSpPr/>
          <p:nvPr/>
        </p:nvSpPr>
        <p:spPr>
          <a:xfrm>
            <a:off x="9756648" y="1417320"/>
            <a:ext cx="1920240" cy="4480560"/>
          </a:xfrm>
          <a:prstGeom prst="roundRect">
            <a:avLst>
              <a:gd name="adj" fmla="val 3810"/>
            </a:avLst>
          </a:prstGeom>
          <a:solidFill>
            <a:srgbClr val="F8F4FC"/>
          </a:solidFill>
          <a:ln w="12700">
            <a:solidFill>
              <a:srgbClr val="CAD6E3"/>
            </a:solidFill>
            <a:prstDash val="solid"/>
          </a:ln>
        </p:spPr>
      </p:sp>
      <p:sp>
        <p:nvSpPr>
          <p:cNvPr id="49" name="Text 47"/>
          <p:cNvSpPr/>
          <p:nvPr/>
        </p:nvSpPr>
        <p:spPr>
          <a:xfrm>
            <a:off x="9912096" y="1618488"/>
            <a:ext cx="1609344" cy="347472"/>
          </a:xfrm>
          <a:prstGeom prst="rect">
            <a:avLst/>
          </a:prstGeom>
          <a:noFill/>
          <a:ln/>
        </p:spPr>
        <p:txBody>
          <a:bodyPr wrap="square" lIns="0" tIns="0" rIns="0" bIns="0" rtlCol="0" anchor="ctr"/>
          <a:lstStyle/>
          <a:p>
            <a:pPr marL="0" indent="0" algn="ctr">
              <a:buNone/>
            </a:pPr>
            <a:r>
              <a:rPr lang="en-US" sz="1600" b="1">
                <a:solidFill>
                  <a:srgbClr val="111827"/>
                </a:solidFill>
              </a:rPr>
              <a:t>E. Present</a:t>
            </a:r>
            <a:endParaRPr lang="en-US" sz="1600"/>
          </a:p>
        </p:txBody>
      </p:sp>
      <p:sp>
        <p:nvSpPr>
          <p:cNvPr id="50" name="Shape 48"/>
          <p:cNvSpPr/>
          <p:nvPr/>
        </p:nvSpPr>
        <p:spPr>
          <a:xfrm>
            <a:off x="9921240" y="2194560"/>
            <a:ext cx="1591056" cy="557784"/>
          </a:xfrm>
          <a:prstGeom prst="roundRect">
            <a:avLst>
              <a:gd name="adj" fmla="val 9836"/>
            </a:avLst>
          </a:prstGeom>
          <a:solidFill>
            <a:srgbClr val="FFFFFF"/>
          </a:solidFill>
          <a:ln w="12700">
            <a:solidFill>
              <a:srgbClr val="D7E0EA"/>
            </a:solidFill>
            <a:prstDash val="solid"/>
          </a:ln>
        </p:spPr>
      </p:sp>
      <p:sp>
        <p:nvSpPr>
          <p:cNvPr id="51" name="Text 49"/>
          <p:cNvSpPr/>
          <p:nvPr/>
        </p:nvSpPr>
        <p:spPr>
          <a:xfrm>
            <a:off x="10012680" y="2368296"/>
            <a:ext cx="1408176" cy="182880"/>
          </a:xfrm>
          <a:prstGeom prst="rect">
            <a:avLst/>
          </a:prstGeom>
          <a:noFill/>
          <a:ln/>
        </p:spPr>
        <p:txBody>
          <a:bodyPr wrap="square" lIns="0" tIns="0" rIns="0" bIns="0" rtlCol="0" anchor="ctr"/>
          <a:lstStyle/>
          <a:p>
            <a:pPr marL="0" indent="0" algn="ctr">
              <a:buNone/>
            </a:pPr>
            <a:r>
              <a:rPr lang="en-US" sz="1080">
                <a:solidFill>
                  <a:srgbClr val="667085"/>
                </a:solidFill>
              </a:rPr>
              <a:t>Finding deduplication</a:t>
            </a:r>
            <a:endParaRPr lang="en-US" sz="1080"/>
          </a:p>
        </p:txBody>
      </p:sp>
      <p:sp>
        <p:nvSpPr>
          <p:cNvPr id="52" name="Shape 50"/>
          <p:cNvSpPr/>
          <p:nvPr/>
        </p:nvSpPr>
        <p:spPr>
          <a:xfrm>
            <a:off x="9921240" y="2980944"/>
            <a:ext cx="1591056" cy="557784"/>
          </a:xfrm>
          <a:prstGeom prst="roundRect">
            <a:avLst>
              <a:gd name="adj" fmla="val 9836"/>
            </a:avLst>
          </a:prstGeom>
          <a:solidFill>
            <a:srgbClr val="FFFFFF"/>
          </a:solidFill>
          <a:ln w="12700">
            <a:solidFill>
              <a:srgbClr val="D7E0EA"/>
            </a:solidFill>
            <a:prstDash val="solid"/>
          </a:ln>
        </p:spPr>
      </p:sp>
      <p:sp>
        <p:nvSpPr>
          <p:cNvPr id="53" name="Text 51"/>
          <p:cNvSpPr/>
          <p:nvPr/>
        </p:nvSpPr>
        <p:spPr>
          <a:xfrm>
            <a:off x="10012680" y="3154680"/>
            <a:ext cx="1408176" cy="182880"/>
          </a:xfrm>
          <a:prstGeom prst="rect">
            <a:avLst/>
          </a:prstGeom>
          <a:noFill/>
          <a:ln/>
        </p:spPr>
        <p:txBody>
          <a:bodyPr wrap="square" lIns="0" tIns="0" rIns="0" bIns="0" rtlCol="0" anchor="ctr"/>
          <a:lstStyle/>
          <a:p>
            <a:pPr marL="0" indent="0" algn="ctr">
              <a:buNone/>
            </a:pPr>
            <a:r>
              <a:rPr lang="en-US" sz="1080">
                <a:solidFill>
                  <a:srgbClr val="667085"/>
                </a:solidFill>
              </a:rPr>
              <a:t>Evidence trace</a:t>
            </a:r>
            <a:endParaRPr lang="en-US" sz="1080"/>
          </a:p>
        </p:txBody>
      </p:sp>
      <p:sp>
        <p:nvSpPr>
          <p:cNvPr id="54" name="Shape 52"/>
          <p:cNvSpPr/>
          <p:nvPr/>
        </p:nvSpPr>
        <p:spPr>
          <a:xfrm>
            <a:off x="9921240" y="3767328"/>
            <a:ext cx="1591056" cy="557784"/>
          </a:xfrm>
          <a:prstGeom prst="roundRect">
            <a:avLst>
              <a:gd name="adj" fmla="val 9836"/>
            </a:avLst>
          </a:prstGeom>
          <a:solidFill>
            <a:srgbClr val="FFFFFF"/>
          </a:solidFill>
          <a:ln w="12700">
            <a:solidFill>
              <a:srgbClr val="D7E0EA"/>
            </a:solidFill>
            <a:prstDash val="solid"/>
          </a:ln>
        </p:spPr>
      </p:sp>
      <p:sp>
        <p:nvSpPr>
          <p:cNvPr id="55" name="Text 53"/>
          <p:cNvSpPr/>
          <p:nvPr/>
        </p:nvSpPr>
        <p:spPr>
          <a:xfrm>
            <a:off x="10012680" y="3941064"/>
            <a:ext cx="1408176" cy="182880"/>
          </a:xfrm>
          <a:prstGeom prst="rect">
            <a:avLst/>
          </a:prstGeom>
          <a:noFill/>
          <a:ln/>
        </p:spPr>
        <p:txBody>
          <a:bodyPr wrap="square" lIns="0" tIns="0" rIns="0" bIns="0" rtlCol="0" anchor="ctr"/>
          <a:lstStyle/>
          <a:p>
            <a:pPr marL="0" indent="0" algn="ctr">
              <a:buNone/>
            </a:pPr>
            <a:r>
              <a:rPr lang="en-US" sz="1080">
                <a:solidFill>
                  <a:srgbClr val="667085"/>
                </a:solidFill>
              </a:rPr>
              <a:t>Severity + explanation</a:t>
            </a:r>
            <a:endParaRPr lang="en-US" sz="1080"/>
          </a:p>
        </p:txBody>
      </p:sp>
      <p:sp>
        <p:nvSpPr>
          <p:cNvPr id="56" name="Shape 54"/>
          <p:cNvSpPr/>
          <p:nvPr/>
        </p:nvSpPr>
        <p:spPr>
          <a:xfrm>
            <a:off x="9921240" y="4553712"/>
            <a:ext cx="1591056" cy="557784"/>
          </a:xfrm>
          <a:prstGeom prst="roundRect">
            <a:avLst>
              <a:gd name="adj" fmla="val 9836"/>
            </a:avLst>
          </a:prstGeom>
          <a:solidFill>
            <a:srgbClr val="FFFFFF"/>
          </a:solidFill>
          <a:ln w="12700">
            <a:solidFill>
              <a:srgbClr val="D7E0EA"/>
            </a:solidFill>
            <a:prstDash val="solid"/>
          </a:ln>
        </p:spPr>
      </p:sp>
      <p:sp>
        <p:nvSpPr>
          <p:cNvPr id="57" name="Text 55"/>
          <p:cNvSpPr/>
          <p:nvPr/>
        </p:nvSpPr>
        <p:spPr>
          <a:xfrm>
            <a:off x="10012680" y="4727448"/>
            <a:ext cx="1408176" cy="182880"/>
          </a:xfrm>
          <a:prstGeom prst="rect">
            <a:avLst/>
          </a:prstGeom>
          <a:noFill/>
          <a:ln/>
        </p:spPr>
        <p:txBody>
          <a:bodyPr wrap="square" lIns="0" tIns="0" rIns="0" bIns="0" rtlCol="0" anchor="ctr"/>
          <a:lstStyle/>
          <a:p>
            <a:pPr marL="0" indent="0" algn="ctr">
              <a:buNone/>
            </a:pPr>
            <a:r>
              <a:rPr lang="en-US" sz="1080">
                <a:solidFill>
                  <a:srgbClr val="667085"/>
                </a:solidFill>
              </a:rPr>
              <a:t>UI / report</a:t>
            </a:r>
            <a:endParaRPr lang="en-US" sz="1080"/>
          </a:p>
        </p:txBody>
      </p:sp>
      <p:sp>
        <p:nvSpPr>
          <p:cNvPr id="58" name="Slide Number Placeholder 0"/>
          <p:cNvSpPr>
            <a:spLocks noGrp="1"/>
          </p:cNvSpPr>
          <p:nvPr>
            <p:ph type="sldNum" sz="quarter" idx="4294967295"/>
          </p:nvPr>
        </p:nvSpPr>
        <p:spPr>
          <a:xfrm>
            <a:off x="10652760" y="6510528"/>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77777"/>
                </a:solidFill>
              </a:defRPr>
            </a:lvl1pPr>
          </a:lstStyle>
          <a:p>
            <a:pPr algn="ct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1" cy="1"/>
          <a:chOff x="0" y="0"/>
          <a:chExt cx="1" cy="1"/>
        </a:xfrm>
      </p:grpSpPr>
      <p:sp>
        <p:nvSpPr>
          <p:cNvPr id="2" name="Text 0"/>
          <p:cNvSpPr/>
          <p:nvPr/>
        </p:nvSpPr>
        <p:spPr>
          <a:xfrm>
            <a:off x="475488" y="320040"/>
            <a:ext cx="11064240" cy="502920"/>
          </a:xfrm>
          <a:prstGeom prst="rect">
            <a:avLst/>
          </a:prstGeom>
          <a:noFill/>
          <a:ln/>
        </p:spPr>
        <p:txBody>
          <a:bodyPr wrap="square" lIns="0" tIns="0" rIns="0" bIns="0" rtlCol="0" anchor="ctr"/>
          <a:lstStyle/>
          <a:p>
            <a:pPr marL="0" indent="0">
              <a:buNone/>
            </a:pPr>
            <a:r>
              <a:rPr lang="en-US" sz="2600" b="1">
                <a:solidFill>
                  <a:srgbClr val="111827"/>
                </a:solidFill>
                <a:latin typeface="Calibri Light" pitchFamily="34" charset="0"/>
                <a:ea typeface="Calibri Light" pitchFamily="34" charset="-122"/>
                <a:cs typeface="Calibri Light" pitchFamily="34" charset="-120"/>
              </a:rPr>
              <a:t>Step 1: find direct ambiguity before formalization</a:t>
            </a:r>
            <a:endParaRPr lang="en-US" sz="2600"/>
          </a:p>
        </p:txBody>
      </p:sp>
      <p:sp>
        <p:nvSpPr>
          <p:cNvPr id="3" name="Text 1"/>
          <p:cNvSpPr/>
          <p:nvPr/>
        </p:nvSpPr>
        <p:spPr>
          <a:xfrm>
            <a:off x="493776" y="859536"/>
            <a:ext cx="10881360" cy="320040"/>
          </a:xfrm>
          <a:prstGeom prst="rect">
            <a:avLst/>
          </a:prstGeom>
          <a:noFill/>
          <a:ln/>
        </p:spPr>
        <p:txBody>
          <a:bodyPr wrap="square" lIns="0" tIns="0" rIns="0" bIns="0" rtlCol="0" anchor="ctr"/>
          <a:lstStyle/>
          <a:p>
            <a:pPr marL="0" indent="0">
              <a:buNone/>
            </a:pPr>
            <a:r>
              <a:rPr lang="en-US" sz="1250">
                <a:solidFill>
                  <a:srgbClr val="667085"/>
                </a:solidFill>
              </a:rPr>
              <a:t>The system isolates uncertain language and asks focused questions without rewriting the author’s intent.</a:t>
            </a:r>
            <a:endParaRPr lang="en-US" sz="1250"/>
          </a:p>
        </p:txBody>
      </p:sp>
      <p:sp>
        <p:nvSpPr>
          <p:cNvPr id="4" name="Shape 2"/>
          <p:cNvSpPr/>
          <p:nvPr/>
        </p:nvSpPr>
        <p:spPr>
          <a:xfrm>
            <a:off x="594360" y="1417320"/>
            <a:ext cx="3063240" cy="1828800"/>
          </a:xfrm>
          <a:prstGeom prst="roundRect">
            <a:avLst>
              <a:gd name="adj" fmla="val 4000"/>
            </a:avLst>
          </a:prstGeom>
          <a:solidFill>
            <a:srgbClr val="FFFFFF"/>
          </a:solidFill>
          <a:ln w="12700">
            <a:solidFill>
              <a:srgbClr val="D5DFEA"/>
            </a:solidFill>
            <a:prstDash val="solid"/>
          </a:ln>
          <a:effectLst/>
        </p:spPr>
      </p:sp>
      <p:sp>
        <p:nvSpPr>
          <p:cNvPr id="5" name="Shape 3"/>
          <p:cNvSpPr/>
          <p:nvPr/>
        </p:nvSpPr>
        <p:spPr>
          <a:xfrm>
            <a:off x="594360" y="1417320"/>
            <a:ext cx="73152" cy="1828800"/>
          </a:xfrm>
          <a:prstGeom prst="rect">
            <a:avLst/>
          </a:prstGeom>
          <a:solidFill>
            <a:srgbClr val="4E84C4"/>
          </a:solidFill>
          <a:ln w="12700">
            <a:solidFill>
              <a:srgbClr val="4E84C4"/>
            </a:solidFill>
            <a:prstDash val="solid"/>
          </a:ln>
        </p:spPr>
      </p:sp>
      <p:sp>
        <p:nvSpPr>
          <p:cNvPr id="6" name="Text 4"/>
          <p:cNvSpPr/>
          <p:nvPr/>
        </p:nvSpPr>
        <p:spPr>
          <a:xfrm>
            <a:off x="822960" y="1581912"/>
            <a:ext cx="2679192" cy="274320"/>
          </a:xfrm>
          <a:prstGeom prst="rect">
            <a:avLst/>
          </a:prstGeom>
          <a:noFill/>
          <a:ln/>
        </p:spPr>
        <p:txBody>
          <a:bodyPr wrap="square" lIns="0" tIns="0" rIns="0" bIns="0" rtlCol="0" anchor="ctr"/>
          <a:lstStyle/>
          <a:p>
            <a:pPr marL="0" indent="0">
              <a:buNone/>
            </a:pPr>
            <a:r>
              <a:rPr lang="en-US" sz="1500" b="1">
                <a:solidFill>
                  <a:srgbClr val="111827"/>
                </a:solidFill>
              </a:rPr>
              <a:t>Input requirement</a:t>
            </a:r>
            <a:endParaRPr lang="en-US" sz="1500"/>
          </a:p>
        </p:txBody>
      </p:sp>
      <p:sp>
        <p:nvSpPr>
          <p:cNvPr id="7" name="Text 5"/>
          <p:cNvSpPr/>
          <p:nvPr/>
        </p:nvSpPr>
        <p:spPr>
          <a:xfrm>
            <a:off x="822960" y="1947672"/>
            <a:ext cx="2679192" cy="1170432"/>
          </a:xfrm>
          <a:prstGeom prst="rect">
            <a:avLst/>
          </a:prstGeom>
          <a:noFill/>
          <a:ln/>
        </p:spPr>
        <p:txBody>
          <a:bodyPr wrap="square" lIns="381" tIns="381" rIns="381" bIns="381" rtlCol="0" anchor="ctr">
            <a:normAutofit/>
          </a:bodyPr>
          <a:lstStyle/>
          <a:p>
            <a:pPr marL="0" indent="0">
              <a:buNone/>
            </a:pPr>
            <a:r>
              <a:rPr lang="en-US" sz="1150">
                <a:solidFill>
                  <a:srgbClr val="667085"/>
                </a:solidFill>
              </a:rPr>
              <a:t>“The system shall respond quickly to critical requests.”</a:t>
            </a:r>
            <a:endParaRPr lang="en-US" sz="1150"/>
          </a:p>
        </p:txBody>
      </p:sp>
      <p:sp>
        <p:nvSpPr>
          <p:cNvPr id="8" name="Shape 6"/>
          <p:cNvSpPr/>
          <p:nvPr/>
        </p:nvSpPr>
        <p:spPr>
          <a:xfrm>
            <a:off x="3749040" y="2331720"/>
            <a:ext cx="685800" cy="1"/>
          </a:xfrm>
          <a:prstGeom prst="line">
            <a:avLst/>
          </a:prstGeom>
          <a:noFill/>
          <a:ln w="25400">
            <a:solidFill>
              <a:srgbClr val="4E84C4"/>
            </a:solidFill>
            <a:prstDash val="solid"/>
            <a:headEnd type="none"/>
            <a:tailEnd type="triangle"/>
          </a:ln>
        </p:spPr>
      </p:sp>
      <p:sp>
        <p:nvSpPr>
          <p:cNvPr id="9" name="Shape 7"/>
          <p:cNvSpPr/>
          <p:nvPr/>
        </p:nvSpPr>
        <p:spPr>
          <a:xfrm>
            <a:off x="4526280" y="1417320"/>
            <a:ext cx="3063240" cy="1828800"/>
          </a:xfrm>
          <a:prstGeom prst="roundRect">
            <a:avLst>
              <a:gd name="adj" fmla="val 4000"/>
            </a:avLst>
          </a:prstGeom>
          <a:solidFill>
            <a:srgbClr val="FFFFFF"/>
          </a:solidFill>
          <a:ln w="12700">
            <a:solidFill>
              <a:srgbClr val="D5DFEA"/>
            </a:solidFill>
            <a:prstDash val="solid"/>
          </a:ln>
          <a:effectLst/>
        </p:spPr>
      </p:sp>
      <p:sp>
        <p:nvSpPr>
          <p:cNvPr id="10" name="Shape 8"/>
          <p:cNvSpPr/>
          <p:nvPr/>
        </p:nvSpPr>
        <p:spPr>
          <a:xfrm>
            <a:off x="4526280" y="1417320"/>
            <a:ext cx="73152" cy="1828800"/>
          </a:xfrm>
          <a:prstGeom prst="rect">
            <a:avLst/>
          </a:prstGeom>
          <a:solidFill>
            <a:srgbClr val="E8871E"/>
          </a:solidFill>
          <a:ln w="12700">
            <a:solidFill>
              <a:srgbClr val="E8871E"/>
            </a:solidFill>
            <a:prstDash val="solid"/>
          </a:ln>
        </p:spPr>
      </p:sp>
      <p:sp>
        <p:nvSpPr>
          <p:cNvPr id="11" name="Text 9"/>
          <p:cNvSpPr/>
          <p:nvPr/>
        </p:nvSpPr>
        <p:spPr>
          <a:xfrm>
            <a:off x="4754880" y="1581912"/>
            <a:ext cx="2679192" cy="274320"/>
          </a:xfrm>
          <a:prstGeom prst="rect">
            <a:avLst/>
          </a:prstGeom>
          <a:noFill/>
          <a:ln/>
        </p:spPr>
        <p:txBody>
          <a:bodyPr wrap="square" lIns="0" tIns="0" rIns="0" bIns="0" rtlCol="0" anchor="ctr"/>
          <a:lstStyle/>
          <a:p>
            <a:pPr marL="0" indent="0">
              <a:buNone/>
            </a:pPr>
            <a:r>
              <a:rPr lang="en-US" sz="1500" b="1">
                <a:solidFill>
                  <a:srgbClr val="111827"/>
                </a:solidFill>
              </a:rPr>
              <a:t>Ambiguity finding</a:t>
            </a:r>
            <a:endParaRPr lang="en-US" sz="1500"/>
          </a:p>
        </p:txBody>
      </p:sp>
      <p:sp>
        <p:nvSpPr>
          <p:cNvPr id="12" name="Text 10"/>
          <p:cNvSpPr/>
          <p:nvPr/>
        </p:nvSpPr>
        <p:spPr>
          <a:xfrm>
            <a:off x="4754880" y="1947672"/>
            <a:ext cx="2679192" cy="1170432"/>
          </a:xfrm>
          <a:prstGeom prst="rect">
            <a:avLst/>
          </a:prstGeom>
          <a:noFill/>
          <a:ln/>
        </p:spPr>
        <p:txBody>
          <a:bodyPr wrap="square" lIns="381" tIns="381" rIns="381" bIns="381" rtlCol="0" anchor="ctr">
            <a:normAutofit/>
          </a:bodyPr>
          <a:lstStyle/>
          <a:p>
            <a:pPr marL="0" indent="0">
              <a:buNone/>
            </a:pPr>
            <a:r>
              <a:rPr lang="en-US" sz="1150">
                <a:solidFill>
                  <a:srgbClr val="667085"/>
                </a:solidFill>
              </a:rPr>
              <a:t>Term: “quickly”</a:t>
            </a:r>
            <a:endParaRPr lang="en-US" sz="1150"/>
          </a:p>
          <a:p>
            <a:pPr marL="0" indent="0">
              <a:buNone/>
            </a:pPr>
            <a:r>
              <a:rPr lang="en-US" sz="1150">
                <a:solidFill>
                  <a:srgbClr val="667085"/>
                </a:solidFill>
              </a:rPr>
              <a:t>Type: measurable threshold missing</a:t>
            </a:r>
            <a:endParaRPr lang="en-US" sz="1150"/>
          </a:p>
          <a:p>
            <a:pPr marL="0" indent="0">
              <a:buNone/>
            </a:pPr>
            <a:r>
              <a:rPr lang="en-US" sz="1150">
                <a:solidFill>
                  <a:srgbClr val="667085"/>
                </a:solidFill>
              </a:rPr>
              <a:t>Impact: acceptance cannot be tested</a:t>
            </a:r>
            <a:endParaRPr lang="en-US" sz="1150"/>
          </a:p>
        </p:txBody>
      </p:sp>
      <p:sp>
        <p:nvSpPr>
          <p:cNvPr id="13" name="Shape 11"/>
          <p:cNvSpPr/>
          <p:nvPr/>
        </p:nvSpPr>
        <p:spPr>
          <a:xfrm>
            <a:off x="7680960" y="2331720"/>
            <a:ext cx="685800" cy="1"/>
          </a:xfrm>
          <a:prstGeom prst="line">
            <a:avLst/>
          </a:prstGeom>
          <a:noFill/>
          <a:ln w="25400">
            <a:solidFill>
              <a:srgbClr val="4E84C4"/>
            </a:solidFill>
            <a:prstDash val="solid"/>
            <a:headEnd type="none"/>
            <a:tailEnd type="triangle"/>
          </a:ln>
        </p:spPr>
      </p:sp>
      <p:sp>
        <p:nvSpPr>
          <p:cNvPr id="14" name="Shape 12"/>
          <p:cNvSpPr/>
          <p:nvPr/>
        </p:nvSpPr>
        <p:spPr>
          <a:xfrm>
            <a:off x="8458200" y="1417320"/>
            <a:ext cx="3063240" cy="1828800"/>
          </a:xfrm>
          <a:prstGeom prst="roundRect">
            <a:avLst>
              <a:gd name="adj" fmla="val 4000"/>
            </a:avLst>
          </a:prstGeom>
          <a:solidFill>
            <a:srgbClr val="FFFFFF"/>
          </a:solidFill>
          <a:ln w="12700">
            <a:solidFill>
              <a:srgbClr val="D5DFEA"/>
            </a:solidFill>
            <a:prstDash val="solid"/>
          </a:ln>
          <a:effectLst/>
        </p:spPr>
      </p:sp>
      <p:sp>
        <p:nvSpPr>
          <p:cNvPr id="15" name="Shape 13"/>
          <p:cNvSpPr/>
          <p:nvPr/>
        </p:nvSpPr>
        <p:spPr>
          <a:xfrm>
            <a:off x="8458200" y="1417320"/>
            <a:ext cx="73152" cy="1828800"/>
          </a:xfrm>
          <a:prstGeom prst="rect">
            <a:avLst/>
          </a:prstGeom>
          <a:solidFill>
            <a:srgbClr val="FBB034"/>
          </a:solidFill>
          <a:ln w="12700">
            <a:solidFill>
              <a:srgbClr val="FBB034"/>
            </a:solidFill>
            <a:prstDash val="solid"/>
          </a:ln>
        </p:spPr>
      </p:sp>
      <p:sp>
        <p:nvSpPr>
          <p:cNvPr id="16" name="Text 14"/>
          <p:cNvSpPr/>
          <p:nvPr/>
        </p:nvSpPr>
        <p:spPr>
          <a:xfrm>
            <a:off x="8686800" y="1581912"/>
            <a:ext cx="2679192" cy="274320"/>
          </a:xfrm>
          <a:prstGeom prst="rect">
            <a:avLst/>
          </a:prstGeom>
          <a:noFill/>
          <a:ln/>
        </p:spPr>
        <p:txBody>
          <a:bodyPr wrap="square" lIns="0" tIns="0" rIns="0" bIns="0" rtlCol="0" anchor="ctr"/>
          <a:lstStyle/>
          <a:p>
            <a:pPr marL="0" indent="0">
              <a:buNone/>
            </a:pPr>
            <a:r>
              <a:rPr lang="en-US" sz="1500" b="1">
                <a:solidFill>
                  <a:srgbClr val="111827"/>
                </a:solidFill>
              </a:rPr>
              <a:t>Focused clarification</a:t>
            </a:r>
            <a:endParaRPr lang="en-US" sz="1500"/>
          </a:p>
        </p:txBody>
      </p:sp>
      <p:sp>
        <p:nvSpPr>
          <p:cNvPr id="17" name="Text 15"/>
          <p:cNvSpPr/>
          <p:nvPr/>
        </p:nvSpPr>
        <p:spPr>
          <a:xfrm>
            <a:off x="8686800" y="1947672"/>
            <a:ext cx="2679192" cy="1170432"/>
          </a:xfrm>
          <a:prstGeom prst="rect">
            <a:avLst/>
          </a:prstGeom>
          <a:noFill/>
          <a:ln/>
        </p:spPr>
        <p:txBody>
          <a:bodyPr wrap="square" lIns="381" tIns="381" rIns="381" bIns="381" rtlCol="0" anchor="ctr">
            <a:normAutofit/>
          </a:bodyPr>
          <a:lstStyle/>
          <a:p>
            <a:pPr marL="0" indent="0">
              <a:buNone/>
            </a:pPr>
            <a:r>
              <a:rPr lang="en-US" sz="1150">
                <a:solidFill>
                  <a:srgbClr val="667085"/>
                </a:solidFill>
              </a:rPr>
              <a:t>“What maximum response time applies to critical requests?”</a:t>
            </a:r>
            <a:endParaRPr lang="en-US" sz="1150"/>
          </a:p>
        </p:txBody>
      </p:sp>
      <p:sp>
        <p:nvSpPr>
          <p:cNvPr id="18" name="Shape 16"/>
          <p:cNvSpPr/>
          <p:nvPr/>
        </p:nvSpPr>
        <p:spPr>
          <a:xfrm>
            <a:off x="1097280" y="3977640"/>
            <a:ext cx="9966960" cy="1325880"/>
          </a:xfrm>
          <a:prstGeom prst="roundRect">
            <a:avLst>
              <a:gd name="adj" fmla="val 6897"/>
            </a:avLst>
          </a:prstGeom>
          <a:solidFill>
            <a:srgbClr val="F4F7FB"/>
          </a:solidFill>
          <a:ln w="12700">
            <a:solidFill>
              <a:srgbClr val="D5E0EA"/>
            </a:solidFill>
            <a:prstDash val="solid"/>
          </a:ln>
        </p:spPr>
      </p:sp>
      <p:sp>
        <p:nvSpPr>
          <p:cNvPr id="19" name="Text 17"/>
          <p:cNvSpPr/>
          <p:nvPr/>
        </p:nvSpPr>
        <p:spPr>
          <a:xfrm>
            <a:off x="1371600" y="4270248"/>
            <a:ext cx="1920240" cy="274320"/>
          </a:xfrm>
          <a:prstGeom prst="rect">
            <a:avLst/>
          </a:prstGeom>
          <a:noFill/>
          <a:ln/>
        </p:spPr>
        <p:txBody>
          <a:bodyPr wrap="square" lIns="0" tIns="0" rIns="0" bIns="0" rtlCol="0" anchor="ctr"/>
          <a:lstStyle/>
          <a:p>
            <a:pPr marL="0" indent="0">
              <a:buNone/>
            </a:pPr>
            <a:r>
              <a:rPr lang="en-US" sz="1500" b="1">
                <a:solidFill>
                  <a:srgbClr val="111827"/>
                </a:solidFill>
              </a:rPr>
              <a:t>Output of this stage</a:t>
            </a:r>
            <a:endParaRPr lang="en-US" sz="1500"/>
          </a:p>
        </p:txBody>
      </p:sp>
      <p:sp>
        <p:nvSpPr>
          <p:cNvPr id="20" name="Text 18"/>
          <p:cNvSpPr/>
          <p:nvPr/>
        </p:nvSpPr>
        <p:spPr>
          <a:xfrm>
            <a:off x="3337560" y="4224528"/>
            <a:ext cx="7132320" cy="502920"/>
          </a:xfrm>
          <a:prstGeom prst="rect">
            <a:avLst/>
          </a:prstGeom>
          <a:noFill/>
          <a:ln/>
        </p:spPr>
        <p:txBody>
          <a:bodyPr wrap="square" lIns="0" tIns="0" rIns="0" bIns="0" rtlCol="0" anchor="ctr"/>
          <a:lstStyle/>
          <a:p>
            <a:pPr marL="0" indent="0" algn="ctr">
              <a:buNone/>
            </a:pPr>
            <a:r>
              <a:rPr lang="en-US" sz="1400" b="1">
                <a:solidFill>
                  <a:srgbClr val="4E84C4"/>
                </a:solidFill>
              </a:rPr>
              <a:t>Refined requirement + unresolved ambiguity record + updated context + source trace</a:t>
            </a:r>
            <a:endParaRPr lang="en-US" sz="1400"/>
          </a:p>
        </p:txBody>
      </p:sp>
      <p:sp>
        <p:nvSpPr>
          <p:cNvPr id="21" name="Shape 19"/>
          <p:cNvSpPr/>
          <p:nvPr/>
        </p:nvSpPr>
        <p:spPr>
          <a:xfrm>
            <a:off x="502920" y="5897880"/>
            <a:ext cx="11064240" cy="411480"/>
          </a:xfrm>
          <a:prstGeom prst="roundRect">
            <a:avLst>
              <a:gd name="adj" fmla="val 26667"/>
            </a:avLst>
          </a:prstGeom>
          <a:solidFill>
            <a:srgbClr val="EEF4FA"/>
          </a:solidFill>
          <a:ln w="12700">
            <a:solidFill>
              <a:srgbClr val="D5E2EF"/>
            </a:solidFill>
            <a:prstDash val="solid"/>
          </a:ln>
        </p:spPr>
      </p:sp>
      <p:sp>
        <p:nvSpPr>
          <p:cNvPr id="22" name="Text 20"/>
          <p:cNvSpPr/>
          <p:nvPr/>
        </p:nvSpPr>
        <p:spPr>
          <a:xfrm>
            <a:off x="731520" y="5998464"/>
            <a:ext cx="10607040" cy="182880"/>
          </a:xfrm>
          <a:prstGeom prst="rect">
            <a:avLst/>
          </a:prstGeom>
          <a:noFill/>
          <a:ln/>
        </p:spPr>
        <p:txBody>
          <a:bodyPr wrap="square" lIns="0" tIns="0" rIns="0" bIns="0" rtlCol="0" anchor="ctr"/>
          <a:lstStyle/>
          <a:p>
            <a:pPr marL="0" indent="0" algn="ctr">
              <a:buNone/>
            </a:pPr>
            <a:r>
              <a:rPr lang="en-US" sz="1200" b="1">
                <a:solidFill>
                  <a:srgbClr val="4E84C4"/>
                </a:solidFill>
              </a:rPr>
              <a:t>Scope choice: target direct, actionable ambiguities first rather than claiming complete natural-language understanding.</a:t>
            </a:r>
            <a:endParaRPr lang="en-US" sz="1200"/>
          </a:p>
        </p:txBody>
      </p:sp>
      <p:sp>
        <p:nvSpPr>
          <p:cNvPr id="25" name="Slide Number Placeholder 0"/>
          <p:cNvSpPr>
            <a:spLocks noGrp="1"/>
          </p:cNvSpPr>
          <p:nvPr>
            <p:ph type="sldNum" sz="quarter" idx="4294967295"/>
          </p:nvPr>
        </p:nvSpPr>
        <p:spPr>
          <a:xfrm>
            <a:off x="10652760" y="6510528"/>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77777"/>
                </a:solidFill>
              </a:defRPr>
            </a:lvl1pPr>
          </a:lstStyle>
          <a:p>
            <a:pPr algn="ctr"/>
            <a:fld id="{F7021451-1387-4CA6-816F-3879F97B5CBC}" type="slidenum">
              <a:rPr lang="en-US" b="0"/>
              <a:t>13</a:t>
            </a:fld>
            <a:endParaRPr lang="en-US"/>
          </a:p>
        </p:txBody>
      </p:sp>
      <p:sp>
        <p:nvSpPr>
          <p:cNvPr id="24" name="Freeform 2">
            <a:extLst>
              <a:ext uri="{FF2B5EF4-FFF2-40B4-BE49-F238E27FC236}">
                <a16:creationId xmlns:a16="http://schemas.microsoft.com/office/drawing/2014/main" id="{1BE83749-1C12-6A68-D07E-07801895F0A9}"/>
              </a:ext>
            </a:extLst>
          </p:cNvPr>
          <p:cNvSpPr/>
          <p:nvPr/>
        </p:nvSpPr>
        <p:spPr>
          <a:xfrm>
            <a:off x="5142104" y="6380991"/>
            <a:ext cx="1903592" cy="476247"/>
          </a:xfrm>
          <a:custGeom>
            <a:avLst/>
            <a:gdLst/>
            <a:ahLst/>
            <a:cxnLst/>
            <a:rect l="l" t="t" r="r" b="b"/>
            <a:pathLst>
              <a:path w="2855388" h="714371">
                <a:moveTo>
                  <a:pt x="0" y="0"/>
                </a:moveTo>
                <a:lnTo>
                  <a:pt x="2855388" y="0"/>
                </a:lnTo>
                <a:lnTo>
                  <a:pt x="2855388" y="714371"/>
                </a:lnTo>
                <a:lnTo>
                  <a:pt x="0" y="714371"/>
                </a:lnTo>
                <a:lnTo>
                  <a:pt x="0" y="0"/>
                </a:lnTo>
                <a:close/>
              </a:path>
            </a:pathLst>
          </a:custGeom>
          <a:blipFill>
            <a:blip r:embed="rId3"/>
            <a:stretch>
              <a:fillRect t="-1162" b="-1162"/>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191695" cy="91440"/>
          </a:xfrm>
          <a:prstGeom prst="rect">
            <a:avLst/>
          </a:prstGeom>
          <a:solidFill>
            <a:srgbClr val="FBB034"/>
          </a:solidFill>
          <a:ln w="12700">
            <a:solidFill>
              <a:srgbClr val="FBB034"/>
            </a:solidFill>
            <a:prstDash val="solid"/>
          </a:ln>
        </p:spPr>
      </p:sp>
      <p:sp>
        <p:nvSpPr>
          <p:cNvPr id="3" name="Text 1"/>
          <p:cNvSpPr/>
          <p:nvPr/>
        </p:nvSpPr>
        <p:spPr>
          <a:xfrm>
            <a:off x="502920" y="310896"/>
            <a:ext cx="10927080" cy="502920"/>
          </a:xfrm>
          <a:prstGeom prst="rect">
            <a:avLst/>
          </a:prstGeom>
          <a:noFill/>
          <a:ln/>
        </p:spPr>
        <p:txBody>
          <a:bodyPr wrap="square" lIns="381" tIns="381" rIns="381" bIns="381" rtlCol="0" anchor="ctr">
            <a:normAutofit/>
          </a:bodyPr>
          <a:lstStyle/>
          <a:p>
            <a:pPr marL="0" indent="0" algn="l">
              <a:buNone/>
            </a:pPr>
            <a:r>
              <a:rPr lang="en-US" sz="2700" b="1">
                <a:solidFill>
                  <a:srgbClr val="12233A"/>
                </a:solidFill>
                <a:latin typeface="Calibri Light" pitchFamily="34" charset="0"/>
                <a:ea typeface="Calibri Light" pitchFamily="34" charset="-122"/>
                <a:cs typeface="Calibri Light" pitchFamily="34" charset="-120"/>
              </a:rPr>
              <a:t>Step 2: formal representation and code generation</a:t>
            </a:r>
            <a:endParaRPr lang="en-US" sz="2700"/>
          </a:p>
        </p:txBody>
      </p:sp>
      <p:sp>
        <p:nvSpPr>
          <p:cNvPr id="4" name="Text 2"/>
          <p:cNvSpPr/>
          <p:nvPr/>
        </p:nvSpPr>
        <p:spPr>
          <a:xfrm>
            <a:off x="521208" y="886968"/>
            <a:ext cx="10835640" cy="310896"/>
          </a:xfrm>
          <a:prstGeom prst="rect">
            <a:avLst/>
          </a:prstGeom>
          <a:noFill/>
          <a:ln/>
        </p:spPr>
        <p:txBody>
          <a:bodyPr wrap="square" lIns="381" tIns="381" rIns="381" bIns="381" rtlCol="0" anchor="ctr">
            <a:normAutofit/>
          </a:bodyPr>
          <a:lstStyle/>
          <a:p>
            <a:pPr marL="0" indent="0" algn="l">
              <a:buNone/>
            </a:pPr>
            <a:r>
              <a:rPr lang="en-US" sz="1220">
                <a:solidFill>
                  <a:srgbClr val="667085"/>
                </a:solidFill>
                <a:latin typeface="Calibri Light" pitchFamily="34" charset="0"/>
                <a:ea typeface="Calibri Light" pitchFamily="34" charset="-122"/>
                <a:cs typeface="Calibri Light" pitchFamily="34" charset="-120"/>
              </a:rPr>
              <a:t>The refined requirement and context are converted into parallel Lean and FOL paths, then translated into executable verification code.</a:t>
            </a:r>
            <a:endParaRPr lang="en-US" sz="1220"/>
          </a:p>
        </p:txBody>
      </p:sp>
      <p:sp>
        <p:nvSpPr>
          <p:cNvPr id="5" name="Text 3"/>
          <p:cNvSpPr/>
          <p:nvPr/>
        </p:nvSpPr>
        <p:spPr>
          <a:xfrm>
            <a:off x="502920" y="6510528"/>
            <a:ext cx="1143000" cy="146304"/>
          </a:xfrm>
          <a:prstGeom prst="rect">
            <a:avLst/>
          </a:prstGeom>
          <a:noFill/>
          <a:ln/>
        </p:spPr>
        <p:txBody>
          <a:bodyPr wrap="square" lIns="381" tIns="381" rIns="381" bIns="381" rtlCol="0" anchor="ctr">
            <a:normAutofit/>
          </a:bodyPr>
          <a:lstStyle/>
          <a:p>
            <a:pPr marL="0" indent="0" algn="l">
              <a:buNone/>
            </a:pPr>
            <a:r>
              <a:rPr lang="en-US" sz="800">
                <a:solidFill>
                  <a:srgbClr val="666666"/>
                </a:solidFill>
                <a:latin typeface="Calibri Light" pitchFamily="34" charset="0"/>
                <a:ea typeface="Calibri Light" pitchFamily="34" charset="-122"/>
                <a:cs typeface="Calibri Light" pitchFamily="34" charset="-120"/>
              </a:rPr>
              <a:t>TCS confidential</a:t>
            </a:r>
            <a:endParaRPr lang="en-US" sz="800"/>
          </a:p>
        </p:txBody>
      </p:sp>
      <p:sp>
        <p:nvSpPr>
          <p:cNvPr id="6" name="Text 4"/>
          <p:cNvSpPr/>
          <p:nvPr/>
        </p:nvSpPr>
        <p:spPr>
          <a:xfrm>
            <a:off x="10771632" y="6510528"/>
            <a:ext cx="228600" cy="146304"/>
          </a:xfrm>
          <a:prstGeom prst="rect">
            <a:avLst/>
          </a:prstGeom>
          <a:noFill/>
          <a:ln/>
        </p:spPr>
        <p:txBody>
          <a:bodyPr wrap="square" lIns="381" tIns="381" rIns="381" bIns="381" rtlCol="0" anchor="ctr">
            <a:normAutofit/>
          </a:bodyPr>
          <a:lstStyle/>
          <a:p>
            <a:pPr marL="0" indent="0" algn="ctr">
              <a:buNone/>
            </a:pPr>
            <a:r>
              <a:rPr lang="en-US" sz="800">
                <a:solidFill>
                  <a:srgbClr val="666666"/>
                </a:solidFill>
                <a:latin typeface="Calibri Light" pitchFamily="34" charset="0"/>
                <a:ea typeface="Calibri Light" pitchFamily="34" charset="-122"/>
                <a:cs typeface="Calibri Light" pitchFamily="34" charset="-120"/>
              </a:rPr>
              <a:t>11</a:t>
            </a:r>
            <a:endParaRPr lang="en-US" sz="800"/>
          </a:p>
        </p:txBody>
      </p:sp>
      <p:sp>
        <p:nvSpPr>
          <p:cNvPr id="7" name="Text 5"/>
          <p:cNvSpPr/>
          <p:nvPr/>
        </p:nvSpPr>
        <p:spPr>
          <a:xfrm>
            <a:off x="11137392" y="6419088"/>
            <a:ext cx="566928" cy="228600"/>
          </a:xfrm>
          <a:prstGeom prst="rect">
            <a:avLst/>
          </a:prstGeom>
          <a:noFill/>
          <a:ln/>
        </p:spPr>
        <p:txBody>
          <a:bodyPr wrap="square" lIns="381" tIns="381" rIns="381" bIns="381" rtlCol="0" anchor="ctr">
            <a:normAutofit/>
          </a:bodyPr>
          <a:lstStyle/>
          <a:p>
            <a:pPr marL="0" indent="0" algn="r">
              <a:buNone/>
            </a:pPr>
            <a:r>
              <a:rPr lang="en-US" sz="1800" b="1">
                <a:solidFill>
                  <a:srgbClr val="4E84C4"/>
                </a:solidFill>
                <a:latin typeface="Calibri Light" pitchFamily="34" charset="0"/>
                <a:ea typeface="Calibri Light" pitchFamily="34" charset="-122"/>
                <a:cs typeface="Calibri Light" pitchFamily="34" charset="-120"/>
              </a:rPr>
              <a:t>tcs</a:t>
            </a:r>
            <a:endParaRPr lang="en-US" sz="1800"/>
          </a:p>
        </p:txBody>
      </p:sp>
      <p:sp>
        <p:nvSpPr>
          <p:cNvPr id="8" name="Shape 6"/>
          <p:cNvSpPr/>
          <p:nvPr/>
        </p:nvSpPr>
        <p:spPr>
          <a:xfrm>
            <a:off x="624438" y="1471302"/>
            <a:ext cx="2533450" cy="3909460"/>
          </a:xfrm>
          <a:prstGeom prst="roundRect">
            <a:avLst>
              <a:gd name="adj" fmla="val 2264"/>
            </a:avLst>
          </a:prstGeom>
          <a:solidFill>
            <a:srgbClr val="F8FAFC"/>
          </a:solidFill>
          <a:ln w="12700">
            <a:solidFill>
              <a:srgbClr val="D2DFEB"/>
            </a:solidFill>
            <a:prstDash val="solid"/>
          </a:ln>
          <a:effectLst>
            <a:outerShdw blurRad="12700" dist="3175" dir="2700000" algn="bl" rotWithShape="0">
              <a:srgbClr val="000000">
                <a:alpha val="8000"/>
              </a:srgbClr>
            </a:outerShdw>
          </a:effectLst>
        </p:spPr>
      </p:sp>
      <p:sp>
        <p:nvSpPr>
          <p:cNvPr id="9" name="Shape 7"/>
          <p:cNvSpPr/>
          <p:nvPr/>
        </p:nvSpPr>
        <p:spPr>
          <a:xfrm>
            <a:off x="584334" y="1471302"/>
            <a:ext cx="52218" cy="3919486"/>
          </a:xfrm>
          <a:prstGeom prst="rect">
            <a:avLst/>
          </a:prstGeom>
          <a:solidFill>
            <a:srgbClr val="4E84C4"/>
          </a:solidFill>
          <a:ln w="12700">
            <a:solidFill>
              <a:srgbClr val="4E84C4"/>
            </a:solidFill>
            <a:prstDash val="solid"/>
          </a:ln>
        </p:spPr>
      </p:sp>
      <p:sp>
        <p:nvSpPr>
          <p:cNvPr id="10" name="Text 8"/>
          <p:cNvSpPr/>
          <p:nvPr/>
        </p:nvSpPr>
        <p:spPr>
          <a:xfrm>
            <a:off x="822960" y="1627632"/>
            <a:ext cx="2029968" cy="329184"/>
          </a:xfrm>
          <a:prstGeom prst="rect">
            <a:avLst/>
          </a:prstGeom>
          <a:noFill/>
          <a:ln/>
        </p:spPr>
        <p:txBody>
          <a:bodyPr wrap="square" lIns="381" tIns="381" rIns="381" bIns="381" rtlCol="0" anchor="ctr">
            <a:normAutofit/>
          </a:bodyPr>
          <a:lstStyle/>
          <a:p>
            <a:pPr marL="0" indent="0" algn="l">
              <a:buNone/>
            </a:pPr>
            <a:r>
              <a:rPr lang="en-US" sz="1600" b="1">
                <a:solidFill>
                  <a:srgbClr val="12233A"/>
                </a:solidFill>
                <a:latin typeface="Calibri Light" pitchFamily="34" charset="0"/>
                <a:ea typeface="Calibri Light" pitchFamily="34" charset="-122"/>
                <a:cs typeface="Calibri Light" pitchFamily="34" charset="-120"/>
              </a:rPr>
              <a:t>Refined inputs</a:t>
            </a:r>
            <a:endParaRPr lang="en-US" sz="1600"/>
          </a:p>
        </p:txBody>
      </p:sp>
      <p:sp>
        <p:nvSpPr>
          <p:cNvPr id="11" name="Text 9"/>
          <p:cNvSpPr/>
          <p:nvPr/>
        </p:nvSpPr>
        <p:spPr>
          <a:xfrm>
            <a:off x="822960" y="2103120"/>
            <a:ext cx="2011680" cy="2980944"/>
          </a:xfrm>
          <a:prstGeom prst="rect">
            <a:avLst/>
          </a:prstGeom>
          <a:noFill/>
          <a:ln/>
        </p:spPr>
        <p:txBody>
          <a:bodyPr wrap="square" lIns="381" tIns="381" rIns="381" bIns="381" rtlCol="0" anchor="ctr">
            <a:normAutofit/>
          </a:bodyPr>
          <a:lstStyle/>
          <a:p>
            <a:pPr marL="0" indent="0" algn="l">
              <a:buNone/>
            </a:pPr>
            <a:r>
              <a:rPr lang="en-US" sz="1120">
                <a:solidFill>
                  <a:srgbClr val="667085"/>
                </a:solidFill>
                <a:latin typeface="Calibri Light" pitchFamily="34" charset="0"/>
                <a:ea typeface="Calibri Light" pitchFamily="34" charset="-122"/>
                <a:cs typeface="Calibri Light" pitchFamily="34" charset="-120"/>
              </a:rPr>
              <a:t>Refined requirement</a:t>
            </a:r>
            <a:endParaRPr lang="en-US" sz="1120"/>
          </a:p>
          <a:p>
            <a:pPr marL="0" indent="0" algn="l">
              <a:buNone/>
            </a:pPr>
            <a:endParaRPr lang="en-US" sz="1120"/>
          </a:p>
          <a:p>
            <a:pPr marL="0" indent="0" algn="l">
              <a:buNone/>
            </a:pPr>
            <a:r>
              <a:rPr lang="en-US" sz="1120">
                <a:solidFill>
                  <a:srgbClr val="667085"/>
                </a:solidFill>
                <a:latin typeface="Calibri Light" pitchFamily="34" charset="0"/>
                <a:ea typeface="Calibri Light" pitchFamily="34" charset="-122"/>
                <a:cs typeface="Calibri Light" pitchFamily="34" charset="-120"/>
              </a:rPr>
              <a:t>Refined context</a:t>
            </a:r>
            <a:endParaRPr lang="en-US" sz="1120"/>
          </a:p>
          <a:p>
            <a:pPr marL="0" indent="0" algn="l">
              <a:buNone/>
            </a:pPr>
            <a:endParaRPr lang="en-US" sz="1120"/>
          </a:p>
          <a:p>
            <a:pPr marL="0" indent="0" algn="l">
              <a:buNone/>
            </a:pPr>
            <a:r>
              <a:rPr lang="en-US" sz="1120">
                <a:solidFill>
                  <a:srgbClr val="667085"/>
                </a:solidFill>
                <a:latin typeface="Calibri Light" pitchFamily="34" charset="0"/>
                <a:ea typeface="Calibri Light" pitchFamily="34" charset="-122"/>
                <a:cs typeface="Calibri Light" pitchFamily="34" charset="-120"/>
              </a:rPr>
              <a:t>Definitions and bounds</a:t>
            </a:r>
            <a:endParaRPr lang="en-US" sz="1120"/>
          </a:p>
          <a:p>
            <a:pPr marL="0" indent="0" algn="l">
              <a:buNone/>
            </a:pPr>
            <a:endParaRPr lang="en-US" sz="1120"/>
          </a:p>
          <a:p>
            <a:pPr marL="0" indent="0" algn="l">
              <a:buNone/>
            </a:pPr>
            <a:r>
              <a:rPr lang="en-US" sz="1120">
                <a:solidFill>
                  <a:srgbClr val="667085"/>
                </a:solidFill>
                <a:latin typeface="Calibri Light" pitchFamily="34" charset="0"/>
                <a:ea typeface="Calibri Light" pitchFamily="34" charset="-122"/>
                <a:cs typeface="Calibri Light" pitchFamily="34" charset="-120"/>
              </a:rPr>
              <a:t>Source trace</a:t>
            </a:r>
            <a:endParaRPr lang="en-US" sz="1120"/>
          </a:p>
        </p:txBody>
      </p:sp>
      <p:sp>
        <p:nvSpPr>
          <p:cNvPr id="12" name="Shape 10"/>
          <p:cNvSpPr/>
          <p:nvPr/>
        </p:nvSpPr>
        <p:spPr>
          <a:xfrm>
            <a:off x="3017520" y="3355848"/>
            <a:ext cx="658368" cy="1"/>
          </a:xfrm>
          <a:prstGeom prst="line">
            <a:avLst/>
          </a:prstGeom>
          <a:noFill/>
          <a:ln w="25400">
            <a:solidFill>
              <a:srgbClr val="4E84C4"/>
            </a:solidFill>
            <a:prstDash val="solid"/>
            <a:tailEnd type="triangle"/>
          </a:ln>
        </p:spPr>
      </p:sp>
      <p:sp>
        <p:nvSpPr>
          <p:cNvPr id="13" name="Shape 11"/>
          <p:cNvSpPr/>
          <p:nvPr/>
        </p:nvSpPr>
        <p:spPr>
          <a:xfrm>
            <a:off x="3819224" y="1466249"/>
            <a:ext cx="2911642" cy="3928711"/>
          </a:xfrm>
          <a:prstGeom prst="roundRect">
            <a:avLst>
              <a:gd name="adj" fmla="val 1846"/>
            </a:avLst>
          </a:prstGeom>
          <a:solidFill>
            <a:srgbClr val="FFF6E4"/>
          </a:solidFill>
          <a:ln w="12700">
            <a:solidFill>
              <a:srgbClr val="D2DFEB"/>
            </a:solidFill>
            <a:prstDash val="solid"/>
          </a:ln>
          <a:effectLst/>
        </p:spPr>
      </p:sp>
      <p:sp>
        <p:nvSpPr>
          <p:cNvPr id="14" name="Shape 12"/>
          <p:cNvSpPr/>
          <p:nvPr/>
        </p:nvSpPr>
        <p:spPr>
          <a:xfrm>
            <a:off x="3779118" y="1466248"/>
            <a:ext cx="62244" cy="3928712"/>
          </a:xfrm>
          <a:prstGeom prst="rect">
            <a:avLst/>
          </a:prstGeom>
          <a:solidFill>
            <a:srgbClr val="FBB034"/>
          </a:solidFill>
          <a:ln w="12700">
            <a:solidFill>
              <a:srgbClr val="FBB034"/>
            </a:solidFill>
            <a:prstDash val="solid"/>
          </a:ln>
        </p:spPr>
      </p:sp>
      <p:sp>
        <p:nvSpPr>
          <p:cNvPr id="15" name="Text 13"/>
          <p:cNvSpPr/>
          <p:nvPr/>
        </p:nvSpPr>
        <p:spPr>
          <a:xfrm>
            <a:off x="3987666" y="1632605"/>
            <a:ext cx="2578608" cy="329184"/>
          </a:xfrm>
          <a:prstGeom prst="rect">
            <a:avLst/>
          </a:prstGeom>
          <a:noFill/>
          <a:ln/>
        </p:spPr>
        <p:txBody>
          <a:bodyPr wrap="square" lIns="381" tIns="381" rIns="381" bIns="381" rtlCol="0" anchor="ctr">
            <a:normAutofit/>
          </a:bodyPr>
          <a:lstStyle/>
          <a:p>
            <a:pPr marL="0" indent="0" algn="l">
              <a:buNone/>
            </a:pPr>
            <a:r>
              <a:rPr lang="en-US" sz="1600" b="1">
                <a:solidFill>
                  <a:srgbClr val="12233A"/>
                </a:solidFill>
                <a:latin typeface="Calibri Light" pitchFamily="34" charset="0"/>
                <a:ea typeface="Calibri Light" pitchFamily="34" charset="-122"/>
                <a:cs typeface="Calibri Light" pitchFamily="34" charset="-120"/>
              </a:rPr>
              <a:t>Formal IR</a:t>
            </a:r>
            <a:endParaRPr lang="en-US" sz="1600"/>
          </a:p>
        </p:txBody>
      </p:sp>
      <p:sp>
        <p:nvSpPr>
          <p:cNvPr id="16" name="Shape 14"/>
          <p:cNvSpPr/>
          <p:nvPr/>
        </p:nvSpPr>
        <p:spPr>
          <a:xfrm>
            <a:off x="4096512" y="2267712"/>
            <a:ext cx="2267712" cy="713232"/>
          </a:xfrm>
          <a:prstGeom prst="roundRect">
            <a:avLst>
              <a:gd name="adj" fmla="val 7692"/>
            </a:avLst>
          </a:prstGeom>
          <a:solidFill>
            <a:srgbClr val="FFFFFF"/>
          </a:solidFill>
          <a:ln w="13970">
            <a:solidFill>
              <a:srgbClr val="FBB034"/>
            </a:solidFill>
            <a:prstDash val="solid"/>
          </a:ln>
        </p:spPr>
      </p:sp>
      <p:sp>
        <p:nvSpPr>
          <p:cNvPr id="17" name="Text 15"/>
          <p:cNvSpPr/>
          <p:nvPr/>
        </p:nvSpPr>
        <p:spPr>
          <a:xfrm>
            <a:off x="4187952" y="2377440"/>
            <a:ext cx="2084832" cy="493776"/>
          </a:xfrm>
          <a:prstGeom prst="rect">
            <a:avLst/>
          </a:prstGeom>
          <a:noFill/>
          <a:ln/>
        </p:spPr>
        <p:txBody>
          <a:bodyPr wrap="square" lIns="381" tIns="381" rIns="381" bIns="381" rtlCol="0" anchor="ctr">
            <a:normAutofit/>
          </a:bodyPr>
          <a:lstStyle/>
          <a:p>
            <a:pPr marL="0" indent="0" algn="ctr">
              <a:buNone/>
            </a:pPr>
            <a:r>
              <a:rPr lang="en-US" sz="1140" b="1">
                <a:solidFill>
                  <a:srgbClr val="12233A"/>
                </a:solidFill>
                <a:latin typeface="Calibri Light" pitchFamily="34" charset="0"/>
                <a:ea typeface="Calibri Light" pitchFamily="34" charset="-122"/>
                <a:cs typeface="Calibri Light" pitchFamily="34" charset="-120"/>
              </a:rPr>
              <a:t>Lean IR</a:t>
            </a:r>
            <a:endParaRPr lang="en-US" sz="1140"/>
          </a:p>
          <a:p>
            <a:pPr marL="0" indent="0" algn="ctr">
              <a:buNone/>
            </a:pPr>
            <a:r>
              <a:rPr lang="en-US" sz="1140" b="1">
                <a:solidFill>
                  <a:srgbClr val="12233A"/>
                </a:solidFill>
                <a:latin typeface="Calibri Light" pitchFamily="34" charset="0"/>
                <a:ea typeface="Calibri Light" pitchFamily="34" charset="-122"/>
                <a:cs typeface="Calibri Light" pitchFamily="34" charset="-120"/>
              </a:rPr>
              <a:t>Typed predicates and proof obligations</a:t>
            </a:r>
            <a:endParaRPr lang="en-US" sz="1140"/>
          </a:p>
        </p:txBody>
      </p:sp>
      <p:sp>
        <p:nvSpPr>
          <p:cNvPr id="18" name="Shape 16"/>
          <p:cNvSpPr/>
          <p:nvPr/>
        </p:nvSpPr>
        <p:spPr>
          <a:xfrm>
            <a:off x="4096512" y="3346704"/>
            <a:ext cx="2267712" cy="713232"/>
          </a:xfrm>
          <a:prstGeom prst="roundRect">
            <a:avLst>
              <a:gd name="adj" fmla="val 7692"/>
            </a:avLst>
          </a:prstGeom>
          <a:solidFill>
            <a:srgbClr val="FFFFFF"/>
          </a:solidFill>
          <a:ln w="13970">
            <a:solidFill>
              <a:srgbClr val="4E84C4"/>
            </a:solidFill>
            <a:prstDash val="solid"/>
          </a:ln>
        </p:spPr>
      </p:sp>
      <p:sp>
        <p:nvSpPr>
          <p:cNvPr id="19" name="Text 17"/>
          <p:cNvSpPr/>
          <p:nvPr/>
        </p:nvSpPr>
        <p:spPr>
          <a:xfrm>
            <a:off x="4187952" y="3456432"/>
            <a:ext cx="2084832" cy="493776"/>
          </a:xfrm>
          <a:prstGeom prst="rect">
            <a:avLst/>
          </a:prstGeom>
          <a:noFill/>
          <a:ln/>
        </p:spPr>
        <p:txBody>
          <a:bodyPr wrap="square" lIns="381" tIns="381" rIns="381" bIns="381" rtlCol="0" anchor="ctr">
            <a:normAutofit/>
          </a:bodyPr>
          <a:lstStyle/>
          <a:p>
            <a:pPr marL="0" indent="0" algn="ctr">
              <a:buNone/>
            </a:pPr>
            <a:r>
              <a:rPr lang="en-US" sz="1140" b="1">
                <a:solidFill>
                  <a:srgbClr val="12233A"/>
                </a:solidFill>
                <a:latin typeface="Calibri Light" pitchFamily="34" charset="0"/>
                <a:ea typeface="Calibri Light" pitchFamily="34" charset="-122"/>
                <a:cs typeface="Calibri Light" pitchFamily="34" charset="-120"/>
              </a:rPr>
              <a:t>FOL IR</a:t>
            </a:r>
            <a:endParaRPr lang="en-US" sz="1140"/>
          </a:p>
          <a:p>
            <a:pPr marL="0" indent="0" algn="ctr">
              <a:buNone/>
            </a:pPr>
            <a:r>
              <a:rPr lang="en-US" sz="1140" b="1">
                <a:solidFill>
                  <a:srgbClr val="12233A"/>
                </a:solidFill>
                <a:latin typeface="Calibri Light" pitchFamily="34" charset="0"/>
                <a:ea typeface="Calibri Light" pitchFamily="34" charset="-122"/>
                <a:cs typeface="Calibri Light" pitchFamily="34" charset="-120"/>
              </a:rPr>
              <a:t>Predicates and quantified constraints</a:t>
            </a:r>
            <a:endParaRPr lang="en-US" sz="1140"/>
          </a:p>
        </p:txBody>
      </p:sp>
      <p:sp>
        <p:nvSpPr>
          <p:cNvPr id="20" name="Shape 18"/>
          <p:cNvSpPr/>
          <p:nvPr/>
        </p:nvSpPr>
        <p:spPr>
          <a:xfrm>
            <a:off x="6720840" y="2624328"/>
            <a:ext cx="704088" cy="1"/>
          </a:xfrm>
          <a:prstGeom prst="line">
            <a:avLst/>
          </a:prstGeom>
          <a:noFill/>
          <a:ln w="25400">
            <a:solidFill>
              <a:srgbClr val="4E84C4"/>
            </a:solidFill>
            <a:prstDash val="solid"/>
            <a:tailEnd type="triangle"/>
          </a:ln>
        </p:spPr>
      </p:sp>
      <p:sp>
        <p:nvSpPr>
          <p:cNvPr id="21" name="Shape 19"/>
          <p:cNvSpPr/>
          <p:nvPr/>
        </p:nvSpPr>
        <p:spPr>
          <a:xfrm>
            <a:off x="6720840" y="3703320"/>
            <a:ext cx="704088" cy="1"/>
          </a:xfrm>
          <a:prstGeom prst="line">
            <a:avLst/>
          </a:prstGeom>
          <a:noFill/>
          <a:ln w="25400">
            <a:solidFill>
              <a:srgbClr val="4E84C4"/>
            </a:solidFill>
            <a:prstDash val="solid"/>
            <a:tailEnd type="triangle"/>
          </a:ln>
        </p:spPr>
      </p:sp>
      <p:sp>
        <p:nvSpPr>
          <p:cNvPr id="22" name="Shape 20"/>
          <p:cNvSpPr/>
          <p:nvPr/>
        </p:nvSpPr>
        <p:spPr>
          <a:xfrm>
            <a:off x="7546446" y="1466248"/>
            <a:ext cx="3226871" cy="3928712"/>
          </a:xfrm>
          <a:prstGeom prst="roundRect">
            <a:avLst>
              <a:gd name="adj" fmla="val 1348"/>
            </a:avLst>
          </a:prstGeom>
          <a:solidFill>
            <a:srgbClr val="EEF4FA"/>
          </a:solidFill>
          <a:ln w="12700">
            <a:solidFill>
              <a:srgbClr val="D2DFEB"/>
            </a:solidFill>
            <a:prstDash val="solid"/>
          </a:ln>
          <a:effectLst/>
        </p:spPr>
      </p:sp>
      <p:sp>
        <p:nvSpPr>
          <p:cNvPr id="23" name="Shape 21"/>
          <p:cNvSpPr/>
          <p:nvPr/>
        </p:nvSpPr>
        <p:spPr>
          <a:xfrm>
            <a:off x="7536420" y="1466248"/>
            <a:ext cx="52218" cy="3928712"/>
          </a:xfrm>
          <a:prstGeom prst="rect">
            <a:avLst/>
          </a:prstGeom>
          <a:solidFill>
            <a:srgbClr val="4E84C4"/>
          </a:solidFill>
          <a:ln w="12700">
            <a:solidFill>
              <a:srgbClr val="4E84C4"/>
            </a:solidFill>
            <a:prstDash val="solid"/>
          </a:ln>
        </p:spPr>
      </p:sp>
      <p:sp>
        <p:nvSpPr>
          <p:cNvPr id="24" name="Text 22"/>
          <p:cNvSpPr/>
          <p:nvPr/>
        </p:nvSpPr>
        <p:spPr>
          <a:xfrm>
            <a:off x="7754994" y="1632605"/>
            <a:ext cx="3675888" cy="329184"/>
          </a:xfrm>
          <a:prstGeom prst="rect">
            <a:avLst/>
          </a:prstGeom>
          <a:noFill/>
          <a:ln/>
        </p:spPr>
        <p:txBody>
          <a:bodyPr wrap="square" lIns="381" tIns="381" rIns="381" bIns="381" rtlCol="0" anchor="ctr">
            <a:normAutofit/>
          </a:bodyPr>
          <a:lstStyle/>
          <a:p>
            <a:pPr marL="0" indent="0" algn="l">
              <a:buNone/>
            </a:pPr>
            <a:r>
              <a:rPr lang="en-US" sz="1600" b="1">
                <a:solidFill>
                  <a:srgbClr val="12233A"/>
                </a:solidFill>
                <a:latin typeface="Calibri Light" pitchFamily="34" charset="0"/>
                <a:ea typeface="Calibri Light" pitchFamily="34" charset="-122"/>
                <a:cs typeface="Calibri Light" pitchFamily="34" charset="-120"/>
              </a:rPr>
              <a:t>Code generation</a:t>
            </a:r>
            <a:endParaRPr lang="en-US" sz="1600"/>
          </a:p>
        </p:txBody>
      </p:sp>
      <p:sp>
        <p:nvSpPr>
          <p:cNvPr id="25" name="Shape 23"/>
          <p:cNvSpPr/>
          <p:nvPr/>
        </p:nvSpPr>
        <p:spPr>
          <a:xfrm>
            <a:off x="8042548" y="2267712"/>
            <a:ext cx="2234666" cy="713232"/>
          </a:xfrm>
          <a:prstGeom prst="roundRect">
            <a:avLst>
              <a:gd name="adj" fmla="val 7692"/>
            </a:avLst>
          </a:prstGeom>
          <a:solidFill>
            <a:srgbClr val="FFFFFF"/>
          </a:solidFill>
          <a:ln w="13970">
            <a:solidFill>
              <a:srgbClr val="FBB034"/>
            </a:solidFill>
            <a:prstDash val="solid"/>
          </a:ln>
        </p:spPr>
      </p:sp>
      <p:sp>
        <p:nvSpPr>
          <p:cNvPr id="26" name="Text 24"/>
          <p:cNvSpPr/>
          <p:nvPr/>
        </p:nvSpPr>
        <p:spPr>
          <a:xfrm>
            <a:off x="7542436" y="2377440"/>
            <a:ext cx="3154680" cy="493776"/>
          </a:xfrm>
          <a:prstGeom prst="rect">
            <a:avLst/>
          </a:prstGeom>
          <a:noFill/>
          <a:ln/>
        </p:spPr>
        <p:txBody>
          <a:bodyPr wrap="square" lIns="381" tIns="381" rIns="381" bIns="381" rtlCol="0" anchor="ctr">
            <a:normAutofit/>
          </a:bodyPr>
          <a:lstStyle/>
          <a:p>
            <a:pPr marL="0" indent="0" algn="ctr">
              <a:buNone/>
            </a:pPr>
            <a:r>
              <a:rPr lang="en-US" sz="1140" b="1">
                <a:solidFill>
                  <a:srgbClr val="12233A"/>
                </a:solidFill>
                <a:latin typeface="Calibri Light" pitchFamily="34" charset="0"/>
                <a:ea typeface="Calibri Light" pitchFamily="34" charset="-122"/>
                <a:cs typeface="Calibri Light" pitchFamily="34" charset="-120"/>
              </a:rPr>
              <a:t>Lean code</a:t>
            </a:r>
            <a:endParaRPr lang="en-US" sz="1140"/>
          </a:p>
          <a:p>
            <a:pPr marL="0" indent="0" algn="ctr">
              <a:buNone/>
            </a:pPr>
            <a:r>
              <a:rPr lang="en-US" sz="1140" b="1">
                <a:solidFill>
                  <a:srgbClr val="12233A"/>
                </a:solidFill>
                <a:latin typeface="Calibri Light" pitchFamily="34" charset="0"/>
                <a:ea typeface="Calibri Light" pitchFamily="34" charset="-122"/>
                <a:cs typeface="Calibri Light" pitchFamily="34" charset="-120"/>
              </a:rPr>
              <a:t>Theorem instances + fixed proofs</a:t>
            </a:r>
            <a:endParaRPr lang="en-US" sz="1140"/>
          </a:p>
        </p:txBody>
      </p:sp>
      <p:sp>
        <p:nvSpPr>
          <p:cNvPr id="27" name="Shape 25"/>
          <p:cNvSpPr/>
          <p:nvPr/>
        </p:nvSpPr>
        <p:spPr>
          <a:xfrm>
            <a:off x="8052576" y="3356730"/>
            <a:ext cx="2224639" cy="703206"/>
          </a:xfrm>
          <a:prstGeom prst="roundRect">
            <a:avLst>
              <a:gd name="adj" fmla="val 7692"/>
            </a:avLst>
          </a:prstGeom>
          <a:solidFill>
            <a:srgbClr val="FFFFFF"/>
          </a:solidFill>
          <a:ln w="13970">
            <a:solidFill>
              <a:srgbClr val="4E84C4"/>
            </a:solidFill>
            <a:prstDash val="solid"/>
          </a:ln>
        </p:spPr>
      </p:sp>
      <p:sp>
        <p:nvSpPr>
          <p:cNvPr id="28" name="Text 26"/>
          <p:cNvSpPr/>
          <p:nvPr/>
        </p:nvSpPr>
        <p:spPr>
          <a:xfrm>
            <a:off x="8023699" y="3446406"/>
            <a:ext cx="2252313" cy="503802"/>
          </a:xfrm>
          <a:prstGeom prst="rect">
            <a:avLst/>
          </a:prstGeom>
          <a:noFill/>
          <a:ln/>
        </p:spPr>
        <p:txBody>
          <a:bodyPr wrap="square" lIns="381" tIns="381" rIns="381" bIns="381" rtlCol="0" anchor="ctr">
            <a:normAutofit/>
          </a:bodyPr>
          <a:lstStyle/>
          <a:p>
            <a:pPr marL="0" indent="0" algn="ctr">
              <a:buNone/>
            </a:pPr>
            <a:r>
              <a:rPr lang="en-US" sz="1140" b="1">
                <a:solidFill>
                  <a:srgbClr val="12233A"/>
                </a:solidFill>
                <a:latin typeface="Calibri Light" pitchFamily="34" charset="0"/>
                <a:ea typeface="Calibri Light" pitchFamily="34" charset="-122"/>
                <a:cs typeface="Calibri Light" pitchFamily="34" charset="-120"/>
              </a:rPr>
              <a:t>Z3 code</a:t>
            </a:r>
            <a:endParaRPr lang="en-US" sz="1140"/>
          </a:p>
          <a:p>
            <a:pPr marL="0" indent="0" algn="ctr">
              <a:buNone/>
            </a:pPr>
            <a:r>
              <a:rPr lang="en-US" sz="1140" b="1">
                <a:solidFill>
                  <a:srgbClr val="12233A"/>
                </a:solidFill>
                <a:latin typeface="Calibri Light" pitchFamily="34" charset="0"/>
                <a:ea typeface="Calibri Light" pitchFamily="34" charset="-122"/>
                <a:cs typeface="Calibri Light" pitchFamily="34" charset="-120"/>
              </a:rPr>
              <a:t>Constraints + solver assertions</a:t>
            </a:r>
            <a:endParaRPr lang="en-US" sz="1140"/>
          </a:p>
        </p:txBody>
      </p:sp>
      <p:sp>
        <p:nvSpPr>
          <p:cNvPr id="30" name="Freeform 2">
            <a:extLst>
              <a:ext uri="{FF2B5EF4-FFF2-40B4-BE49-F238E27FC236}">
                <a16:creationId xmlns:a16="http://schemas.microsoft.com/office/drawing/2014/main" id="{C0F38135-E219-B8FA-70A8-DB436E1A6D5E}"/>
              </a:ext>
            </a:extLst>
          </p:cNvPr>
          <p:cNvSpPr/>
          <p:nvPr/>
        </p:nvSpPr>
        <p:spPr>
          <a:xfrm>
            <a:off x="5142104" y="6400783"/>
            <a:ext cx="1903592" cy="476247"/>
          </a:xfrm>
          <a:custGeom>
            <a:avLst/>
            <a:gdLst/>
            <a:ahLst/>
            <a:cxnLst/>
            <a:rect l="l" t="t" r="r" b="b"/>
            <a:pathLst>
              <a:path w="2855388" h="714371">
                <a:moveTo>
                  <a:pt x="0" y="0"/>
                </a:moveTo>
                <a:lnTo>
                  <a:pt x="2855388" y="0"/>
                </a:lnTo>
                <a:lnTo>
                  <a:pt x="2855388" y="714371"/>
                </a:lnTo>
                <a:lnTo>
                  <a:pt x="0" y="714371"/>
                </a:lnTo>
                <a:lnTo>
                  <a:pt x="0" y="0"/>
                </a:lnTo>
                <a:close/>
              </a:path>
            </a:pathLst>
          </a:custGeom>
          <a:blipFill>
            <a:blip r:embed="rId3"/>
            <a:stretch>
              <a:fillRect t="-1162" b="-1162"/>
            </a:stretch>
          </a:blipFill>
        </p:spPr>
      </p:sp>
    </p:spTree>
    <p:extLst>
      <p:ext uri="{BB962C8B-B14F-4D97-AF65-F5344CB8AC3E}">
        <p14:creationId xmlns:p14="http://schemas.microsoft.com/office/powerpoint/2010/main" val="3262819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191695" cy="91440"/>
          </a:xfrm>
          <a:prstGeom prst="rect">
            <a:avLst/>
          </a:prstGeom>
          <a:solidFill>
            <a:srgbClr val="FBB034"/>
          </a:solidFill>
          <a:ln w="12700">
            <a:solidFill>
              <a:srgbClr val="FBB034"/>
            </a:solidFill>
            <a:prstDash val="solid"/>
          </a:ln>
        </p:spPr>
      </p:sp>
      <p:sp>
        <p:nvSpPr>
          <p:cNvPr id="3" name="Text 1"/>
          <p:cNvSpPr/>
          <p:nvPr/>
        </p:nvSpPr>
        <p:spPr>
          <a:xfrm>
            <a:off x="502920" y="310896"/>
            <a:ext cx="10927080" cy="502920"/>
          </a:xfrm>
          <a:prstGeom prst="rect">
            <a:avLst/>
          </a:prstGeom>
          <a:noFill/>
          <a:ln/>
        </p:spPr>
        <p:txBody>
          <a:bodyPr wrap="square" lIns="381" tIns="381" rIns="381" bIns="381" rtlCol="0" anchor="ctr">
            <a:normAutofit/>
          </a:bodyPr>
          <a:lstStyle/>
          <a:p>
            <a:pPr marL="0" indent="0" algn="l">
              <a:buNone/>
            </a:pPr>
            <a:r>
              <a:rPr lang="en-US" sz="2700" b="1">
                <a:solidFill>
                  <a:srgbClr val="12233A"/>
                </a:solidFill>
                <a:latin typeface="Calibri Light" pitchFamily="34" charset="0"/>
                <a:ea typeface="Calibri Light" pitchFamily="34" charset="-122"/>
                <a:cs typeface="Calibri Light" pitchFamily="34" charset="-120"/>
              </a:rPr>
              <a:t>Step 3: apply the same verification test cases</a:t>
            </a:r>
            <a:endParaRPr lang="en-US" sz="2700"/>
          </a:p>
        </p:txBody>
      </p:sp>
      <p:sp>
        <p:nvSpPr>
          <p:cNvPr id="4" name="Text 2"/>
          <p:cNvSpPr/>
          <p:nvPr/>
        </p:nvSpPr>
        <p:spPr>
          <a:xfrm>
            <a:off x="521208" y="886968"/>
            <a:ext cx="10835640" cy="310896"/>
          </a:xfrm>
          <a:prstGeom prst="rect">
            <a:avLst/>
          </a:prstGeom>
          <a:noFill/>
          <a:ln/>
        </p:spPr>
        <p:txBody>
          <a:bodyPr wrap="square" lIns="381" tIns="381" rIns="381" bIns="381" rtlCol="0" anchor="ctr">
            <a:normAutofit/>
          </a:bodyPr>
          <a:lstStyle/>
          <a:p>
            <a:pPr marL="0" indent="0" algn="l">
              <a:buNone/>
            </a:pPr>
            <a:r>
              <a:rPr lang="en-US" sz="1220">
                <a:solidFill>
                  <a:srgbClr val="667085"/>
                </a:solidFill>
                <a:latin typeface="Calibri Light" pitchFamily="34" charset="0"/>
                <a:ea typeface="Calibri Light" pitchFamily="34" charset="-122"/>
                <a:cs typeface="Calibri Light" pitchFamily="34" charset="-120"/>
              </a:rPr>
              <a:t>Both generated code paths evaluate the same requirement properties, keeping the meaning of each test consistent across Lean and Z3.</a:t>
            </a:r>
            <a:endParaRPr lang="en-US" sz="1220"/>
          </a:p>
        </p:txBody>
      </p:sp>
      <p:sp>
        <p:nvSpPr>
          <p:cNvPr id="5" name="Text 3"/>
          <p:cNvSpPr/>
          <p:nvPr/>
        </p:nvSpPr>
        <p:spPr>
          <a:xfrm>
            <a:off x="502920" y="6510528"/>
            <a:ext cx="1143000" cy="146304"/>
          </a:xfrm>
          <a:prstGeom prst="rect">
            <a:avLst/>
          </a:prstGeom>
          <a:noFill/>
          <a:ln/>
        </p:spPr>
        <p:txBody>
          <a:bodyPr wrap="square" lIns="381" tIns="381" rIns="381" bIns="381" rtlCol="0" anchor="ctr">
            <a:normAutofit/>
          </a:bodyPr>
          <a:lstStyle/>
          <a:p>
            <a:pPr marL="0" indent="0" algn="l">
              <a:buNone/>
            </a:pPr>
            <a:r>
              <a:rPr lang="en-US" sz="800">
                <a:solidFill>
                  <a:srgbClr val="666666"/>
                </a:solidFill>
                <a:latin typeface="Calibri Light" pitchFamily="34" charset="0"/>
                <a:ea typeface="Calibri Light" pitchFamily="34" charset="-122"/>
                <a:cs typeface="Calibri Light" pitchFamily="34" charset="-120"/>
              </a:rPr>
              <a:t>TCS confidential</a:t>
            </a:r>
            <a:endParaRPr lang="en-US" sz="800"/>
          </a:p>
        </p:txBody>
      </p:sp>
      <p:sp>
        <p:nvSpPr>
          <p:cNvPr id="6" name="Text 4"/>
          <p:cNvSpPr/>
          <p:nvPr/>
        </p:nvSpPr>
        <p:spPr>
          <a:xfrm>
            <a:off x="10771632" y="6510528"/>
            <a:ext cx="228600" cy="146304"/>
          </a:xfrm>
          <a:prstGeom prst="rect">
            <a:avLst/>
          </a:prstGeom>
          <a:noFill/>
          <a:ln/>
        </p:spPr>
        <p:txBody>
          <a:bodyPr wrap="square" lIns="381" tIns="381" rIns="381" bIns="381" rtlCol="0" anchor="ctr">
            <a:normAutofit/>
          </a:bodyPr>
          <a:lstStyle/>
          <a:p>
            <a:pPr marL="0" indent="0" algn="ctr">
              <a:buNone/>
            </a:pPr>
            <a:r>
              <a:rPr lang="en-US" sz="800">
                <a:solidFill>
                  <a:srgbClr val="666666"/>
                </a:solidFill>
                <a:latin typeface="Calibri Light" pitchFamily="34" charset="0"/>
                <a:ea typeface="Calibri Light" pitchFamily="34" charset="-122"/>
                <a:cs typeface="Calibri Light" pitchFamily="34" charset="-120"/>
              </a:rPr>
              <a:t>12</a:t>
            </a:r>
            <a:endParaRPr lang="en-US" sz="800"/>
          </a:p>
        </p:txBody>
      </p:sp>
      <p:sp>
        <p:nvSpPr>
          <p:cNvPr id="7" name="Text 5"/>
          <p:cNvSpPr/>
          <p:nvPr/>
        </p:nvSpPr>
        <p:spPr>
          <a:xfrm>
            <a:off x="11137392" y="6419088"/>
            <a:ext cx="566928" cy="228600"/>
          </a:xfrm>
          <a:prstGeom prst="rect">
            <a:avLst/>
          </a:prstGeom>
          <a:noFill/>
          <a:ln/>
        </p:spPr>
        <p:txBody>
          <a:bodyPr wrap="square" lIns="381" tIns="381" rIns="381" bIns="381" rtlCol="0" anchor="ctr">
            <a:normAutofit/>
          </a:bodyPr>
          <a:lstStyle/>
          <a:p>
            <a:pPr marL="0" indent="0" algn="r">
              <a:buNone/>
            </a:pPr>
            <a:r>
              <a:rPr lang="en-US" sz="1800" b="1">
                <a:solidFill>
                  <a:srgbClr val="4E84C4"/>
                </a:solidFill>
                <a:latin typeface="Calibri Light" pitchFamily="34" charset="0"/>
                <a:ea typeface="Calibri Light" pitchFamily="34" charset="-122"/>
                <a:cs typeface="Calibri Light" pitchFamily="34" charset="-120"/>
              </a:rPr>
              <a:t>tcs</a:t>
            </a:r>
            <a:endParaRPr lang="en-US" sz="1800"/>
          </a:p>
        </p:txBody>
      </p:sp>
      <p:sp>
        <p:nvSpPr>
          <p:cNvPr id="8" name="Shape 6"/>
          <p:cNvSpPr/>
          <p:nvPr/>
        </p:nvSpPr>
        <p:spPr>
          <a:xfrm>
            <a:off x="640080" y="1444752"/>
            <a:ext cx="2331720" cy="3977640"/>
          </a:xfrm>
          <a:prstGeom prst="roundRect">
            <a:avLst>
              <a:gd name="adj" fmla="val 2353"/>
            </a:avLst>
          </a:prstGeom>
          <a:solidFill>
            <a:srgbClr val="F8FAFC"/>
          </a:solidFill>
          <a:ln w="12700">
            <a:solidFill>
              <a:srgbClr val="D2DFEB"/>
            </a:solidFill>
            <a:prstDash val="solid"/>
          </a:ln>
          <a:effectLst/>
        </p:spPr>
      </p:sp>
      <p:sp>
        <p:nvSpPr>
          <p:cNvPr id="9" name="Shape 7"/>
          <p:cNvSpPr/>
          <p:nvPr/>
        </p:nvSpPr>
        <p:spPr>
          <a:xfrm>
            <a:off x="640080" y="1444752"/>
            <a:ext cx="82296" cy="3977640"/>
          </a:xfrm>
          <a:prstGeom prst="rect">
            <a:avLst/>
          </a:prstGeom>
          <a:solidFill>
            <a:srgbClr val="4E84C4"/>
          </a:solidFill>
          <a:ln w="12700">
            <a:solidFill>
              <a:srgbClr val="4E84C4"/>
            </a:solidFill>
            <a:prstDash val="solid"/>
          </a:ln>
        </p:spPr>
      </p:sp>
      <p:sp>
        <p:nvSpPr>
          <p:cNvPr id="10" name="Text 8"/>
          <p:cNvSpPr/>
          <p:nvPr/>
        </p:nvSpPr>
        <p:spPr>
          <a:xfrm>
            <a:off x="916908" y="1668221"/>
            <a:ext cx="1938528" cy="329184"/>
          </a:xfrm>
          <a:prstGeom prst="rect">
            <a:avLst/>
          </a:prstGeom>
          <a:noFill/>
          <a:ln/>
        </p:spPr>
        <p:txBody>
          <a:bodyPr wrap="square" lIns="381" tIns="381" rIns="381" bIns="381" rtlCol="0" anchor="ctr">
            <a:normAutofit/>
          </a:bodyPr>
          <a:lstStyle/>
          <a:p>
            <a:pPr marL="0" indent="0" algn="l">
              <a:buNone/>
            </a:pPr>
            <a:r>
              <a:rPr lang="en-US" sz="1600" b="1">
                <a:solidFill>
                  <a:srgbClr val="12233A"/>
                </a:solidFill>
                <a:latin typeface="Calibri Light" pitchFamily="34" charset="0"/>
                <a:ea typeface="Calibri Light" pitchFamily="34" charset="-122"/>
                <a:cs typeface="Calibri Light" pitchFamily="34" charset="-120"/>
              </a:rPr>
              <a:t>Generated code</a:t>
            </a:r>
            <a:endParaRPr lang="en-US" sz="1600"/>
          </a:p>
        </p:txBody>
      </p:sp>
      <p:sp>
        <p:nvSpPr>
          <p:cNvPr id="11" name="Shape 9"/>
          <p:cNvSpPr/>
          <p:nvPr/>
        </p:nvSpPr>
        <p:spPr>
          <a:xfrm>
            <a:off x="987552" y="2331720"/>
            <a:ext cx="1645920" cy="640080"/>
          </a:xfrm>
          <a:prstGeom prst="roundRect">
            <a:avLst>
              <a:gd name="adj" fmla="val 8571"/>
            </a:avLst>
          </a:prstGeom>
          <a:solidFill>
            <a:srgbClr val="FFFFFF"/>
          </a:solidFill>
          <a:ln w="13970">
            <a:solidFill>
              <a:srgbClr val="FBB034"/>
            </a:solidFill>
            <a:prstDash val="solid"/>
          </a:ln>
        </p:spPr>
      </p:sp>
      <p:sp>
        <p:nvSpPr>
          <p:cNvPr id="12" name="Text 10"/>
          <p:cNvSpPr/>
          <p:nvPr/>
        </p:nvSpPr>
        <p:spPr>
          <a:xfrm>
            <a:off x="1078992" y="2441448"/>
            <a:ext cx="1463040" cy="420624"/>
          </a:xfrm>
          <a:prstGeom prst="rect">
            <a:avLst/>
          </a:prstGeom>
          <a:noFill/>
          <a:ln/>
        </p:spPr>
        <p:txBody>
          <a:bodyPr wrap="square" lIns="381" tIns="381" rIns="381" bIns="381" rtlCol="0" anchor="ctr">
            <a:normAutofit/>
          </a:bodyPr>
          <a:lstStyle/>
          <a:p>
            <a:pPr marL="0" indent="0" algn="ctr">
              <a:buNone/>
            </a:pPr>
            <a:r>
              <a:rPr lang="en-US" sz="1250" b="1">
                <a:solidFill>
                  <a:srgbClr val="12233A"/>
                </a:solidFill>
                <a:latin typeface="Calibri Light" pitchFamily="34" charset="0"/>
                <a:ea typeface="Calibri Light" pitchFamily="34" charset="-122"/>
                <a:cs typeface="Calibri Light" pitchFamily="34" charset="-120"/>
              </a:rPr>
              <a:t>Lean code</a:t>
            </a:r>
            <a:endParaRPr lang="en-US" sz="1250"/>
          </a:p>
        </p:txBody>
      </p:sp>
      <p:sp>
        <p:nvSpPr>
          <p:cNvPr id="13" name="Shape 11"/>
          <p:cNvSpPr/>
          <p:nvPr/>
        </p:nvSpPr>
        <p:spPr>
          <a:xfrm>
            <a:off x="987552" y="3401568"/>
            <a:ext cx="1645920" cy="640080"/>
          </a:xfrm>
          <a:prstGeom prst="roundRect">
            <a:avLst>
              <a:gd name="adj" fmla="val 8571"/>
            </a:avLst>
          </a:prstGeom>
          <a:solidFill>
            <a:srgbClr val="FFFFFF"/>
          </a:solidFill>
          <a:ln w="13970">
            <a:solidFill>
              <a:srgbClr val="4E84C4"/>
            </a:solidFill>
            <a:prstDash val="solid"/>
          </a:ln>
        </p:spPr>
      </p:sp>
      <p:sp>
        <p:nvSpPr>
          <p:cNvPr id="14" name="Text 12"/>
          <p:cNvSpPr/>
          <p:nvPr/>
        </p:nvSpPr>
        <p:spPr>
          <a:xfrm>
            <a:off x="1078992" y="3511296"/>
            <a:ext cx="1463040" cy="420624"/>
          </a:xfrm>
          <a:prstGeom prst="rect">
            <a:avLst/>
          </a:prstGeom>
          <a:noFill/>
          <a:ln/>
        </p:spPr>
        <p:txBody>
          <a:bodyPr wrap="square" lIns="381" tIns="381" rIns="381" bIns="381" rtlCol="0" anchor="ctr">
            <a:normAutofit/>
          </a:bodyPr>
          <a:lstStyle/>
          <a:p>
            <a:pPr marL="0" indent="0" algn="ctr">
              <a:buNone/>
            </a:pPr>
            <a:r>
              <a:rPr lang="en-US" sz="1250" b="1">
                <a:solidFill>
                  <a:srgbClr val="12233A"/>
                </a:solidFill>
                <a:latin typeface="Calibri Light" pitchFamily="34" charset="0"/>
                <a:ea typeface="Calibri Light" pitchFamily="34" charset="-122"/>
                <a:cs typeface="Calibri Light" pitchFamily="34" charset="-120"/>
              </a:rPr>
              <a:t>Z3 code</a:t>
            </a:r>
            <a:endParaRPr lang="en-US" sz="1250"/>
          </a:p>
        </p:txBody>
      </p:sp>
      <p:sp>
        <p:nvSpPr>
          <p:cNvPr id="15" name="Shape 13"/>
          <p:cNvSpPr/>
          <p:nvPr/>
        </p:nvSpPr>
        <p:spPr>
          <a:xfrm>
            <a:off x="2971800" y="2651760"/>
            <a:ext cx="758952" cy="1"/>
          </a:xfrm>
          <a:prstGeom prst="line">
            <a:avLst/>
          </a:prstGeom>
          <a:noFill/>
          <a:ln w="25400">
            <a:solidFill>
              <a:srgbClr val="4E84C4"/>
            </a:solidFill>
            <a:prstDash val="solid"/>
            <a:tailEnd type="triangle"/>
          </a:ln>
        </p:spPr>
      </p:sp>
      <p:sp>
        <p:nvSpPr>
          <p:cNvPr id="16" name="Shape 14"/>
          <p:cNvSpPr/>
          <p:nvPr/>
        </p:nvSpPr>
        <p:spPr>
          <a:xfrm>
            <a:off x="2971800" y="3721608"/>
            <a:ext cx="758952" cy="1"/>
          </a:xfrm>
          <a:prstGeom prst="line">
            <a:avLst/>
          </a:prstGeom>
          <a:noFill/>
          <a:ln w="25400">
            <a:solidFill>
              <a:srgbClr val="4E84C4"/>
            </a:solidFill>
            <a:prstDash val="solid"/>
            <a:tailEnd type="triangle"/>
          </a:ln>
        </p:spPr>
      </p:sp>
      <p:sp>
        <p:nvSpPr>
          <p:cNvPr id="17" name="Shape 15"/>
          <p:cNvSpPr/>
          <p:nvPr/>
        </p:nvSpPr>
        <p:spPr>
          <a:xfrm>
            <a:off x="3812546" y="1444135"/>
            <a:ext cx="4170166" cy="3978373"/>
          </a:xfrm>
          <a:prstGeom prst="roundRect">
            <a:avLst>
              <a:gd name="adj" fmla="val 1319"/>
            </a:avLst>
          </a:prstGeom>
          <a:solidFill>
            <a:srgbClr val="FFF6E4"/>
          </a:solidFill>
          <a:ln w="12700">
            <a:solidFill>
              <a:srgbClr val="D2DFEB"/>
            </a:solidFill>
            <a:prstDash val="solid"/>
          </a:ln>
          <a:effectLst/>
        </p:spPr>
      </p:sp>
      <p:sp>
        <p:nvSpPr>
          <p:cNvPr id="18" name="Shape 16"/>
          <p:cNvSpPr/>
          <p:nvPr/>
        </p:nvSpPr>
        <p:spPr>
          <a:xfrm>
            <a:off x="3725736" y="1444136"/>
            <a:ext cx="82298" cy="3978373"/>
          </a:xfrm>
          <a:prstGeom prst="rect">
            <a:avLst/>
          </a:prstGeom>
          <a:solidFill>
            <a:srgbClr val="FBB034"/>
          </a:solidFill>
          <a:ln w="12700">
            <a:solidFill>
              <a:srgbClr val="FBB034"/>
            </a:solidFill>
            <a:prstDash val="solid"/>
          </a:ln>
        </p:spPr>
      </p:sp>
      <p:sp>
        <p:nvSpPr>
          <p:cNvPr id="19" name="Text 17"/>
          <p:cNvSpPr/>
          <p:nvPr/>
        </p:nvSpPr>
        <p:spPr>
          <a:xfrm>
            <a:off x="4156893" y="1551856"/>
            <a:ext cx="3767328" cy="329184"/>
          </a:xfrm>
          <a:prstGeom prst="rect">
            <a:avLst/>
          </a:prstGeom>
          <a:noFill/>
          <a:ln/>
        </p:spPr>
        <p:txBody>
          <a:bodyPr wrap="square" lIns="381" tIns="381" rIns="381" bIns="381" rtlCol="0" anchor="ctr">
            <a:normAutofit/>
          </a:bodyPr>
          <a:lstStyle/>
          <a:p>
            <a:pPr marL="0" indent="0" algn="l">
              <a:buNone/>
            </a:pPr>
            <a:r>
              <a:rPr lang="en-US" sz="1600" b="1">
                <a:solidFill>
                  <a:srgbClr val="12233A"/>
                </a:solidFill>
                <a:latin typeface="Calibri Light" pitchFamily="34" charset="0"/>
                <a:ea typeface="Calibri Light" pitchFamily="34" charset="-122"/>
                <a:cs typeface="Calibri Light" pitchFamily="34" charset="-120"/>
              </a:rPr>
              <a:t>Shared verification library</a:t>
            </a:r>
            <a:endParaRPr lang="en-US" sz="1600"/>
          </a:p>
        </p:txBody>
      </p:sp>
      <p:sp>
        <p:nvSpPr>
          <p:cNvPr id="20" name="Shape 18"/>
          <p:cNvSpPr/>
          <p:nvPr/>
        </p:nvSpPr>
        <p:spPr>
          <a:xfrm>
            <a:off x="4160520" y="1993392"/>
            <a:ext cx="1234440" cy="493776"/>
          </a:xfrm>
          <a:prstGeom prst="roundRect">
            <a:avLst>
              <a:gd name="adj" fmla="val 11111"/>
            </a:avLst>
          </a:prstGeom>
          <a:solidFill>
            <a:srgbClr val="FFFFFF"/>
          </a:solidFill>
          <a:ln w="13970">
            <a:solidFill>
              <a:srgbClr val="FBB034"/>
            </a:solidFill>
            <a:prstDash val="solid"/>
          </a:ln>
        </p:spPr>
      </p:sp>
      <p:sp>
        <p:nvSpPr>
          <p:cNvPr id="21" name="Text 19"/>
          <p:cNvSpPr/>
          <p:nvPr/>
        </p:nvSpPr>
        <p:spPr>
          <a:xfrm>
            <a:off x="4251960" y="2103120"/>
            <a:ext cx="1051560" cy="274320"/>
          </a:xfrm>
          <a:prstGeom prst="rect">
            <a:avLst/>
          </a:prstGeom>
          <a:noFill/>
          <a:ln/>
        </p:spPr>
        <p:txBody>
          <a:bodyPr wrap="square" lIns="381" tIns="381" rIns="381" bIns="381" rtlCol="0" anchor="ctr">
            <a:normAutofit/>
          </a:bodyPr>
          <a:lstStyle/>
          <a:p>
            <a:pPr marL="0" indent="0" algn="ctr">
              <a:buNone/>
            </a:pPr>
            <a:r>
              <a:rPr lang="en-US" sz="1050" b="1">
                <a:solidFill>
                  <a:srgbClr val="12233A"/>
                </a:solidFill>
                <a:latin typeface="Calibri Light" pitchFamily="34" charset="0"/>
                <a:ea typeface="Calibri Light" pitchFamily="34" charset="-122"/>
                <a:cs typeface="Calibri Light" pitchFamily="34" charset="-120"/>
              </a:rPr>
              <a:t>Consistency</a:t>
            </a:r>
            <a:endParaRPr lang="en-US" sz="1050"/>
          </a:p>
        </p:txBody>
      </p:sp>
      <p:sp>
        <p:nvSpPr>
          <p:cNvPr id="22" name="Text 20"/>
          <p:cNvSpPr/>
          <p:nvPr/>
        </p:nvSpPr>
        <p:spPr>
          <a:xfrm>
            <a:off x="5559552" y="2084832"/>
            <a:ext cx="2057400" cy="292608"/>
          </a:xfrm>
          <a:prstGeom prst="rect">
            <a:avLst/>
          </a:prstGeom>
          <a:noFill/>
          <a:ln/>
        </p:spPr>
        <p:txBody>
          <a:bodyPr wrap="square" lIns="381" tIns="381" rIns="381" bIns="381" rtlCol="0" anchor="ctr">
            <a:normAutofit/>
          </a:bodyPr>
          <a:lstStyle/>
          <a:p>
            <a:pPr marL="0" indent="0" algn="l">
              <a:buNone/>
            </a:pPr>
            <a:r>
              <a:rPr lang="en-US" sz="1030">
                <a:solidFill>
                  <a:srgbClr val="667085"/>
                </a:solidFill>
                <a:latin typeface="Calibri Light" pitchFamily="34" charset="0"/>
                <a:ea typeface="Calibri Light" pitchFamily="34" charset="-122"/>
                <a:cs typeface="Calibri Light" pitchFamily="34" charset="-120"/>
              </a:rPr>
              <a:t>Can all selected requirements hold together?</a:t>
            </a:r>
            <a:endParaRPr lang="en-US" sz="1030"/>
          </a:p>
        </p:txBody>
      </p:sp>
      <p:sp>
        <p:nvSpPr>
          <p:cNvPr id="23" name="Shape 21"/>
          <p:cNvSpPr/>
          <p:nvPr/>
        </p:nvSpPr>
        <p:spPr>
          <a:xfrm>
            <a:off x="4160520" y="2761488"/>
            <a:ext cx="1234440" cy="493776"/>
          </a:xfrm>
          <a:prstGeom prst="roundRect">
            <a:avLst>
              <a:gd name="adj" fmla="val 11111"/>
            </a:avLst>
          </a:prstGeom>
          <a:solidFill>
            <a:srgbClr val="FFFFFF"/>
          </a:solidFill>
          <a:ln w="13970">
            <a:solidFill>
              <a:srgbClr val="4E84C4"/>
            </a:solidFill>
            <a:prstDash val="solid"/>
          </a:ln>
        </p:spPr>
      </p:sp>
      <p:sp>
        <p:nvSpPr>
          <p:cNvPr id="24" name="Text 22"/>
          <p:cNvSpPr/>
          <p:nvPr/>
        </p:nvSpPr>
        <p:spPr>
          <a:xfrm>
            <a:off x="4251960" y="2871216"/>
            <a:ext cx="1051560" cy="274320"/>
          </a:xfrm>
          <a:prstGeom prst="rect">
            <a:avLst/>
          </a:prstGeom>
          <a:noFill/>
          <a:ln/>
        </p:spPr>
        <p:txBody>
          <a:bodyPr wrap="square" lIns="381" tIns="381" rIns="381" bIns="381" rtlCol="0" anchor="ctr">
            <a:normAutofit/>
          </a:bodyPr>
          <a:lstStyle/>
          <a:p>
            <a:pPr marL="0" indent="0" algn="ctr">
              <a:buNone/>
            </a:pPr>
            <a:r>
              <a:rPr lang="en-US" sz="1050" b="1">
                <a:solidFill>
                  <a:srgbClr val="12233A"/>
                </a:solidFill>
                <a:latin typeface="Calibri Light" pitchFamily="34" charset="0"/>
                <a:ea typeface="Calibri Light" pitchFamily="34" charset="-122"/>
                <a:cs typeface="Calibri Light" pitchFamily="34" charset="-120"/>
              </a:rPr>
              <a:t>Conflict</a:t>
            </a:r>
            <a:endParaRPr lang="en-US" sz="1050"/>
          </a:p>
        </p:txBody>
      </p:sp>
      <p:sp>
        <p:nvSpPr>
          <p:cNvPr id="25" name="Text 23"/>
          <p:cNvSpPr/>
          <p:nvPr/>
        </p:nvSpPr>
        <p:spPr>
          <a:xfrm>
            <a:off x="5559552" y="2852928"/>
            <a:ext cx="2057400" cy="292608"/>
          </a:xfrm>
          <a:prstGeom prst="rect">
            <a:avLst/>
          </a:prstGeom>
          <a:noFill/>
          <a:ln/>
        </p:spPr>
        <p:txBody>
          <a:bodyPr wrap="square" lIns="381" tIns="381" rIns="381" bIns="381" rtlCol="0" anchor="ctr">
            <a:normAutofit/>
          </a:bodyPr>
          <a:lstStyle/>
          <a:p>
            <a:pPr marL="0" indent="0" algn="l">
              <a:buNone/>
            </a:pPr>
            <a:r>
              <a:rPr lang="en-US" sz="1030">
                <a:solidFill>
                  <a:srgbClr val="667085"/>
                </a:solidFill>
                <a:latin typeface="Calibri Light" pitchFamily="34" charset="0"/>
                <a:ea typeface="Calibri Light" pitchFamily="34" charset="-122"/>
                <a:cs typeface="Calibri Light" pitchFamily="34" charset="-120"/>
              </a:rPr>
              <a:t>Do premises imply a contradiction?</a:t>
            </a:r>
            <a:endParaRPr lang="en-US" sz="1030"/>
          </a:p>
        </p:txBody>
      </p:sp>
      <p:sp>
        <p:nvSpPr>
          <p:cNvPr id="26" name="Shape 24"/>
          <p:cNvSpPr/>
          <p:nvPr/>
        </p:nvSpPr>
        <p:spPr>
          <a:xfrm>
            <a:off x="4160520" y="3529584"/>
            <a:ext cx="1234440" cy="493776"/>
          </a:xfrm>
          <a:prstGeom prst="roundRect">
            <a:avLst>
              <a:gd name="adj" fmla="val 11111"/>
            </a:avLst>
          </a:prstGeom>
          <a:solidFill>
            <a:srgbClr val="FFFFFF"/>
          </a:solidFill>
          <a:ln w="13970">
            <a:solidFill>
              <a:srgbClr val="4E84C4"/>
            </a:solidFill>
            <a:prstDash val="solid"/>
          </a:ln>
        </p:spPr>
      </p:sp>
      <p:sp>
        <p:nvSpPr>
          <p:cNvPr id="27" name="Text 25"/>
          <p:cNvSpPr/>
          <p:nvPr/>
        </p:nvSpPr>
        <p:spPr>
          <a:xfrm>
            <a:off x="4251960" y="3639312"/>
            <a:ext cx="1051560" cy="274320"/>
          </a:xfrm>
          <a:prstGeom prst="rect">
            <a:avLst/>
          </a:prstGeom>
          <a:noFill/>
          <a:ln/>
        </p:spPr>
        <p:txBody>
          <a:bodyPr wrap="square" lIns="381" tIns="381" rIns="381" bIns="381" rtlCol="0" anchor="ctr">
            <a:normAutofit/>
          </a:bodyPr>
          <a:lstStyle/>
          <a:p>
            <a:pPr marL="0" indent="0" algn="ctr">
              <a:buNone/>
            </a:pPr>
            <a:r>
              <a:rPr lang="en-US" sz="1050" b="1">
                <a:solidFill>
                  <a:srgbClr val="12233A"/>
                </a:solidFill>
                <a:latin typeface="Calibri Light" pitchFamily="34" charset="0"/>
                <a:ea typeface="Calibri Light" pitchFamily="34" charset="-122"/>
                <a:cs typeface="Calibri Light" pitchFamily="34" charset="-120"/>
              </a:rPr>
              <a:t>Coverage</a:t>
            </a:r>
            <a:endParaRPr lang="en-US" sz="1050"/>
          </a:p>
        </p:txBody>
      </p:sp>
      <p:sp>
        <p:nvSpPr>
          <p:cNvPr id="28" name="Text 26"/>
          <p:cNvSpPr/>
          <p:nvPr/>
        </p:nvSpPr>
        <p:spPr>
          <a:xfrm>
            <a:off x="5559552" y="3621024"/>
            <a:ext cx="2057400" cy="292608"/>
          </a:xfrm>
          <a:prstGeom prst="rect">
            <a:avLst/>
          </a:prstGeom>
          <a:noFill/>
          <a:ln/>
        </p:spPr>
        <p:txBody>
          <a:bodyPr wrap="square" lIns="381" tIns="381" rIns="381" bIns="381" rtlCol="0" anchor="ctr">
            <a:normAutofit/>
          </a:bodyPr>
          <a:lstStyle/>
          <a:p>
            <a:pPr marL="0" indent="0" algn="l">
              <a:buNone/>
            </a:pPr>
            <a:r>
              <a:rPr lang="en-US" sz="1030">
                <a:solidFill>
                  <a:srgbClr val="667085"/>
                </a:solidFill>
                <a:latin typeface="Calibri Light" pitchFamily="34" charset="0"/>
                <a:ea typeface="Calibri Light" pitchFamily="34" charset="-122"/>
                <a:cs typeface="Calibri Light" pitchFamily="34" charset="-120"/>
              </a:rPr>
              <a:t>Is any input, state, or boundary unhandled?</a:t>
            </a:r>
            <a:endParaRPr lang="en-US" sz="1030"/>
          </a:p>
        </p:txBody>
      </p:sp>
      <p:sp>
        <p:nvSpPr>
          <p:cNvPr id="29" name="Shape 27"/>
          <p:cNvSpPr/>
          <p:nvPr/>
        </p:nvSpPr>
        <p:spPr>
          <a:xfrm>
            <a:off x="4160520" y="4297680"/>
            <a:ext cx="1234440" cy="493776"/>
          </a:xfrm>
          <a:prstGeom prst="roundRect">
            <a:avLst>
              <a:gd name="adj" fmla="val 11111"/>
            </a:avLst>
          </a:prstGeom>
          <a:solidFill>
            <a:srgbClr val="FFFFFF"/>
          </a:solidFill>
          <a:ln w="13970">
            <a:solidFill>
              <a:srgbClr val="4E84C4"/>
            </a:solidFill>
            <a:prstDash val="solid"/>
          </a:ln>
        </p:spPr>
      </p:sp>
      <p:sp>
        <p:nvSpPr>
          <p:cNvPr id="30" name="Text 28"/>
          <p:cNvSpPr/>
          <p:nvPr/>
        </p:nvSpPr>
        <p:spPr>
          <a:xfrm>
            <a:off x="4251960" y="4407408"/>
            <a:ext cx="1051560" cy="274320"/>
          </a:xfrm>
          <a:prstGeom prst="rect">
            <a:avLst/>
          </a:prstGeom>
          <a:noFill/>
          <a:ln/>
        </p:spPr>
        <p:txBody>
          <a:bodyPr wrap="square" lIns="381" tIns="381" rIns="381" bIns="381" rtlCol="0" anchor="ctr">
            <a:normAutofit/>
          </a:bodyPr>
          <a:lstStyle/>
          <a:p>
            <a:pPr marL="0" indent="0" algn="ctr">
              <a:buNone/>
            </a:pPr>
            <a:r>
              <a:rPr lang="en-US" sz="1050" b="1">
                <a:solidFill>
                  <a:srgbClr val="12233A"/>
                </a:solidFill>
                <a:latin typeface="Calibri Light" pitchFamily="34" charset="0"/>
                <a:ea typeface="Calibri Light" pitchFamily="34" charset="-122"/>
                <a:cs typeface="Calibri Light" pitchFamily="34" charset="-120"/>
              </a:rPr>
              <a:t>Behavior</a:t>
            </a:r>
            <a:endParaRPr lang="en-US" sz="1050"/>
          </a:p>
        </p:txBody>
      </p:sp>
      <p:sp>
        <p:nvSpPr>
          <p:cNvPr id="31" name="Text 29"/>
          <p:cNvSpPr/>
          <p:nvPr/>
        </p:nvSpPr>
        <p:spPr>
          <a:xfrm>
            <a:off x="5559552" y="4389120"/>
            <a:ext cx="2057400" cy="292608"/>
          </a:xfrm>
          <a:prstGeom prst="rect">
            <a:avLst/>
          </a:prstGeom>
          <a:noFill/>
          <a:ln/>
        </p:spPr>
        <p:txBody>
          <a:bodyPr wrap="square" lIns="381" tIns="381" rIns="381" bIns="381" rtlCol="0" anchor="ctr">
            <a:normAutofit/>
          </a:bodyPr>
          <a:lstStyle/>
          <a:p>
            <a:pPr marL="0" indent="0" algn="l">
              <a:buNone/>
            </a:pPr>
            <a:r>
              <a:rPr lang="en-US" sz="1030">
                <a:solidFill>
                  <a:srgbClr val="667085"/>
                </a:solidFill>
                <a:latin typeface="Calibri Light" pitchFamily="34" charset="0"/>
                <a:ea typeface="Calibri Light" pitchFamily="34" charset="-122"/>
                <a:cs typeface="Calibri Light" pitchFamily="34" charset="-120"/>
              </a:rPr>
              <a:t>Are outputs deterministic and transitions safe?</a:t>
            </a:r>
            <a:endParaRPr lang="en-US" sz="1030"/>
          </a:p>
        </p:txBody>
      </p:sp>
      <p:sp>
        <p:nvSpPr>
          <p:cNvPr id="32" name="Shape 30"/>
          <p:cNvSpPr/>
          <p:nvPr/>
        </p:nvSpPr>
        <p:spPr>
          <a:xfrm>
            <a:off x="7982712" y="3429000"/>
            <a:ext cx="749808" cy="1"/>
          </a:xfrm>
          <a:prstGeom prst="line">
            <a:avLst/>
          </a:prstGeom>
          <a:noFill/>
          <a:ln w="25400">
            <a:solidFill>
              <a:srgbClr val="4E84C4"/>
            </a:solidFill>
            <a:prstDash val="solid"/>
            <a:tailEnd type="triangle"/>
          </a:ln>
        </p:spPr>
      </p:sp>
      <p:sp>
        <p:nvSpPr>
          <p:cNvPr id="33" name="Shape 31"/>
          <p:cNvSpPr/>
          <p:nvPr/>
        </p:nvSpPr>
        <p:spPr>
          <a:xfrm>
            <a:off x="8823960" y="1444752"/>
            <a:ext cx="2724912" cy="3977640"/>
          </a:xfrm>
          <a:prstGeom prst="roundRect">
            <a:avLst>
              <a:gd name="adj" fmla="val 2013"/>
            </a:avLst>
          </a:prstGeom>
          <a:solidFill>
            <a:srgbClr val="EEF4FA"/>
          </a:solidFill>
          <a:ln w="12700">
            <a:solidFill>
              <a:srgbClr val="D2DFEB"/>
            </a:solidFill>
            <a:prstDash val="solid"/>
          </a:ln>
          <a:effectLst/>
        </p:spPr>
      </p:sp>
      <p:sp>
        <p:nvSpPr>
          <p:cNvPr id="34" name="Shape 32"/>
          <p:cNvSpPr/>
          <p:nvPr/>
        </p:nvSpPr>
        <p:spPr>
          <a:xfrm>
            <a:off x="8823960" y="1444752"/>
            <a:ext cx="82296" cy="3977640"/>
          </a:xfrm>
          <a:prstGeom prst="rect">
            <a:avLst/>
          </a:prstGeom>
          <a:solidFill>
            <a:srgbClr val="4E84C4"/>
          </a:solidFill>
          <a:ln w="12700">
            <a:solidFill>
              <a:srgbClr val="4E84C4"/>
            </a:solidFill>
            <a:prstDash val="solid"/>
          </a:ln>
        </p:spPr>
      </p:sp>
      <p:sp>
        <p:nvSpPr>
          <p:cNvPr id="35" name="Text 33"/>
          <p:cNvSpPr/>
          <p:nvPr/>
        </p:nvSpPr>
        <p:spPr>
          <a:xfrm>
            <a:off x="9052560" y="1591056"/>
            <a:ext cx="2331720" cy="329184"/>
          </a:xfrm>
          <a:prstGeom prst="rect">
            <a:avLst/>
          </a:prstGeom>
          <a:noFill/>
          <a:ln/>
        </p:spPr>
        <p:txBody>
          <a:bodyPr wrap="square" lIns="381" tIns="381" rIns="381" bIns="381" rtlCol="0" anchor="ctr">
            <a:normAutofit/>
          </a:bodyPr>
          <a:lstStyle/>
          <a:p>
            <a:pPr marL="0" indent="0" algn="l">
              <a:buNone/>
            </a:pPr>
            <a:r>
              <a:rPr lang="en-US" sz="1600" b="1">
                <a:solidFill>
                  <a:srgbClr val="12233A"/>
                </a:solidFill>
                <a:latin typeface="Calibri Light" pitchFamily="34" charset="0"/>
                <a:ea typeface="Calibri Light" pitchFamily="34" charset="-122"/>
                <a:cs typeface="Calibri Light" pitchFamily="34" charset="-120"/>
              </a:rPr>
              <a:t>Verification evidence</a:t>
            </a:r>
            <a:endParaRPr lang="en-US" sz="1600"/>
          </a:p>
        </p:txBody>
      </p:sp>
      <p:sp>
        <p:nvSpPr>
          <p:cNvPr id="36" name="Text 34"/>
          <p:cNvSpPr/>
          <p:nvPr/>
        </p:nvSpPr>
        <p:spPr>
          <a:xfrm>
            <a:off x="9052560" y="2066544"/>
            <a:ext cx="2313432" cy="3209544"/>
          </a:xfrm>
          <a:prstGeom prst="rect">
            <a:avLst/>
          </a:prstGeom>
          <a:noFill/>
          <a:ln/>
        </p:spPr>
        <p:txBody>
          <a:bodyPr wrap="square" lIns="381" tIns="381" rIns="381" bIns="381" rtlCol="0" anchor="ctr">
            <a:normAutofit/>
          </a:bodyPr>
          <a:lstStyle/>
          <a:p>
            <a:pPr marL="0" indent="0" algn="l">
              <a:buNone/>
            </a:pPr>
            <a:r>
              <a:rPr lang="en-US" sz="1120">
                <a:solidFill>
                  <a:srgbClr val="667085"/>
                </a:solidFill>
                <a:latin typeface="Calibri Light" pitchFamily="34" charset="0"/>
                <a:ea typeface="Calibri Light" pitchFamily="34" charset="-122"/>
                <a:cs typeface="Calibri Light" pitchFamily="34" charset="-120"/>
              </a:rPr>
              <a:t>Lean: proof success or unresolved obligation</a:t>
            </a:r>
            <a:endParaRPr lang="en-US" sz="1120"/>
          </a:p>
          <a:p>
            <a:pPr marL="0" indent="0" algn="l">
              <a:buNone/>
            </a:pPr>
            <a:endParaRPr lang="en-US" sz="1120"/>
          </a:p>
          <a:p>
            <a:pPr marL="0" indent="0" algn="l">
              <a:buNone/>
            </a:pPr>
            <a:r>
              <a:rPr lang="en-US" sz="1120">
                <a:solidFill>
                  <a:srgbClr val="667085"/>
                </a:solidFill>
                <a:latin typeface="Calibri Light" pitchFamily="34" charset="0"/>
                <a:ea typeface="Calibri Light" pitchFamily="34" charset="-122"/>
                <a:cs typeface="Calibri Light" pitchFamily="34" charset="-120"/>
              </a:rPr>
              <a:t>Z3: SAT, UNSAT, model, or counterexample</a:t>
            </a:r>
            <a:endParaRPr lang="en-US" sz="1120"/>
          </a:p>
          <a:p>
            <a:pPr marL="0" indent="0" algn="l">
              <a:buNone/>
            </a:pPr>
            <a:endParaRPr lang="en-US" sz="1120"/>
          </a:p>
          <a:p>
            <a:pPr marL="0" indent="0" algn="l">
              <a:buNone/>
            </a:pPr>
            <a:r>
              <a:rPr lang="en-US" sz="1120">
                <a:solidFill>
                  <a:srgbClr val="667085"/>
                </a:solidFill>
                <a:latin typeface="Calibri Light" pitchFamily="34" charset="0"/>
                <a:ea typeface="Calibri Light" pitchFamily="34" charset="-122"/>
                <a:cs typeface="Calibri Light" pitchFamily="34" charset="-120"/>
              </a:rPr>
              <a:t>Evidence remains linked to requirement IDs</a:t>
            </a:r>
            <a:endParaRPr lang="en-US" sz="1120"/>
          </a:p>
        </p:txBody>
      </p:sp>
      <p:sp>
        <p:nvSpPr>
          <p:cNvPr id="38" name="Freeform 2">
            <a:extLst>
              <a:ext uri="{FF2B5EF4-FFF2-40B4-BE49-F238E27FC236}">
                <a16:creationId xmlns:a16="http://schemas.microsoft.com/office/drawing/2014/main" id="{FD707657-9D82-8080-FF17-61DBD94C8B5D}"/>
              </a:ext>
            </a:extLst>
          </p:cNvPr>
          <p:cNvSpPr/>
          <p:nvPr/>
        </p:nvSpPr>
        <p:spPr>
          <a:xfrm>
            <a:off x="5142104" y="6380991"/>
            <a:ext cx="1903592" cy="476247"/>
          </a:xfrm>
          <a:custGeom>
            <a:avLst/>
            <a:gdLst/>
            <a:ahLst/>
            <a:cxnLst/>
            <a:rect l="l" t="t" r="r" b="b"/>
            <a:pathLst>
              <a:path w="2855388" h="714371">
                <a:moveTo>
                  <a:pt x="0" y="0"/>
                </a:moveTo>
                <a:lnTo>
                  <a:pt x="2855388" y="0"/>
                </a:lnTo>
                <a:lnTo>
                  <a:pt x="2855388" y="714371"/>
                </a:lnTo>
                <a:lnTo>
                  <a:pt x="0" y="714371"/>
                </a:lnTo>
                <a:lnTo>
                  <a:pt x="0" y="0"/>
                </a:lnTo>
                <a:close/>
              </a:path>
            </a:pathLst>
          </a:custGeom>
          <a:blipFill>
            <a:blip r:embed="rId3"/>
            <a:stretch>
              <a:fillRect t="-1162" b="-1162"/>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191695" cy="91440"/>
          </a:xfrm>
          <a:prstGeom prst="rect">
            <a:avLst/>
          </a:prstGeom>
          <a:solidFill>
            <a:srgbClr val="FBB034"/>
          </a:solidFill>
          <a:ln w="12700">
            <a:solidFill>
              <a:srgbClr val="FBB034"/>
            </a:solidFill>
            <a:prstDash val="solid"/>
          </a:ln>
        </p:spPr>
      </p:sp>
      <p:sp>
        <p:nvSpPr>
          <p:cNvPr id="3" name="Text 1"/>
          <p:cNvSpPr/>
          <p:nvPr/>
        </p:nvSpPr>
        <p:spPr>
          <a:xfrm>
            <a:off x="502920" y="310896"/>
            <a:ext cx="10927080" cy="502920"/>
          </a:xfrm>
          <a:prstGeom prst="rect">
            <a:avLst/>
          </a:prstGeom>
          <a:noFill/>
          <a:ln/>
        </p:spPr>
        <p:txBody>
          <a:bodyPr wrap="square" lIns="381" tIns="381" rIns="381" bIns="381" rtlCol="0" anchor="ctr">
            <a:normAutofit/>
          </a:bodyPr>
          <a:lstStyle/>
          <a:p>
            <a:pPr marL="0" indent="0" algn="l">
              <a:buNone/>
            </a:pPr>
            <a:r>
              <a:rPr lang="en-US" sz="2700" b="1">
                <a:solidFill>
                  <a:srgbClr val="12233A"/>
                </a:solidFill>
                <a:latin typeface="Calibri Light" pitchFamily="34" charset="0"/>
                <a:ea typeface="Calibri Light" pitchFamily="34" charset="-122"/>
                <a:cs typeface="Calibri Light" pitchFamily="34" charset="-120"/>
              </a:rPr>
              <a:t>Step 4: translate verification evidence into an actionable report</a:t>
            </a:r>
            <a:endParaRPr lang="en-US" sz="2700"/>
          </a:p>
        </p:txBody>
      </p:sp>
      <p:sp>
        <p:nvSpPr>
          <p:cNvPr id="4" name="Text 2"/>
          <p:cNvSpPr/>
          <p:nvPr/>
        </p:nvSpPr>
        <p:spPr>
          <a:xfrm>
            <a:off x="521208" y="886968"/>
            <a:ext cx="10835640" cy="310896"/>
          </a:xfrm>
          <a:prstGeom prst="rect">
            <a:avLst/>
          </a:prstGeom>
          <a:noFill/>
          <a:ln/>
        </p:spPr>
        <p:txBody>
          <a:bodyPr wrap="square" lIns="381" tIns="381" rIns="381" bIns="381" rtlCol="0" anchor="ctr">
            <a:normAutofit/>
          </a:bodyPr>
          <a:lstStyle/>
          <a:p>
            <a:pPr marL="0" indent="0" algn="l">
              <a:buNone/>
            </a:pPr>
            <a:r>
              <a:rPr lang="en-US" sz="1220">
                <a:solidFill>
                  <a:srgbClr val="667085"/>
                </a:solidFill>
                <a:latin typeface="Calibri Light" pitchFamily="34" charset="0"/>
                <a:ea typeface="Calibri Light" pitchFamily="34" charset="-122"/>
                <a:cs typeface="Calibri Light" pitchFamily="34" charset="-120"/>
              </a:rPr>
              <a:t>Technical proof and solver outputs are converted into reviewer-ready findings without losing traceability to the source requirements.</a:t>
            </a:r>
            <a:endParaRPr lang="en-US" sz="1220"/>
          </a:p>
        </p:txBody>
      </p:sp>
      <p:sp>
        <p:nvSpPr>
          <p:cNvPr id="5" name="Text 3"/>
          <p:cNvSpPr/>
          <p:nvPr/>
        </p:nvSpPr>
        <p:spPr>
          <a:xfrm>
            <a:off x="502920" y="6510528"/>
            <a:ext cx="1143000" cy="146304"/>
          </a:xfrm>
          <a:prstGeom prst="rect">
            <a:avLst/>
          </a:prstGeom>
          <a:noFill/>
          <a:ln/>
        </p:spPr>
        <p:txBody>
          <a:bodyPr wrap="square" lIns="381" tIns="381" rIns="381" bIns="381" rtlCol="0" anchor="ctr">
            <a:normAutofit/>
          </a:bodyPr>
          <a:lstStyle/>
          <a:p>
            <a:pPr marL="0" indent="0" algn="l">
              <a:buNone/>
            </a:pPr>
            <a:r>
              <a:rPr lang="en-US" sz="800">
                <a:solidFill>
                  <a:srgbClr val="666666"/>
                </a:solidFill>
                <a:latin typeface="Calibri Light" pitchFamily="34" charset="0"/>
                <a:ea typeface="Calibri Light" pitchFamily="34" charset="-122"/>
                <a:cs typeface="Calibri Light" pitchFamily="34" charset="-120"/>
              </a:rPr>
              <a:t>TCS confidential</a:t>
            </a:r>
            <a:endParaRPr lang="en-US" sz="800"/>
          </a:p>
        </p:txBody>
      </p:sp>
      <p:sp>
        <p:nvSpPr>
          <p:cNvPr id="6" name="Text 4"/>
          <p:cNvSpPr/>
          <p:nvPr/>
        </p:nvSpPr>
        <p:spPr>
          <a:xfrm>
            <a:off x="10771632" y="6510528"/>
            <a:ext cx="228600" cy="146304"/>
          </a:xfrm>
          <a:prstGeom prst="rect">
            <a:avLst/>
          </a:prstGeom>
          <a:noFill/>
          <a:ln/>
        </p:spPr>
        <p:txBody>
          <a:bodyPr wrap="square" lIns="381" tIns="381" rIns="381" bIns="381" rtlCol="0" anchor="ctr">
            <a:normAutofit/>
          </a:bodyPr>
          <a:lstStyle/>
          <a:p>
            <a:pPr marL="0" indent="0" algn="ctr">
              <a:buNone/>
            </a:pPr>
            <a:r>
              <a:rPr lang="en-US" sz="800">
                <a:solidFill>
                  <a:srgbClr val="666666"/>
                </a:solidFill>
                <a:latin typeface="Calibri Light" pitchFamily="34" charset="0"/>
                <a:ea typeface="Calibri Light" pitchFamily="34" charset="-122"/>
                <a:cs typeface="Calibri Light" pitchFamily="34" charset="-120"/>
              </a:rPr>
              <a:t>13</a:t>
            </a:r>
            <a:endParaRPr lang="en-US" sz="800"/>
          </a:p>
        </p:txBody>
      </p:sp>
      <p:sp>
        <p:nvSpPr>
          <p:cNvPr id="7" name="Text 5"/>
          <p:cNvSpPr/>
          <p:nvPr/>
        </p:nvSpPr>
        <p:spPr>
          <a:xfrm>
            <a:off x="11137392" y="6419088"/>
            <a:ext cx="566928" cy="228600"/>
          </a:xfrm>
          <a:prstGeom prst="rect">
            <a:avLst/>
          </a:prstGeom>
          <a:noFill/>
          <a:ln/>
        </p:spPr>
        <p:txBody>
          <a:bodyPr wrap="square" lIns="381" tIns="381" rIns="381" bIns="381" rtlCol="0" anchor="ctr">
            <a:normAutofit/>
          </a:bodyPr>
          <a:lstStyle/>
          <a:p>
            <a:pPr marL="0" indent="0" algn="r">
              <a:buNone/>
            </a:pPr>
            <a:r>
              <a:rPr lang="en-US" sz="1800" b="1">
                <a:solidFill>
                  <a:srgbClr val="4E84C4"/>
                </a:solidFill>
                <a:latin typeface="Calibri Light" pitchFamily="34" charset="0"/>
                <a:ea typeface="Calibri Light" pitchFamily="34" charset="-122"/>
                <a:cs typeface="Calibri Light" pitchFamily="34" charset="-120"/>
              </a:rPr>
              <a:t>tcs</a:t>
            </a:r>
            <a:endParaRPr lang="en-US" sz="1800"/>
          </a:p>
        </p:txBody>
      </p:sp>
      <p:sp>
        <p:nvSpPr>
          <p:cNvPr id="8" name="Shape 6"/>
          <p:cNvSpPr/>
          <p:nvPr/>
        </p:nvSpPr>
        <p:spPr>
          <a:xfrm>
            <a:off x="669016" y="1589434"/>
            <a:ext cx="2275352" cy="3924398"/>
          </a:xfrm>
          <a:prstGeom prst="roundRect">
            <a:avLst>
              <a:gd name="adj" fmla="val 2381"/>
            </a:avLst>
          </a:prstGeom>
          <a:solidFill>
            <a:srgbClr val="F8FAFC"/>
          </a:solidFill>
          <a:ln w="12700">
            <a:solidFill>
              <a:srgbClr val="D2DFEB"/>
            </a:solidFill>
            <a:prstDash val="solid"/>
          </a:ln>
          <a:effectLst/>
        </p:spPr>
      </p:sp>
      <p:sp>
        <p:nvSpPr>
          <p:cNvPr id="9" name="Shape 7"/>
          <p:cNvSpPr/>
          <p:nvPr/>
        </p:nvSpPr>
        <p:spPr>
          <a:xfrm>
            <a:off x="640080" y="1444752"/>
            <a:ext cx="82296" cy="4069080"/>
          </a:xfrm>
          <a:prstGeom prst="rect">
            <a:avLst/>
          </a:prstGeom>
          <a:solidFill>
            <a:srgbClr val="4E84C4"/>
          </a:solidFill>
          <a:ln w="12700">
            <a:solidFill>
              <a:srgbClr val="4E84C4"/>
            </a:solidFill>
            <a:prstDash val="solid"/>
          </a:ln>
        </p:spPr>
      </p:sp>
      <p:sp>
        <p:nvSpPr>
          <p:cNvPr id="10" name="Text 8"/>
          <p:cNvSpPr/>
          <p:nvPr/>
        </p:nvSpPr>
        <p:spPr>
          <a:xfrm>
            <a:off x="868680" y="1716448"/>
            <a:ext cx="1911096" cy="329184"/>
          </a:xfrm>
          <a:prstGeom prst="rect">
            <a:avLst/>
          </a:prstGeom>
          <a:noFill/>
          <a:ln/>
        </p:spPr>
        <p:txBody>
          <a:bodyPr wrap="square" lIns="381" tIns="381" rIns="381" bIns="381" rtlCol="0" anchor="ctr">
            <a:normAutofit/>
          </a:bodyPr>
          <a:lstStyle/>
          <a:p>
            <a:pPr marL="0" indent="0" algn="l">
              <a:buNone/>
            </a:pPr>
            <a:r>
              <a:rPr lang="en-US" sz="1600" b="1">
                <a:solidFill>
                  <a:srgbClr val="12233A"/>
                </a:solidFill>
                <a:latin typeface="Calibri Light" pitchFamily="34" charset="0"/>
                <a:ea typeface="Calibri Light" pitchFamily="34" charset="-122"/>
                <a:cs typeface="Calibri Light" pitchFamily="34" charset="-120"/>
              </a:rPr>
              <a:t>Verification evidence</a:t>
            </a:r>
            <a:endParaRPr lang="en-US" sz="1600"/>
          </a:p>
        </p:txBody>
      </p:sp>
      <p:sp>
        <p:nvSpPr>
          <p:cNvPr id="11" name="Text 9"/>
          <p:cNvSpPr/>
          <p:nvPr/>
        </p:nvSpPr>
        <p:spPr>
          <a:xfrm>
            <a:off x="868680" y="2066544"/>
            <a:ext cx="1892808" cy="3300984"/>
          </a:xfrm>
          <a:prstGeom prst="rect">
            <a:avLst/>
          </a:prstGeom>
          <a:noFill/>
          <a:ln/>
        </p:spPr>
        <p:txBody>
          <a:bodyPr wrap="square" lIns="381" tIns="381" rIns="381" bIns="381" rtlCol="0" anchor="ctr">
            <a:normAutofit/>
          </a:bodyPr>
          <a:lstStyle/>
          <a:p>
            <a:pPr marL="0" indent="0" algn="l">
              <a:buNone/>
            </a:pPr>
            <a:r>
              <a:rPr lang="en-US" sz="1120">
                <a:solidFill>
                  <a:srgbClr val="667085"/>
                </a:solidFill>
                <a:latin typeface="Calibri Light" pitchFamily="34" charset="0"/>
                <a:ea typeface="Calibri Light" pitchFamily="34" charset="-122"/>
                <a:cs typeface="Calibri Light" pitchFamily="34" charset="-120"/>
              </a:rPr>
              <a:t>Lean proof status</a:t>
            </a:r>
            <a:endParaRPr lang="en-US" sz="1120"/>
          </a:p>
          <a:p>
            <a:pPr marL="0" indent="0" algn="l">
              <a:buNone/>
            </a:pPr>
            <a:endParaRPr lang="en-US" sz="1120"/>
          </a:p>
          <a:p>
            <a:pPr marL="0" indent="0" algn="l">
              <a:buNone/>
            </a:pPr>
            <a:r>
              <a:rPr lang="en-US" sz="1120">
                <a:solidFill>
                  <a:srgbClr val="667085"/>
                </a:solidFill>
                <a:latin typeface="Calibri Light" pitchFamily="34" charset="0"/>
                <a:ea typeface="Calibri Light" pitchFamily="34" charset="-122"/>
                <a:cs typeface="Calibri Light" pitchFamily="34" charset="-120"/>
              </a:rPr>
              <a:t>Z3 solver status</a:t>
            </a:r>
            <a:endParaRPr lang="en-US" sz="1120"/>
          </a:p>
          <a:p>
            <a:pPr marL="0" indent="0" algn="l">
              <a:buNone/>
            </a:pPr>
            <a:endParaRPr lang="en-US" sz="1120"/>
          </a:p>
          <a:p>
            <a:pPr marL="0" indent="0" algn="l">
              <a:buNone/>
            </a:pPr>
            <a:r>
              <a:rPr lang="en-US" sz="1120">
                <a:solidFill>
                  <a:srgbClr val="667085"/>
                </a:solidFill>
                <a:latin typeface="Calibri Light" pitchFamily="34" charset="0"/>
                <a:ea typeface="Calibri Light" pitchFamily="34" charset="-122"/>
                <a:cs typeface="Calibri Light" pitchFamily="34" charset="-120"/>
              </a:rPr>
              <a:t>Witness or counterexample</a:t>
            </a:r>
            <a:endParaRPr lang="en-US" sz="1120"/>
          </a:p>
          <a:p>
            <a:pPr marL="0" indent="0" algn="l">
              <a:buNone/>
            </a:pPr>
            <a:endParaRPr lang="en-US" sz="1120"/>
          </a:p>
          <a:p>
            <a:pPr marL="0" indent="0" algn="l">
              <a:buNone/>
            </a:pPr>
            <a:r>
              <a:rPr lang="en-US" sz="1120">
                <a:solidFill>
                  <a:srgbClr val="667085"/>
                </a:solidFill>
                <a:latin typeface="Calibri Light" pitchFamily="34" charset="0"/>
                <a:ea typeface="Calibri Light" pitchFamily="34" charset="-122"/>
                <a:cs typeface="Calibri Light" pitchFamily="34" charset="-120"/>
              </a:rPr>
              <a:t>Requirement IDs and source text</a:t>
            </a:r>
            <a:endParaRPr lang="en-US" sz="1120"/>
          </a:p>
        </p:txBody>
      </p:sp>
      <p:sp>
        <p:nvSpPr>
          <p:cNvPr id="12" name="Shape 10"/>
          <p:cNvSpPr/>
          <p:nvPr/>
        </p:nvSpPr>
        <p:spPr>
          <a:xfrm>
            <a:off x="2944368" y="3456432"/>
            <a:ext cx="731520" cy="1"/>
          </a:xfrm>
          <a:prstGeom prst="line">
            <a:avLst/>
          </a:prstGeom>
          <a:noFill/>
          <a:ln w="25400">
            <a:solidFill>
              <a:srgbClr val="4E84C4"/>
            </a:solidFill>
            <a:prstDash val="solid"/>
            <a:tailEnd type="triangle"/>
          </a:ln>
        </p:spPr>
      </p:sp>
      <p:sp>
        <p:nvSpPr>
          <p:cNvPr id="13" name="Shape 11"/>
          <p:cNvSpPr/>
          <p:nvPr/>
        </p:nvSpPr>
        <p:spPr>
          <a:xfrm>
            <a:off x="3797406" y="1580949"/>
            <a:ext cx="2713122" cy="3936528"/>
          </a:xfrm>
          <a:prstGeom prst="roundRect">
            <a:avLst>
              <a:gd name="adj" fmla="val 2000"/>
            </a:avLst>
          </a:prstGeom>
          <a:solidFill>
            <a:srgbClr val="FFF6E4"/>
          </a:solidFill>
          <a:ln w="12700">
            <a:solidFill>
              <a:srgbClr val="D2DFEB"/>
            </a:solidFill>
            <a:prstDash val="solid"/>
          </a:ln>
          <a:effectLst/>
        </p:spPr>
      </p:sp>
      <p:sp>
        <p:nvSpPr>
          <p:cNvPr id="14" name="Shape 12"/>
          <p:cNvSpPr/>
          <p:nvPr/>
        </p:nvSpPr>
        <p:spPr>
          <a:xfrm>
            <a:off x="3690164" y="1579173"/>
            <a:ext cx="111233" cy="3927135"/>
          </a:xfrm>
          <a:prstGeom prst="rect">
            <a:avLst/>
          </a:prstGeom>
          <a:solidFill>
            <a:srgbClr val="FBB034"/>
          </a:solidFill>
          <a:ln w="12700">
            <a:solidFill>
              <a:srgbClr val="FBB034"/>
            </a:solidFill>
            <a:prstDash val="solid"/>
          </a:ln>
        </p:spPr>
      </p:sp>
      <p:sp>
        <p:nvSpPr>
          <p:cNvPr id="15" name="Text 13"/>
          <p:cNvSpPr/>
          <p:nvPr/>
        </p:nvSpPr>
        <p:spPr>
          <a:xfrm>
            <a:off x="3995928" y="1717227"/>
            <a:ext cx="2350008" cy="329184"/>
          </a:xfrm>
          <a:prstGeom prst="rect">
            <a:avLst/>
          </a:prstGeom>
          <a:noFill/>
          <a:ln/>
        </p:spPr>
        <p:txBody>
          <a:bodyPr wrap="square" lIns="381" tIns="381" rIns="381" bIns="381" rtlCol="0" anchor="ctr">
            <a:normAutofit/>
          </a:bodyPr>
          <a:lstStyle/>
          <a:p>
            <a:pPr marL="0" indent="0" algn="l">
              <a:buNone/>
            </a:pPr>
            <a:r>
              <a:rPr lang="en-US" sz="1600" b="1">
                <a:solidFill>
                  <a:srgbClr val="12233A"/>
                </a:solidFill>
                <a:latin typeface="Calibri Light" pitchFamily="34" charset="0"/>
                <a:ea typeface="Calibri Light" pitchFamily="34" charset="-122"/>
                <a:cs typeface="Calibri Light" pitchFamily="34" charset="-120"/>
              </a:rPr>
              <a:t>Evidence interpretation</a:t>
            </a:r>
            <a:endParaRPr lang="en-US" sz="1600"/>
          </a:p>
        </p:txBody>
      </p:sp>
      <p:sp>
        <p:nvSpPr>
          <p:cNvPr id="16" name="Text 14"/>
          <p:cNvSpPr/>
          <p:nvPr/>
        </p:nvSpPr>
        <p:spPr>
          <a:xfrm>
            <a:off x="3995928" y="1892307"/>
            <a:ext cx="2341365" cy="3178331"/>
          </a:xfrm>
          <a:prstGeom prst="rect">
            <a:avLst/>
          </a:prstGeom>
          <a:noFill/>
          <a:ln/>
        </p:spPr>
        <p:txBody>
          <a:bodyPr wrap="square" lIns="381" tIns="381" rIns="381" bIns="381" rtlCol="0" anchor="ctr">
            <a:normAutofit/>
          </a:bodyPr>
          <a:lstStyle/>
          <a:p>
            <a:pPr marL="0" indent="0" algn="l">
              <a:buNone/>
            </a:pPr>
            <a:r>
              <a:rPr lang="en-US" sz="1120">
                <a:solidFill>
                  <a:srgbClr val="667085"/>
                </a:solidFill>
                <a:latin typeface="Calibri Light" pitchFamily="34" charset="0"/>
                <a:ea typeface="Calibri Light" pitchFamily="34" charset="-122"/>
                <a:cs typeface="Calibri Light" pitchFamily="34" charset="-120"/>
              </a:rPr>
              <a:t>Classify the result</a:t>
            </a:r>
            <a:endParaRPr lang="en-US" sz="1120"/>
          </a:p>
          <a:p>
            <a:pPr marL="0" indent="0" algn="l">
              <a:buNone/>
            </a:pPr>
            <a:endParaRPr lang="en-US" sz="1120"/>
          </a:p>
          <a:p>
            <a:pPr marL="0" indent="0" algn="l">
              <a:buNone/>
            </a:pPr>
            <a:r>
              <a:rPr lang="en-US" sz="1120">
                <a:solidFill>
                  <a:srgbClr val="667085"/>
                </a:solidFill>
                <a:latin typeface="Calibri Light" pitchFamily="34" charset="0"/>
                <a:ea typeface="Calibri Light" pitchFamily="34" charset="-122"/>
                <a:cs typeface="Calibri Light" pitchFamily="34" charset="-120"/>
              </a:rPr>
              <a:t>Map technical evidence to affected requirements</a:t>
            </a:r>
            <a:endParaRPr lang="en-US" sz="1120"/>
          </a:p>
          <a:p>
            <a:pPr marL="0" indent="0" algn="l">
              <a:buNone/>
            </a:pPr>
            <a:endParaRPr lang="en-US" sz="1120"/>
          </a:p>
          <a:p>
            <a:pPr marL="0" indent="0" algn="l">
              <a:buNone/>
            </a:pPr>
            <a:r>
              <a:rPr lang="en-US" sz="1120">
                <a:solidFill>
                  <a:srgbClr val="667085"/>
                </a:solidFill>
                <a:latin typeface="Calibri Light" pitchFamily="34" charset="0"/>
                <a:ea typeface="Calibri Light" pitchFamily="34" charset="-122"/>
                <a:cs typeface="Calibri Light" pitchFamily="34" charset="-120"/>
              </a:rPr>
              <a:t>Convert proof details into clear reviewer language</a:t>
            </a:r>
            <a:endParaRPr lang="en-US" sz="1120"/>
          </a:p>
          <a:p>
            <a:pPr marL="0" indent="0" algn="l">
              <a:buNone/>
            </a:pPr>
            <a:endParaRPr lang="en-US" sz="1120"/>
          </a:p>
          <a:p>
            <a:pPr marL="0" indent="0" algn="l">
              <a:buNone/>
            </a:pPr>
            <a:r>
              <a:rPr lang="en-US" sz="1120">
                <a:solidFill>
                  <a:srgbClr val="667085"/>
                </a:solidFill>
                <a:latin typeface="Calibri Light" pitchFamily="34" charset="0"/>
                <a:ea typeface="Calibri Light" pitchFamily="34" charset="-122"/>
                <a:cs typeface="Calibri Light" pitchFamily="34" charset="-120"/>
              </a:rPr>
              <a:t>Preserve source trace</a:t>
            </a:r>
            <a:endParaRPr lang="en-US" sz="1120"/>
          </a:p>
        </p:txBody>
      </p:sp>
      <p:sp>
        <p:nvSpPr>
          <p:cNvPr id="17" name="Shape 15"/>
          <p:cNvSpPr/>
          <p:nvPr/>
        </p:nvSpPr>
        <p:spPr>
          <a:xfrm>
            <a:off x="6520174" y="3544170"/>
            <a:ext cx="1112255" cy="1"/>
          </a:xfrm>
          <a:prstGeom prst="line">
            <a:avLst/>
          </a:prstGeom>
          <a:noFill/>
          <a:ln w="25400">
            <a:solidFill>
              <a:srgbClr val="4E84C4"/>
            </a:solidFill>
            <a:prstDash val="solid"/>
            <a:tailEnd type="triangle"/>
          </a:ln>
        </p:spPr>
      </p:sp>
      <p:sp>
        <p:nvSpPr>
          <p:cNvPr id="18" name="Shape 16"/>
          <p:cNvSpPr/>
          <p:nvPr/>
        </p:nvSpPr>
        <p:spPr>
          <a:xfrm>
            <a:off x="7640041" y="1588817"/>
            <a:ext cx="3899687" cy="3927137"/>
          </a:xfrm>
          <a:prstGeom prst="roundRect">
            <a:avLst>
              <a:gd name="adj" fmla="val 1304"/>
            </a:avLst>
          </a:prstGeom>
          <a:solidFill>
            <a:srgbClr val="F8FAFC"/>
          </a:solidFill>
          <a:ln w="12700">
            <a:solidFill>
              <a:srgbClr val="D2DFEB"/>
            </a:solidFill>
            <a:prstDash val="solid"/>
          </a:ln>
          <a:effectLst/>
        </p:spPr>
      </p:sp>
      <p:sp>
        <p:nvSpPr>
          <p:cNvPr id="19" name="Shape 17"/>
          <p:cNvSpPr/>
          <p:nvPr/>
        </p:nvSpPr>
        <p:spPr>
          <a:xfrm>
            <a:off x="7640041" y="1588817"/>
            <a:ext cx="76298" cy="3927137"/>
          </a:xfrm>
          <a:prstGeom prst="rect">
            <a:avLst/>
          </a:prstGeom>
          <a:solidFill>
            <a:srgbClr val="12233A"/>
          </a:solidFill>
          <a:ln w="12700">
            <a:solidFill>
              <a:srgbClr val="12233A"/>
            </a:solidFill>
            <a:prstDash val="solid"/>
          </a:ln>
        </p:spPr>
      </p:sp>
      <p:sp>
        <p:nvSpPr>
          <p:cNvPr id="20" name="Text 18"/>
          <p:cNvSpPr/>
          <p:nvPr/>
        </p:nvSpPr>
        <p:spPr>
          <a:xfrm>
            <a:off x="7851981" y="1720269"/>
            <a:ext cx="3535151" cy="295768"/>
          </a:xfrm>
          <a:prstGeom prst="rect">
            <a:avLst/>
          </a:prstGeom>
          <a:noFill/>
          <a:ln/>
        </p:spPr>
        <p:txBody>
          <a:bodyPr wrap="square" lIns="381" tIns="381" rIns="381" bIns="381" rtlCol="0" anchor="ctr">
            <a:normAutofit/>
          </a:bodyPr>
          <a:lstStyle/>
          <a:p>
            <a:pPr marL="0" indent="0" algn="l">
              <a:buNone/>
            </a:pPr>
            <a:r>
              <a:rPr lang="en-US" sz="1600" b="1">
                <a:solidFill>
                  <a:srgbClr val="12233A"/>
                </a:solidFill>
                <a:latin typeface="Calibri Light" pitchFamily="34" charset="0"/>
                <a:ea typeface="Calibri Light" pitchFamily="34" charset="-122"/>
                <a:cs typeface="Calibri Light" pitchFamily="34" charset="-120"/>
              </a:rPr>
              <a:t>Report</a:t>
            </a:r>
            <a:endParaRPr lang="en-US" sz="1600"/>
          </a:p>
        </p:txBody>
      </p:sp>
      <p:sp>
        <p:nvSpPr>
          <p:cNvPr id="21" name="Shape 19"/>
          <p:cNvSpPr/>
          <p:nvPr/>
        </p:nvSpPr>
        <p:spPr>
          <a:xfrm>
            <a:off x="7979144" y="2205000"/>
            <a:ext cx="3221480" cy="591535"/>
          </a:xfrm>
          <a:prstGeom prst="roundRect">
            <a:avLst>
              <a:gd name="adj" fmla="val 8333"/>
            </a:avLst>
          </a:prstGeom>
          <a:solidFill>
            <a:srgbClr val="FFFFFF"/>
          </a:solidFill>
          <a:ln w="13970">
            <a:solidFill>
              <a:srgbClr val="D64545"/>
            </a:solidFill>
            <a:prstDash val="solid"/>
          </a:ln>
        </p:spPr>
      </p:sp>
      <p:sp>
        <p:nvSpPr>
          <p:cNvPr id="22" name="Text 20"/>
          <p:cNvSpPr/>
          <p:nvPr/>
        </p:nvSpPr>
        <p:spPr>
          <a:xfrm>
            <a:off x="8063920" y="2303589"/>
            <a:ext cx="3051929" cy="394357"/>
          </a:xfrm>
          <a:prstGeom prst="rect">
            <a:avLst/>
          </a:prstGeom>
          <a:noFill/>
          <a:ln/>
        </p:spPr>
        <p:txBody>
          <a:bodyPr wrap="square" lIns="381" tIns="381" rIns="381" bIns="381" rtlCol="0" anchor="ctr">
            <a:normAutofit/>
          </a:bodyPr>
          <a:lstStyle/>
          <a:p>
            <a:pPr marL="0" indent="0" algn="ctr">
              <a:buNone/>
            </a:pPr>
            <a:r>
              <a:rPr lang="en-US" sz="1120" b="1">
                <a:solidFill>
                  <a:srgbClr val="12233A"/>
                </a:solidFill>
                <a:latin typeface="Calibri Light" pitchFamily="34" charset="0"/>
                <a:ea typeface="Calibri Light" pitchFamily="34" charset="-122"/>
                <a:cs typeface="Calibri Light" pitchFamily="34" charset="-120"/>
              </a:rPr>
              <a:t>Finding</a:t>
            </a:r>
            <a:endParaRPr lang="en-US" sz="1120"/>
          </a:p>
          <a:p>
            <a:pPr marL="0" indent="0" algn="ctr">
              <a:buNone/>
            </a:pPr>
            <a:r>
              <a:rPr lang="en-US" sz="1120" b="1">
                <a:solidFill>
                  <a:srgbClr val="12233A"/>
                </a:solidFill>
                <a:latin typeface="Calibri Light" pitchFamily="34" charset="0"/>
                <a:ea typeface="Calibri Light" pitchFamily="34" charset="-122"/>
                <a:cs typeface="Calibri Light" pitchFamily="34" charset="-120"/>
              </a:rPr>
              <a:t>What defect or verified property was identified?</a:t>
            </a:r>
            <a:endParaRPr lang="en-US" sz="1120"/>
          </a:p>
        </p:txBody>
      </p:sp>
      <p:sp>
        <p:nvSpPr>
          <p:cNvPr id="23" name="Shape 21"/>
          <p:cNvSpPr/>
          <p:nvPr/>
        </p:nvSpPr>
        <p:spPr>
          <a:xfrm>
            <a:off x="7979144" y="3051224"/>
            <a:ext cx="3221480" cy="591535"/>
          </a:xfrm>
          <a:prstGeom prst="roundRect">
            <a:avLst>
              <a:gd name="adj" fmla="val 8333"/>
            </a:avLst>
          </a:prstGeom>
          <a:solidFill>
            <a:srgbClr val="FFFFFF"/>
          </a:solidFill>
          <a:ln w="13970">
            <a:solidFill>
              <a:srgbClr val="4E84C4"/>
            </a:solidFill>
            <a:prstDash val="solid"/>
          </a:ln>
        </p:spPr>
      </p:sp>
      <p:sp>
        <p:nvSpPr>
          <p:cNvPr id="24" name="Text 22"/>
          <p:cNvSpPr/>
          <p:nvPr/>
        </p:nvSpPr>
        <p:spPr>
          <a:xfrm>
            <a:off x="8063920" y="3149813"/>
            <a:ext cx="3051929" cy="394357"/>
          </a:xfrm>
          <a:prstGeom prst="rect">
            <a:avLst/>
          </a:prstGeom>
          <a:noFill/>
          <a:ln/>
        </p:spPr>
        <p:txBody>
          <a:bodyPr wrap="square" lIns="381" tIns="381" rIns="381" bIns="381" rtlCol="0" anchor="ctr">
            <a:normAutofit/>
          </a:bodyPr>
          <a:lstStyle/>
          <a:p>
            <a:pPr marL="0" indent="0" algn="ctr">
              <a:buNone/>
            </a:pPr>
            <a:r>
              <a:rPr lang="en-US" sz="1120" b="1">
                <a:solidFill>
                  <a:srgbClr val="12233A"/>
                </a:solidFill>
                <a:latin typeface="Calibri Light" pitchFamily="34" charset="0"/>
                <a:ea typeface="Calibri Light" pitchFamily="34" charset="-122"/>
                <a:cs typeface="Calibri Light" pitchFamily="34" charset="-120"/>
              </a:rPr>
              <a:t>Explanation</a:t>
            </a:r>
            <a:endParaRPr lang="en-US" sz="1120"/>
          </a:p>
          <a:p>
            <a:pPr marL="0" indent="0" algn="ctr">
              <a:buNone/>
            </a:pPr>
            <a:r>
              <a:rPr lang="en-US" sz="1120" b="1">
                <a:solidFill>
                  <a:srgbClr val="12233A"/>
                </a:solidFill>
                <a:latin typeface="Calibri Light" pitchFamily="34" charset="0"/>
                <a:ea typeface="Calibri Light" pitchFamily="34" charset="-122"/>
                <a:cs typeface="Calibri Light" pitchFamily="34" charset="-120"/>
              </a:rPr>
              <a:t>Why the result follows and which evidence supports it</a:t>
            </a:r>
            <a:endParaRPr lang="en-US" sz="1120"/>
          </a:p>
        </p:txBody>
      </p:sp>
      <p:sp>
        <p:nvSpPr>
          <p:cNvPr id="25" name="Shape 23"/>
          <p:cNvSpPr/>
          <p:nvPr/>
        </p:nvSpPr>
        <p:spPr>
          <a:xfrm>
            <a:off x="7979144" y="3897448"/>
            <a:ext cx="3221480" cy="591535"/>
          </a:xfrm>
          <a:prstGeom prst="roundRect">
            <a:avLst>
              <a:gd name="adj" fmla="val 8333"/>
            </a:avLst>
          </a:prstGeom>
          <a:solidFill>
            <a:srgbClr val="FFFFFF"/>
          </a:solidFill>
          <a:ln w="13970">
            <a:solidFill>
              <a:srgbClr val="FBB034"/>
            </a:solidFill>
            <a:prstDash val="solid"/>
          </a:ln>
        </p:spPr>
      </p:sp>
      <p:sp>
        <p:nvSpPr>
          <p:cNvPr id="26" name="Text 24"/>
          <p:cNvSpPr/>
          <p:nvPr/>
        </p:nvSpPr>
        <p:spPr>
          <a:xfrm>
            <a:off x="8063920" y="3996037"/>
            <a:ext cx="3051929" cy="394357"/>
          </a:xfrm>
          <a:prstGeom prst="rect">
            <a:avLst/>
          </a:prstGeom>
          <a:noFill/>
          <a:ln/>
        </p:spPr>
        <p:txBody>
          <a:bodyPr wrap="square" lIns="381" tIns="381" rIns="381" bIns="381" rtlCol="0" anchor="ctr">
            <a:normAutofit/>
          </a:bodyPr>
          <a:lstStyle/>
          <a:p>
            <a:pPr marL="0" indent="0" algn="ctr">
              <a:buNone/>
            </a:pPr>
            <a:r>
              <a:rPr lang="en-US" sz="1120" b="1">
                <a:solidFill>
                  <a:srgbClr val="12233A"/>
                </a:solidFill>
                <a:latin typeface="Calibri Light" pitchFamily="34" charset="0"/>
                <a:ea typeface="Calibri Light" pitchFamily="34" charset="-122"/>
                <a:cs typeface="Calibri Light" pitchFamily="34" charset="-120"/>
              </a:rPr>
              <a:t>Action</a:t>
            </a:r>
            <a:endParaRPr lang="en-US" sz="1120"/>
          </a:p>
          <a:p>
            <a:pPr marL="0" indent="0" algn="ctr">
              <a:buNone/>
            </a:pPr>
            <a:r>
              <a:rPr lang="en-US" sz="1120" b="1">
                <a:solidFill>
                  <a:srgbClr val="12233A"/>
                </a:solidFill>
                <a:latin typeface="Calibri Light" pitchFamily="34" charset="0"/>
                <a:ea typeface="Calibri Light" pitchFamily="34" charset="-122"/>
                <a:cs typeface="Calibri Light" pitchFamily="34" charset="-120"/>
              </a:rPr>
              <a:t>Clarify, revise, accept, prioritize, or rerun</a:t>
            </a:r>
            <a:endParaRPr lang="en-US" sz="1120"/>
          </a:p>
        </p:txBody>
      </p:sp>
      <p:sp>
        <p:nvSpPr>
          <p:cNvPr id="28" name="Freeform 2">
            <a:extLst>
              <a:ext uri="{FF2B5EF4-FFF2-40B4-BE49-F238E27FC236}">
                <a16:creationId xmlns:a16="http://schemas.microsoft.com/office/drawing/2014/main" id="{1778D7DE-630A-BB06-BE9D-AE074A06E9F5}"/>
              </a:ext>
            </a:extLst>
          </p:cNvPr>
          <p:cNvSpPr/>
          <p:nvPr/>
        </p:nvSpPr>
        <p:spPr>
          <a:xfrm>
            <a:off x="5142104" y="6380991"/>
            <a:ext cx="1903592" cy="476247"/>
          </a:xfrm>
          <a:custGeom>
            <a:avLst/>
            <a:gdLst/>
            <a:ahLst/>
            <a:cxnLst/>
            <a:rect l="l" t="t" r="r" b="b"/>
            <a:pathLst>
              <a:path w="2855388" h="714371">
                <a:moveTo>
                  <a:pt x="0" y="0"/>
                </a:moveTo>
                <a:lnTo>
                  <a:pt x="2855388" y="0"/>
                </a:lnTo>
                <a:lnTo>
                  <a:pt x="2855388" y="714371"/>
                </a:lnTo>
                <a:lnTo>
                  <a:pt x="0" y="714371"/>
                </a:lnTo>
                <a:lnTo>
                  <a:pt x="0" y="0"/>
                </a:lnTo>
                <a:close/>
              </a:path>
            </a:pathLst>
          </a:custGeom>
          <a:blipFill>
            <a:blip r:embed="rId3"/>
            <a:stretch>
              <a:fillRect t="-1162" b="-1162"/>
            </a:stretch>
          </a:blipFill>
        </p:spPr>
      </p:sp>
    </p:spTree>
    <p:extLst>
      <p:ext uri="{BB962C8B-B14F-4D97-AF65-F5344CB8AC3E}">
        <p14:creationId xmlns:p14="http://schemas.microsoft.com/office/powerpoint/2010/main" val="2832569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name="Slide 9">
    <p:spTree>
      <p:nvGrpSpPr>
        <p:cNvPr id="1" name=""/>
        <p:cNvGrpSpPr/>
        <p:nvPr/>
      </p:nvGrpSpPr>
      <p:grpSpPr>
        <a:xfrm>
          <a:off x="0" y="0"/>
          <a:ext cx="1" cy="1"/>
          <a:chOff x="0" y="0"/>
          <a:chExt cx="1" cy="1"/>
        </a:xfrm>
      </p:grpSpPr>
      <p:sp>
        <p:nvSpPr>
          <p:cNvPr id="2" name="Text 0"/>
          <p:cNvSpPr/>
          <p:nvPr/>
        </p:nvSpPr>
        <p:spPr>
          <a:xfrm>
            <a:off x="475488" y="320040"/>
            <a:ext cx="11064240" cy="502920"/>
          </a:xfrm>
          <a:prstGeom prst="rect">
            <a:avLst/>
          </a:prstGeom>
          <a:noFill/>
          <a:ln/>
        </p:spPr>
        <p:txBody>
          <a:bodyPr wrap="square" lIns="0" tIns="0" rIns="0" bIns="0" rtlCol="0" anchor="ctr"/>
          <a:lstStyle/>
          <a:p>
            <a:pPr marL="0" indent="0">
              <a:buNone/>
            </a:pPr>
            <a:r>
              <a:rPr lang="en-US" sz="2600" b="1">
                <a:solidFill>
                  <a:srgbClr val="111827"/>
                </a:solidFill>
                <a:latin typeface="Calibri Light" pitchFamily="34" charset="0"/>
                <a:ea typeface="Calibri Light" pitchFamily="34" charset="-122"/>
                <a:cs typeface="Calibri Light" pitchFamily="34" charset="-120"/>
              </a:rPr>
              <a:t>Step 2: dual formalization with Lean and first-order logic</a:t>
            </a:r>
            <a:endParaRPr lang="en-US" sz="2600"/>
          </a:p>
        </p:txBody>
      </p:sp>
      <p:sp>
        <p:nvSpPr>
          <p:cNvPr id="3" name="Text 1"/>
          <p:cNvSpPr/>
          <p:nvPr/>
        </p:nvSpPr>
        <p:spPr>
          <a:xfrm>
            <a:off x="493776" y="859536"/>
            <a:ext cx="10881360" cy="320040"/>
          </a:xfrm>
          <a:prstGeom prst="rect">
            <a:avLst/>
          </a:prstGeom>
          <a:noFill/>
          <a:ln/>
        </p:spPr>
        <p:txBody>
          <a:bodyPr wrap="square" lIns="0" tIns="0" rIns="0" bIns="0" rtlCol="0" anchor="ctr"/>
          <a:lstStyle/>
          <a:p>
            <a:pPr marL="0" indent="0">
              <a:buNone/>
            </a:pPr>
            <a:r>
              <a:rPr lang="en-US" sz="1250">
                <a:solidFill>
                  <a:srgbClr val="667085"/>
                </a:solidFill>
              </a:rPr>
              <a:t>Two complementary representations support executable proof and semantic cross-checking.</a:t>
            </a:r>
            <a:endParaRPr lang="en-US" sz="1250"/>
          </a:p>
        </p:txBody>
      </p:sp>
      <p:sp>
        <p:nvSpPr>
          <p:cNvPr id="4" name="Shape 2"/>
          <p:cNvSpPr/>
          <p:nvPr/>
        </p:nvSpPr>
        <p:spPr>
          <a:xfrm>
            <a:off x="640080" y="1417320"/>
            <a:ext cx="2743200" cy="4160520"/>
          </a:xfrm>
          <a:prstGeom prst="roundRect">
            <a:avLst>
              <a:gd name="adj" fmla="val 2667"/>
            </a:avLst>
          </a:prstGeom>
          <a:solidFill>
            <a:srgbClr val="FFFFFF"/>
          </a:solidFill>
          <a:ln w="12700">
            <a:solidFill>
              <a:srgbClr val="D5DFEA"/>
            </a:solidFill>
            <a:prstDash val="solid"/>
          </a:ln>
          <a:effectLst/>
        </p:spPr>
      </p:sp>
      <p:sp>
        <p:nvSpPr>
          <p:cNvPr id="5" name="Shape 3"/>
          <p:cNvSpPr/>
          <p:nvPr/>
        </p:nvSpPr>
        <p:spPr>
          <a:xfrm>
            <a:off x="640080" y="1417320"/>
            <a:ext cx="73152" cy="4160520"/>
          </a:xfrm>
          <a:prstGeom prst="rect">
            <a:avLst/>
          </a:prstGeom>
          <a:solidFill>
            <a:srgbClr val="4E84C4"/>
          </a:solidFill>
          <a:ln w="12700">
            <a:solidFill>
              <a:srgbClr val="4E84C4"/>
            </a:solidFill>
            <a:prstDash val="solid"/>
          </a:ln>
        </p:spPr>
      </p:sp>
      <p:sp>
        <p:nvSpPr>
          <p:cNvPr id="6" name="Text 4"/>
          <p:cNvSpPr/>
          <p:nvPr/>
        </p:nvSpPr>
        <p:spPr>
          <a:xfrm>
            <a:off x="868680" y="1581912"/>
            <a:ext cx="2359152" cy="274320"/>
          </a:xfrm>
          <a:prstGeom prst="rect">
            <a:avLst/>
          </a:prstGeom>
          <a:noFill/>
          <a:ln/>
        </p:spPr>
        <p:txBody>
          <a:bodyPr wrap="square" lIns="0" tIns="0" rIns="0" bIns="0" rtlCol="0" anchor="ctr"/>
          <a:lstStyle/>
          <a:p>
            <a:pPr marL="0" indent="0">
              <a:buNone/>
            </a:pPr>
            <a:r>
              <a:rPr lang="en-US" sz="1500" b="1">
                <a:solidFill>
                  <a:srgbClr val="111827"/>
                </a:solidFill>
              </a:rPr>
              <a:t>Canonical requirement IR</a:t>
            </a:r>
            <a:endParaRPr lang="en-US" sz="1500"/>
          </a:p>
        </p:txBody>
      </p:sp>
      <p:sp>
        <p:nvSpPr>
          <p:cNvPr id="7" name="Text 5"/>
          <p:cNvSpPr/>
          <p:nvPr/>
        </p:nvSpPr>
        <p:spPr>
          <a:xfrm>
            <a:off x="868680" y="1947672"/>
            <a:ext cx="2359152" cy="3502152"/>
          </a:xfrm>
          <a:prstGeom prst="rect">
            <a:avLst/>
          </a:prstGeom>
          <a:noFill/>
          <a:ln/>
        </p:spPr>
        <p:txBody>
          <a:bodyPr wrap="square" lIns="381" tIns="381" rIns="381" bIns="381" rtlCol="0" anchor="ctr">
            <a:normAutofit/>
          </a:bodyPr>
          <a:lstStyle/>
          <a:p>
            <a:pPr marL="0" indent="0">
              <a:buNone/>
            </a:pPr>
            <a:r>
              <a:rPr lang="en-US" sz="1150">
                <a:solidFill>
                  <a:srgbClr val="667085"/>
                </a:solidFill>
              </a:rPr>
              <a:t>Actor</a:t>
            </a:r>
            <a:endParaRPr lang="en-US" sz="1150"/>
          </a:p>
          <a:p>
            <a:pPr marL="0" indent="0">
              <a:buNone/>
            </a:pPr>
            <a:r>
              <a:rPr lang="en-US" sz="1150">
                <a:solidFill>
                  <a:srgbClr val="667085"/>
                </a:solidFill>
              </a:rPr>
              <a:t>Trigger / guard</a:t>
            </a:r>
            <a:endParaRPr lang="en-US" sz="1150"/>
          </a:p>
          <a:p>
            <a:pPr marL="0" indent="0">
              <a:buNone/>
            </a:pPr>
            <a:r>
              <a:rPr lang="en-US" sz="1150">
                <a:solidFill>
                  <a:srgbClr val="667085"/>
                </a:solidFill>
              </a:rPr>
              <a:t>Action / effect</a:t>
            </a:r>
            <a:endParaRPr lang="en-US" sz="1150"/>
          </a:p>
          <a:p>
            <a:pPr marL="0" indent="0">
              <a:buNone/>
            </a:pPr>
            <a:r>
              <a:rPr lang="en-US" sz="1150">
                <a:solidFill>
                  <a:srgbClr val="667085"/>
                </a:solidFill>
              </a:rPr>
              <a:t>Object</a:t>
            </a:r>
            <a:endParaRPr lang="en-US" sz="1150"/>
          </a:p>
          <a:p>
            <a:pPr marL="0" indent="0">
              <a:buNone/>
            </a:pPr>
            <a:r>
              <a:rPr lang="en-US" sz="1150">
                <a:solidFill>
                  <a:srgbClr val="667085"/>
                </a:solidFill>
              </a:rPr>
              <a:t>Modality</a:t>
            </a:r>
            <a:endParaRPr lang="en-US" sz="1150"/>
          </a:p>
          <a:p>
            <a:pPr marL="0" indent="0">
              <a:buNone/>
            </a:pPr>
            <a:r>
              <a:rPr lang="en-US" sz="1150">
                <a:solidFill>
                  <a:srgbClr val="667085"/>
                </a:solidFill>
              </a:rPr>
              <a:t>Bounds and units</a:t>
            </a:r>
            <a:endParaRPr lang="en-US" sz="1150"/>
          </a:p>
          <a:p>
            <a:pPr marL="0" indent="0">
              <a:buNone/>
            </a:pPr>
            <a:r>
              <a:rPr lang="en-US" sz="1150">
                <a:solidFill>
                  <a:srgbClr val="667085"/>
                </a:solidFill>
              </a:rPr>
              <a:t>Exceptions</a:t>
            </a:r>
            <a:endParaRPr lang="en-US" sz="1150"/>
          </a:p>
          <a:p>
            <a:pPr marL="0" indent="0">
              <a:buNone/>
            </a:pPr>
            <a:r>
              <a:rPr lang="en-US" sz="1150">
                <a:solidFill>
                  <a:srgbClr val="667085"/>
                </a:solidFill>
              </a:rPr>
              <a:t>Source evidence</a:t>
            </a:r>
            <a:endParaRPr lang="en-US" sz="1150"/>
          </a:p>
        </p:txBody>
      </p:sp>
      <p:sp>
        <p:nvSpPr>
          <p:cNvPr id="8" name="Shape 6"/>
          <p:cNvSpPr/>
          <p:nvPr/>
        </p:nvSpPr>
        <p:spPr>
          <a:xfrm flipV="1">
            <a:off x="3474720" y="2514600"/>
            <a:ext cx="777240" cy="868680"/>
          </a:xfrm>
          <a:prstGeom prst="line">
            <a:avLst/>
          </a:prstGeom>
          <a:noFill/>
          <a:ln w="25400">
            <a:solidFill>
              <a:srgbClr val="4E84C4"/>
            </a:solidFill>
            <a:prstDash val="solid"/>
            <a:headEnd type="none"/>
            <a:tailEnd type="triangle"/>
          </a:ln>
        </p:spPr>
      </p:sp>
      <p:sp>
        <p:nvSpPr>
          <p:cNvPr id="9" name="Shape 7"/>
          <p:cNvSpPr/>
          <p:nvPr/>
        </p:nvSpPr>
        <p:spPr>
          <a:xfrm>
            <a:off x="3474720" y="3383280"/>
            <a:ext cx="777240" cy="914400"/>
          </a:xfrm>
          <a:prstGeom prst="line">
            <a:avLst/>
          </a:prstGeom>
          <a:noFill/>
          <a:ln w="25400">
            <a:solidFill>
              <a:srgbClr val="4E84C4"/>
            </a:solidFill>
            <a:prstDash val="solid"/>
            <a:headEnd type="none"/>
            <a:tailEnd type="triangle"/>
          </a:ln>
        </p:spPr>
      </p:sp>
      <p:sp>
        <p:nvSpPr>
          <p:cNvPr id="10" name="Shape 8"/>
          <p:cNvSpPr/>
          <p:nvPr/>
        </p:nvSpPr>
        <p:spPr>
          <a:xfrm>
            <a:off x="4343400" y="1325880"/>
            <a:ext cx="2971800" cy="2011680"/>
          </a:xfrm>
          <a:prstGeom prst="roundRect">
            <a:avLst>
              <a:gd name="adj" fmla="val 3636"/>
            </a:avLst>
          </a:prstGeom>
          <a:solidFill>
            <a:srgbClr val="FFFFFF"/>
          </a:solidFill>
          <a:ln w="12700">
            <a:solidFill>
              <a:srgbClr val="D5DFEA"/>
            </a:solidFill>
            <a:prstDash val="solid"/>
          </a:ln>
          <a:effectLst/>
        </p:spPr>
      </p:sp>
      <p:sp>
        <p:nvSpPr>
          <p:cNvPr id="11" name="Shape 9"/>
          <p:cNvSpPr/>
          <p:nvPr/>
        </p:nvSpPr>
        <p:spPr>
          <a:xfrm>
            <a:off x="4343400" y="1325880"/>
            <a:ext cx="73152" cy="2011680"/>
          </a:xfrm>
          <a:prstGeom prst="rect">
            <a:avLst/>
          </a:prstGeom>
          <a:solidFill>
            <a:srgbClr val="FBB034"/>
          </a:solidFill>
          <a:ln w="12700">
            <a:solidFill>
              <a:srgbClr val="FBB034"/>
            </a:solidFill>
            <a:prstDash val="solid"/>
          </a:ln>
        </p:spPr>
      </p:sp>
      <p:sp>
        <p:nvSpPr>
          <p:cNvPr id="12" name="Text 10"/>
          <p:cNvSpPr/>
          <p:nvPr/>
        </p:nvSpPr>
        <p:spPr>
          <a:xfrm>
            <a:off x="4572000" y="1490472"/>
            <a:ext cx="2587752" cy="274320"/>
          </a:xfrm>
          <a:prstGeom prst="rect">
            <a:avLst/>
          </a:prstGeom>
          <a:noFill/>
          <a:ln/>
        </p:spPr>
        <p:txBody>
          <a:bodyPr wrap="square" lIns="0" tIns="0" rIns="0" bIns="0" rtlCol="0" anchor="ctr"/>
          <a:lstStyle/>
          <a:p>
            <a:pPr marL="0" indent="0">
              <a:buNone/>
            </a:pPr>
            <a:r>
              <a:rPr lang="en-US" sz="1500" b="1">
                <a:solidFill>
                  <a:srgbClr val="111827"/>
                </a:solidFill>
              </a:rPr>
              <a:t>Lean representation</a:t>
            </a:r>
            <a:endParaRPr lang="en-US" sz="1500"/>
          </a:p>
        </p:txBody>
      </p:sp>
      <p:sp>
        <p:nvSpPr>
          <p:cNvPr id="13" name="Text 11"/>
          <p:cNvSpPr/>
          <p:nvPr/>
        </p:nvSpPr>
        <p:spPr>
          <a:xfrm>
            <a:off x="4572000" y="1856232"/>
            <a:ext cx="2587752" cy="1353312"/>
          </a:xfrm>
          <a:prstGeom prst="rect">
            <a:avLst/>
          </a:prstGeom>
          <a:noFill/>
          <a:ln/>
        </p:spPr>
        <p:txBody>
          <a:bodyPr wrap="square" lIns="381" tIns="381" rIns="381" bIns="381" rtlCol="0" anchor="ctr">
            <a:normAutofit/>
          </a:bodyPr>
          <a:lstStyle/>
          <a:p>
            <a:pPr marL="0" indent="0">
              <a:buNone/>
            </a:pPr>
            <a:r>
              <a:rPr lang="en-US" sz="1150">
                <a:solidFill>
                  <a:srgbClr val="667085"/>
                </a:solidFill>
              </a:rPr>
              <a:t>Typed predicates, states, transitions and fixed proof obligations.</a:t>
            </a:r>
            <a:endParaRPr lang="en-US" sz="1150"/>
          </a:p>
          <a:p>
            <a:pPr marL="0" indent="0">
              <a:buNone/>
            </a:pPr>
            <a:endParaRPr lang="en-US" sz="1150"/>
          </a:p>
          <a:p>
            <a:pPr marL="0" indent="0">
              <a:buNone/>
            </a:pPr>
            <a:r>
              <a:rPr lang="en-US" sz="1150">
                <a:solidFill>
                  <a:srgbClr val="667085"/>
                </a:solidFill>
              </a:rPr>
              <a:t>Lean checks whether the proof term is valid.</a:t>
            </a:r>
            <a:endParaRPr lang="en-US" sz="1150"/>
          </a:p>
        </p:txBody>
      </p:sp>
      <p:sp>
        <p:nvSpPr>
          <p:cNvPr id="14" name="Shape 12"/>
          <p:cNvSpPr/>
          <p:nvPr/>
        </p:nvSpPr>
        <p:spPr>
          <a:xfrm>
            <a:off x="4343400" y="3657600"/>
            <a:ext cx="2971800" cy="2011680"/>
          </a:xfrm>
          <a:prstGeom prst="roundRect">
            <a:avLst>
              <a:gd name="adj" fmla="val 3636"/>
            </a:avLst>
          </a:prstGeom>
          <a:solidFill>
            <a:srgbClr val="FFFFFF"/>
          </a:solidFill>
          <a:ln w="12700">
            <a:solidFill>
              <a:srgbClr val="D5DFEA"/>
            </a:solidFill>
            <a:prstDash val="solid"/>
          </a:ln>
          <a:effectLst/>
        </p:spPr>
      </p:sp>
      <p:sp>
        <p:nvSpPr>
          <p:cNvPr id="15" name="Shape 13"/>
          <p:cNvSpPr/>
          <p:nvPr/>
        </p:nvSpPr>
        <p:spPr>
          <a:xfrm>
            <a:off x="4343400" y="3657600"/>
            <a:ext cx="73152" cy="2011680"/>
          </a:xfrm>
          <a:prstGeom prst="rect">
            <a:avLst/>
          </a:prstGeom>
          <a:solidFill>
            <a:srgbClr val="4E84C4"/>
          </a:solidFill>
          <a:ln w="12700">
            <a:solidFill>
              <a:srgbClr val="4E84C4"/>
            </a:solidFill>
            <a:prstDash val="solid"/>
          </a:ln>
        </p:spPr>
      </p:sp>
      <p:sp>
        <p:nvSpPr>
          <p:cNvPr id="16" name="Text 14"/>
          <p:cNvSpPr/>
          <p:nvPr/>
        </p:nvSpPr>
        <p:spPr>
          <a:xfrm>
            <a:off x="4572000" y="3822192"/>
            <a:ext cx="2587752" cy="274320"/>
          </a:xfrm>
          <a:prstGeom prst="rect">
            <a:avLst/>
          </a:prstGeom>
          <a:noFill/>
          <a:ln/>
        </p:spPr>
        <p:txBody>
          <a:bodyPr wrap="square" lIns="0" tIns="0" rIns="0" bIns="0" rtlCol="0" anchor="ctr"/>
          <a:lstStyle/>
          <a:p>
            <a:pPr marL="0" indent="0">
              <a:buNone/>
            </a:pPr>
            <a:r>
              <a:rPr lang="en-US" sz="1500" b="1">
                <a:solidFill>
                  <a:srgbClr val="111827"/>
                </a:solidFill>
              </a:rPr>
              <a:t>FOL representation</a:t>
            </a:r>
            <a:endParaRPr lang="en-US" sz="1500"/>
          </a:p>
        </p:txBody>
      </p:sp>
      <p:sp>
        <p:nvSpPr>
          <p:cNvPr id="17" name="Text 15"/>
          <p:cNvSpPr/>
          <p:nvPr/>
        </p:nvSpPr>
        <p:spPr>
          <a:xfrm>
            <a:off x="4572000" y="4187952"/>
            <a:ext cx="2587752" cy="1353312"/>
          </a:xfrm>
          <a:prstGeom prst="rect">
            <a:avLst/>
          </a:prstGeom>
          <a:noFill/>
          <a:ln/>
        </p:spPr>
        <p:txBody>
          <a:bodyPr wrap="square" lIns="381" tIns="381" rIns="381" bIns="381" rtlCol="0" anchor="ctr">
            <a:normAutofit/>
          </a:bodyPr>
          <a:lstStyle/>
          <a:p>
            <a:pPr marL="0" indent="0">
              <a:buNone/>
            </a:pPr>
            <a:r>
              <a:rPr lang="en-US" sz="1150">
                <a:solidFill>
                  <a:srgbClr val="667085"/>
                </a:solidFill>
              </a:rPr>
              <a:t>Predicates, quantifiers and logical constraints.</a:t>
            </a:r>
            <a:endParaRPr lang="en-US" sz="1150"/>
          </a:p>
          <a:p>
            <a:pPr marL="0" indent="0">
              <a:buNone/>
            </a:pPr>
            <a:endParaRPr lang="en-US" sz="1150"/>
          </a:p>
          <a:p>
            <a:pPr marL="0" indent="0">
              <a:buNone/>
            </a:pPr>
            <a:r>
              <a:rPr lang="en-US" sz="1150">
                <a:solidFill>
                  <a:srgbClr val="667085"/>
                </a:solidFill>
              </a:rPr>
              <a:t>FOL supports satisfiability and semantic comparison.</a:t>
            </a:r>
            <a:endParaRPr lang="en-US" sz="1150"/>
          </a:p>
        </p:txBody>
      </p:sp>
      <p:sp>
        <p:nvSpPr>
          <p:cNvPr id="18" name="Shape 16"/>
          <p:cNvSpPr/>
          <p:nvPr/>
        </p:nvSpPr>
        <p:spPr>
          <a:xfrm>
            <a:off x="7452360" y="2331720"/>
            <a:ext cx="777240" cy="640080"/>
          </a:xfrm>
          <a:prstGeom prst="line">
            <a:avLst/>
          </a:prstGeom>
          <a:noFill/>
          <a:ln w="25400">
            <a:solidFill>
              <a:srgbClr val="4E84C4"/>
            </a:solidFill>
            <a:prstDash val="solid"/>
            <a:headEnd type="none"/>
            <a:tailEnd type="triangle"/>
          </a:ln>
        </p:spPr>
      </p:sp>
      <p:sp>
        <p:nvSpPr>
          <p:cNvPr id="19" name="Shape 17"/>
          <p:cNvSpPr/>
          <p:nvPr/>
        </p:nvSpPr>
        <p:spPr>
          <a:xfrm flipV="1">
            <a:off x="7452360" y="3977640"/>
            <a:ext cx="777240" cy="640080"/>
          </a:xfrm>
          <a:prstGeom prst="line">
            <a:avLst/>
          </a:prstGeom>
          <a:noFill/>
          <a:ln w="25400">
            <a:solidFill>
              <a:srgbClr val="4E84C4"/>
            </a:solidFill>
            <a:prstDash val="solid"/>
            <a:headEnd type="none"/>
            <a:tailEnd type="triangle"/>
          </a:ln>
        </p:spPr>
      </p:sp>
      <p:sp>
        <p:nvSpPr>
          <p:cNvPr id="20" name="Shape 18"/>
          <p:cNvSpPr/>
          <p:nvPr/>
        </p:nvSpPr>
        <p:spPr>
          <a:xfrm>
            <a:off x="8321040" y="1965960"/>
            <a:ext cx="3154680" cy="3108960"/>
          </a:xfrm>
          <a:prstGeom prst="roundRect">
            <a:avLst>
              <a:gd name="adj" fmla="val 2353"/>
            </a:avLst>
          </a:prstGeom>
          <a:solidFill>
            <a:srgbClr val="FFFFFF"/>
          </a:solidFill>
          <a:ln w="12700">
            <a:solidFill>
              <a:srgbClr val="D5DFEA"/>
            </a:solidFill>
            <a:prstDash val="solid"/>
          </a:ln>
          <a:effectLst/>
        </p:spPr>
      </p:sp>
      <p:sp>
        <p:nvSpPr>
          <p:cNvPr id="21" name="Shape 19"/>
          <p:cNvSpPr/>
          <p:nvPr/>
        </p:nvSpPr>
        <p:spPr>
          <a:xfrm>
            <a:off x="8321040" y="1965960"/>
            <a:ext cx="73152" cy="3108960"/>
          </a:xfrm>
          <a:prstGeom prst="rect">
            <a:avLst/>
          </a:prstGeom>
          <a:solidFill>
            <a:srgbClr val="18864B"/>
          </a:solidFill>
          <a:ln w="12700">
            <a:solidFill>
              <a:srgbClr val="18864B"/>
            </a:solidFill>
            <a:prstDash val="solid"/>
          </a:ln>
        </p:spPr>
      </p:sp>
      <p:sp>
        <p:nvSpPr>
          <p:cNvPr id="22" name="Text 20"/>
          <p:cNvSpPr/>
          <p:nvPr/>
        </p:nvSpPr>
        <p:spPr>
          <a:xfrm>
            <a:off x="8549640" y="2130552"/>
            <a:ext cx="2770632" cy="274320"/>
          </a:xfrm>
          <a:prstGeom prst="rect">
            <a:avLst/>
          </a:prstGeom>
          <a:noFill/>
          <a:ln/>
        </p:spPr>
        <p:txBody>
          <a:bodyPr wrap="square" lIns="0" tIns="0" rIns="0" bIns="0" rtlCol="0" anchor="ctr"/>
          <a:lstStyle/>
          <a:p>
            <a:pPr marL="0" indent="0">
              <a:buNone/>
            </a:pPr>
            <a:r>
              <a:rPr lang="en-US" sz="1500" b="1">
                <a:solidFill>
                  <a:srgbClr val="111827"/>
                </a:solidFill>
              </a:rPr>
              <a:t>Unified finding</a:t>
            </a:r>
            <a:endParaRPr lang="en-US" sz="1500"/>
          </a:p>
        </p:txBody>
      </p:sp>
      <p:sp>
        <p:nvSpPr>
          <p:cNvPr id="23" name="Text 21"/>
          <p:cNvSpPr/>
          <p:nvPr/>
        </p:nvSpPr>
        <p:spPr>
          <a:xfrm>
            <a:off x="8549640" y="2496312"/>
            <a:ext cx="2770632" cy="2450592"/>
          </a:xfrm>
          <a:prstGeom prst="rect">
            <a:avLst/>
          </a:prstGeom>
          <a:noFill/>
          <a:ln/>
        </p:spPr>
        <p:txBody>
          <a:bodyPr wrap="square" lIns="381" tIns="381" rIns="381" bIns="381" rtlCol="0" anchor="ctr">
            <a:normAutofit/>
          </a:bodyPr>
          <a:lstStyle/>
          <a:p>
            <a:pPr marL="0" indent="0">
              <a:buNone/>
            </a:pPr>
            <a:r>
              <a:rPr lang="en-US" sz="1150">
                <a:solidFill>
                  <a:srgbClr val="667085"/>
                </a:solidFill>
              </a:rPr>
              <a:t>Conflict type</a:t>
            </a:r>
            <a:endParaRPr lang="en-US" sz="1150"/>
          </a:p>
          <a:p>
            <a:pPr marL="0" indent="0">
              <a:buNone/>
            </a:pPr>
            <a:r>
              <a:rPr lang="en-US" sz="1150">
                <a:solidFill>
                  <a:srgbClr val="667085"/>
                </a:solidFill>
              </a:rPr>
              <a:t>Requirement IDs</a:t>
            </a:r>
            <a:endParaRPr lang="en-US" sz="1150"/>
          </a:p>
          <a:p>
            <a:pPr marL="0" indent="0">
              <a:buNone/>
            </a:pPr>
            <a:r>
              <a:rPr lang="en-US" sz="1150">
                <a:solidFill>
                  <a:srgbClr val="667085"/>
                </a:solidFill>
              </a:rPr>
              <a:t>Witness or counterexample</a:t>
            </a:r>
            <a:endParaRPr lang="en-US" sz="1150"/>
          </a:p>
          <a:p>
            <a:pPr marL="0" indent="0">
              <a:buNone/>
            </a:pPr>
            <a:r>
              <a:rPr lang="en-US" sz="1150">
                <a:solidFill>
                  <a:srgbClr val="667085"/>
                </a:solidFill>
              </a:rPr>
              <a:t>Proof / solver status</a:t>
            </a:r>
            <a:endParaRPr lang="en-US" sz="1150"/>
          </a:p>
          <a:p>
            <a:pPr marL="0" indent="0">
              <a:buNone/>
            </a:pPr>
            <a:r>
              <a:rPr lang="en-US" sz="1150">
                <a:solidFill>
                  <a:srgbClr val="667085"/>
                </a:solidFill>
              </a:rPr>
              <a:t>Explanation for reviewer</a:t>
            </a:r>
            <a:endParaRPr lang="en-US" sz="1150"/>
          </a:p>
        </p:txBody>
      </p:sp>
      <p:sp>
        <p:nvSpPr>
          <p:cNvPr id="25" name="Slide Number Placeholder 0"/>
          <p:cNvSpPr>
            <a:spLocks noGrp="1"/>
          </p:cNvSpPr>
          <p:nvPr>
            <p:ph type="sldNum" sz="quarter" idx="4294967295"/>
          </p:nvPr>
        </p:nvSpPr>
        <p:spPr>
          <a:xfrm>
            <a:off x="10652760" y="6510528"/>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77777"/>
                </a:solidFill>
              </a:defRPr>
            </a:lvl1pPr>
          </a:lstStyle>
          <a:p>
            <a:pPr algn="ct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name="Slide 10">
    <p:spTree>
      <p:nvGrpSpPr>
        <p:cNvPr id="1" name=""/>
        <p:cNvGrpSpPr/>
        <p:nvPr/>
      </p:nvGrpSpPr>
      <p:grpSpPr>
        <a:xfrm>
          <a:off x="0" y="0"/>
          <a:ext cx="1" cy="1"/>
          <a:chOff x="0" y="0"/>
          <a:chExt cx="1" cy="1"/>
        </a:xfrm>
      </p:grpSpPr>
      <p:sp>
        <p:nvSpPr>
          <p:cNvPr id="2" name="Text 0"/>
          <p:cNvSpPr/>
          <p:nvPr/>
        </p:nvSpPr>
        <p:spPr>
          <a:xfrm>
            <a:off x="475488" y="320040"/>
            <a:ext cx="11064240" cy="502920"/>
          </a:xfrm>
          <a:prstGeom prst="rect">
            <a:avLst/>
          </a:prstGeom>
          <a:noFill/>
          <a:ln/>
        </p:spPr>
        <p:txBody>
          <a:bodyPr wrap="square" lIns="0" tIns="0" rIns="0" bIns="0" rtlCol="0" anchor="ctr"/>
          <a:lstStyle/>
          <a:p>
            <a:pPr marL="0" indent="0">
              <a:buNone/>
            </a:pPr>
            <a:r>
              <a:rPr lang="en-US" sz="2600" b="1">
                <a:solidFill>
                  <a:srgbClr val="111827"/>
                </a:solidFill>
                <a:latin typeface="Calibri Light" pitchFamily="34" charset="0"/>
                <a:ea typeface="Calibri Light" pitchFamily="34" charset="-122"/>
                <a:cs typeface="Calibri Light" pitchFamily="34" charset="-120"/>
              </a:rPr>
              <a:t>Step 3: fixed verification templates</a:t>
            </a:r>
            <a:endParaRPr lang="en-US" sz="2600"/>
          </a:p>
        </p:txBody>
      </p:sp>
      <p:sp>
        <p:nvSpPr>
          <p:cNvPr id="3" name="Text 1"/>
          <p:cNvSpPr/>
          <p:nvPr/>
        </p:nvSpPr>
        <p:spPr>
          <a:xfrm>
            <a:off x="493776" y="859536"/>
            <a:ext cx="10881360" cy="320040"/>
          </a:xfrm>
          <a:prstGeom prst="rect">
            <a:avLst/>
          </a:prstGeom>
          <a:noFill/>
          <a:ln/>
        </p:spPr>
        <p:txBody>
          <a:bodyPr wrap="square" lIns="0" tIns="0" rIns="0" bIns="0" rtlCol="0" anchor="ctr"/>
          <a:lstStyle/>
          <a:p>
            <a:pPr marL="0" indent="0">
              <a:buNone/>
            </a:pPr>
            <a:r>
              <a:rPr lang="en-US" sz="1250">
                <a:solidFill>
                  <a:srgbClr val="667085"/>
                </a:solidFill>
              </a:rPr>
              <a:t>The LLM selects a theorem type and fills premises. The proof structure stays controlled.</a:t>
            </a:r>
            <a:endParaRPr lang="en-US" sz="1250"/>
          </a:p>
        </p:txBody>
      </p:sp>
      <p:sp>
        <p:nvSpPr>
          <p:cNvPr id="4" name="Shape 2"/>
          <p:cNvSpPr/>
          <p:nvPr/>
        </p:nvSpPr>
        <p:spPr>
          <a:xfrm>
            <a:off x="502920" y="1444752"/>
            <a:ext cx="2084832" cy="3611880"/>
          </a:xfrm>
          <a:prstGeom prst="roundRect">
            <a:avLst>
              <a:gd name="adj" fmla="val 3509"/>
            </a:avLst>
          </a:prstGeom>
          <a:solidFill>
            <a:srgbClr val="FFFFFF"/>
          </a:solidFill>
          <a:ln w="12700">
            <a:solidFill>
              <a:srgbClr val="D5DFEA"/>
            </a:solidFill>
            <a:prstDash val="solid"/>
          </a:ln>
          <a:effectLst/>
        </p:spPr>
      </p:sp>
      <p:sp>
        <p:nvSpPr>
          <p:cNvPr id="5" name="Shape 3"/>
          <p:cNvSpPr/>
          <p:nvPr/>
        </p:nvSpPr>
        <p:spPr>
          <a:xfrm>
            <a:off x="502920" y="1444752"/>
            <a:ext cx="73152" cy="3611880"/>
          </a:xfrm>
          <a:prstGeom prst="rect">
            <a:avLst/>
          </a:prstGeom>
          <a:solidFill>
            <a:srgbClr val="FBB034"/>
          </a:solidFill>
          <a:ln w="12700">
            <a:solidFill>
              <a:srgbClr val="FBB034"/>
            </a:solidFill>
            <a:prstDash val="solid"/>
          </a:ln>
        </p:spPr>
      </p:sp>
      <p:sp>
        <p:nvSpPr>
          <p:cNvPr id="6" name="Text 4"/>
          <p:cNvSpPr/>
          <p:nvPr/>
        </p:nvSpPr>
        <p:spPr>
          <a:xfrm>
            <a:off x="731520" y="1609344"/>
            <a:ext cx="1700784" cy="274320"/>
          </a:xfrm>
          <a:prstGeom prst="rect">
            <a:avLst/>
          </a:prstGeom>
          <a:noFill/>
          <a:ln/>
        </p:spPr>
        <p:txBody>
          <a:bodyPr wrap="square" lIns="0" tIns="0" rIns="0" bIns="0" rtlCol="0" anchor="ctr"/>
          <a:lstStyle/>
          <a:p>
            <a:pPr marL="0" indent="0">
              <a:buNone/>
            </a:pPr>
            <a:r>
              <a:rPr lang="en-US" sz="1500" b="1">
                <a:solidFill>
                  <a:srgbClr val="111827"/>
                </a:solidFill>
              </a:rPr>
              <a:t>Consistency</a:t>
            </a:r>
            <a:endParaRPr lang="en-US" sz="1500"/>
          </a:p>
        </p:txBody>
      </p:sp>
      <p:sp>
        <p:nvSpPr>
          <p:cNvPr id="7" name="Text 5"/>
          <p:cNvSpPr/>
          <p:nvPr/>
        </p:nvSpPr>
        <p:spPr>
          <a:xfrm>
            <a:off x="731520" y="1975104"/>
            <a:ext cx="1700784" cy="2953512"/>
          </a:xfrm>
          <a:prstGeom prst="rect">
            <a:avLst/>
          </a:prstGeom>
          <a:noFill/>
          <a:ln/>
        </p:spPr>
        <p:txBody>
          <a:bodyPr wrap="square" lIns="381" tIns="381" rIns="381" bIns="381" rtlCol="0" anchor="ctr">
            <a:normAutofit/>
          </a:bodyPr>
          <a:lstStyle/>
          <a:p>
            <a:pPr marL="0" indent="0">
              <a:buNone/>
            </a:pPr>
            <a:r>
              <a:rPr lang="en-US" sz="1150">
                <a:solidFill>
                  <a:srgbClr val="667085"/>
                </a:solidFill>
              </a:rPr>
              <a:t>Pairwise conflict</a:t>
            </a:r>
            <a:endParaRPr lang="en-US" sz="1150"/>
          </a:p>
          <a:p>
            <a:pPr marL="0" indent="0">
              <a:buNone/>
            </a:pPr>
            <a:r>
              <a:rPr lang="en-US" sz="1150">
                <a:solidFill>
                  <a:srgbClr val="667085"/>
                </a:solidFill>
              </a:rPr>
              <a:t>Global satisfiability</a:t>
            </a:r>
            <a:endParaRPr lang="en-US" sz="1150"/>
          </a:p>
          <a:p>
            <a:pPr marL="0" indent="0">
              <a:buNone/>
            </a:pPr>
            <a:r>
              <a:rPr lang="en-US" sz="1150">
                <a:solidFill>
                  <a:srgbClr val="667085"/>
                </a:solidFill>
              </a:rPr>
              <a:t>Minimal unsat core</a:t>
            </a:r>
            <a:endParaRPr lang="en-US" sz="1150"/>
          </a:p>
        </p:txBody>
      </p:sp>
      <p:sp>
        <p:nvSpPr>
          <p:cNvPr id="8" name="Shape 6"/>
          <p:cNvSpPr/>
          <p:nvPr/>
        </p:nvSpPr>
        <p:spPr>
          <a:xfrm>
            <a:off x="2816352" y="1444752"/>
            <a:ext cx="2084832" cy="3611880"/>
          </a:xfrm>
          <a:prstGeom prst="roundRect">
            <a:avLst>
              <a:gd name="adj" fmla="val 3509"/>
            </a:avLst>
          </a:prstGeom>
          <a:solidFill>
            <a:srgbClr val="FFFFFF"/>
          </a:solidFill>
          <a:ln w="12700">
            <a:solidFill>
              <a:srgbClr val="D5DFEA"/>
            </a:solidFill>
            <a:prstDash val="solid"/>
          </a:ln>
          <a:effectLst/>
        </p:spPr>
      </p:sp>
      <p:sp>
        <p:nvSpPr>
          <p:cNvPr id="9" name="Shape 7"/>
          <p:cNvSpPr/>
          <p:nvPr/>
        </p:nvSpPr>
        <p:spPr>
          <a:xfrm>
            <a:off x="2816352" y="1444752"/>
            <a:ext cx="73152" cy="3611880"/>
          </a:xfrm>
          <a:prstGeom prst="rect">
            <a:avLst/>
          </a:prstGeom>
          <a:solidFill>
            <a:srgbClr val="4E84C4"/>
          </a:solidFill>
          <a:ln w="12700">
            <a:solidFill>
              <a:srgbClr val="4E84C4"/>
            </a:solidFill>
            <a:prstDash val="solid"/>
          </a:ln>
        </p:spPr>
      </p:sp>
      <p:sp>
        <p:nvSpPr>
          <p:cNvPr id="10" name="Text 8"/>
          <p:cNvSpPr/>
          <p:nvPr/>
        </p:nvSpPr>
        <p:spPr>
          <a:xfrm>
            <a:off x="3044952" y="1609344"/>
            <a:ext cx="1700784" cy="274320"/>
          </a:xfrm>
          <a:prstGeom prst="rect">
            <a:avLst/>
          </a:prstGeom>
          <a:noFill/>
          <a:ln/>
        </p:spPr>
        <p:txBody>
          <a:bodyPr wrap="square" lIns="0" tIns="0" rIns="0" bIns="0" rtlCol="0" anchor="ctr"/>
          <a:lstStyle/>
          <a:p>
            <a:pPr marL="0" indent="0">
              <a:buNone/>
            </a:pPr>
            <a:r>
              <a:rPr lang="en-US" sz="1500" b="1">
                <a:solidFill>
                  <a:srgbClr val="111827"/>
                </a:solidFill>
              </a:rPr>
              <a:t>Rule quality</a:t>
            </a:r>
            <a:endParaRPr lang="en-US" sz="1500"/>
          </a:p>
        </p:txBody>
      </p:sp>
      <p:sp>
        <p:nvSpPr>
          <p:cNvPr id="11" name="Text 9"/>
          <p:cNvSpPr/>
          <p:nvPr/>
        </p:nvSpPr>
        <p:spPr>
          <a:xfrm>
            <a:off x="3044952" y="1975104"/>
            <a:ext cx="1700784" cy="2953512"/>
          </a:xfrm>
          <a:prstGeom prst="rect">
            <a:avLst/>
          </a:prstGeom>
          <a:noFill/>
          <a:ln/>
        </p:spPr>
        <p:txBody>
          <a:bodyPr wrap="square" lIns="381" tIns="381" rIns="381" bIns="381" rtlCol="0" anchor="ctr">
            <a:normAutofit/>
          </a:bodyPr>
          <a:lstStyle/>
          <a:p>
            <a:pPr marL="0" indent="0">
              <a:buNone/>
            </a:pPr>
            <a:r>
              <a:rPr lang="en-US" sz="1150">
                <a:solidFill>
                  <a:srgbClr val="667085"/>
                </a:solidFill>
              </a:rPr>
              <a:t>Vacuity</a:t>
            </a:r>
            <a:endParaRPr lang="en-US" sz="1150"/>
          </a:p>
          <a:p>
            <a:pPr marL="0" indent="0">
              <a:buNone/>
            </a:pPr>
            <a:r>
              <a:rPr lang="en-US" sz="1150">
                <a:solidFill>
                  <a:srgbClr val="667085"/>
                </a:solidFill>
              </a:rPr>
              <a:t>Determinism</a:t>
            </a:r>
            <a:endParaRPr lang="en-US" sz="1150"/>
          </a:p>
          <a:p>
            <a:pPr marL="0" indent="0">
              <a:buNone/>
            </a:pPr>
            <a:r>
              <a:rPr lang="en-US" sz="1150">
                <a:solidFill>
                  <a:srgbClr val="667085"/>
                </a:solidFill>
              </a:rPr>
              <a:t>Redundancy</a:t>
            </a:r>
            <a:endParaRPr lang="en-US" sz="1150"/>
          </a:p>
        </p:txBody>
      </p:sp>
      <p:sp>
        <p:nvSpPr>
          <p:cNvPr id="12" name="Shape 10"/>
          <p:cNvSpPr/>
          <p:nvPr/>
        </p:nvSpPr>
        <p:spPr>
          <a:xfrm>
            <a:off x="5129784" y="1444752"/>
            <a:ext cx="2084832" cy="3611880"/>
          </a:xfrm>
          <a:prstGeom prst="roundRect">
            <a:avLst>
              <a:gd name="adj" fmla="val 3509"/>
            </a:avLst>
          </a:prstGeom>
          <a:solidFill>
            <a:srgbClr val="FFFFFF"/>
          </a:solidFill>
          <a:ln w="12700">
            <a:solidFill>
              <a:srgbClr val="D5DFEA"/>
            </a:solidFill>
            <a:prstDash val="solid"/>
          </a:ln>
          <a:effectLst/>
        </p:spPr>
      </p:sp>
      <p:sp>
        <p:nvSpPr>
          <p:cNvPr id="13" name="Shape 11"/>
          <p:cNvSpPr/>
          <p:nvPr/>
        </p:nvSpPr>
        <p:spPr>
          <a:xfrm>
            <a:off x="5129784" y="1444752"/>
            <a:ext cx="73152" cy="3611880"/>
          </a:xfrm>
          <a:prstGeom prst="rect">
            <a:avLst/>
          </a:prstGeom>
          <a:solidFill>
            <a:srgbClr val="4E84C4"/>
          </a:solidFill>
          <a:ln w="12700">
            <a:solidFill>
              <a:srgbClr val="4E84C4"/>
            </a:solidFill>
            <a:prstDash val="solid"/>
          </a:ln>
        </p:spPr>
      </p:sp>
      <p:sp>
        <p:nvSpPr>
          <p:cNvPr id="14" name="Text 12"/>
          <p:cNvSpPr/>
          <p:nvPr/>
        </p:nvSpPr>
        <p:spPr>
          <a:xfrm>
            <a:off x="5358384" y="1609344"/>
            <a:ext cx="1700784" cy="274320"/>
          </a:xfrm>
          <a:prstGeom prst="rect">
            <a:avLst/>
          </a:prstGeom>
          <a:noFill/>
          <a:ln/>
        </p:spPr>
        <p:txBody>
          <a:bodyPr wrap="square" lIns="0" tIns="0" rIns="0" bIns="0" rtlCol="0" anchor="ctr"/>
          <a:lstStyle/>
          <a:p>
            <a:pPr marL="0" indent="0">
              <a:buNone/>
            </a:pPr>
            <a:r>
              <a:rPr lang="en-US" sz="1500" b="1">
                <a:solidFill>
                  <a:srgbClr val="111827"/>
                </a:solidFill>
              </a:rPr>
              <a:t>State &amp; time</a:t>
            </a:r>
            <a:endParaRPr lang="en-US" sz="1500"/>
          </a:p>
        </p:txBody>
      </p:sp>
      <p:sp>
        <p:nvSpPr>
          <p:cNvPr id="15" name="Text 13"/>
          <p:cNvSpPr/>
          <p:nvPr/>
        </p:nvSpPr>
        <p:spPr>
          <a:xfrm>
            <a:off x="5358384" y="1975104"/>
            <a:ext cx="1700784" cy="2953512"/>
          </a:xfrm>
          <a:prstGeom prst="rect">
            <a:avLst/>
          </a:prstGeom>
          <a:noFill/>
          <a:ln/>
        </p:spPr>
        <p:txBody>
          <a:bodyPr wrap="square" lIns="381" tIns="381" rIns="381" bIns="381" rtlCol="0" anchor="ctr">
            <a:normAutofit/>
          </a:bodyPr>
          <a:lstStyle/>
          <a:p>
            <a:pPr marL="0" indent="0">
              <a:buNone/>
            </a:pPr>
            <a:r>
              <a:rPr lang="en-US" sz="1150">
                <a:solidFill>
                  <a:srgbClr val="667085"/>
                </a:solidFill>
              </a:rPr>
              <a:t>Invariant conflict</a:t>
            </a:r>
            <a:endParaRPr lang="en-US" sz="1150"/>
          </a:p>
          <a:p>
            <a:pPr marL="0" indent="0">
              <a:buNone/>
            </a:pPr>
            <a:r>
              <a:rPr lang="en-US" sz="1150">
                <a:solidFill>
                  <a:srgbClr val="667085"/>
                </a:solidFill>
              </a:rPr>
              <a:t>Deadlock</a:t>
            </a:r>
            <a:endParaRPr lang="en-US" sz="1150"/>
          </a:p>
          <a:p>
            <a:pPr marL="0" indent="0">
              <a:buNone/>
            </a:pPr>
            <a:r>
              <a:rPr lang="en-US" sz="1150">
                <a:solidFill>
                  <a:srgbClr val="667085"/>
                </a:solidFill>
              </a:rPr>
              <a:t>Cyclic sequencing</a:t>
            </a:r>
            <a:endParaRPr lang="en-US" sz="1150"/>
          </a:p>
          <a:p>
            <a:pPr marL="0" indent="0">
              <a:buNone/>
            </a:pPr>
            <a:r>
              <a:rPr lang="en-US" sz="1150">
                <a:solidFill>
                  <a:srgbClr val="667085"/>
                </a:solidFill>
              </a:rPr>
              <a:t>Recoverability</a:t>
            </a:r>
            <a:endParaRPr lang="en-US" sz="1150"/>
          </a:p>
        </p:txBody>
      </p:sp>
      <p:sp>
        <p:nvSpPr>
          <p:cNvPr id="16" name="Shape 14"/>
          <p:cNvSpPr/>
          <p:nvPr/>
        </p:nvSpPr>
        <p:spPr>
          <a:xfrm>
            <a:off x="7443216" y="1444752"/>
            <a:ext cx="2084832" cy="3611880"/>
          </a:xfrm>
          <a:prstGeom prst="roundRect">
            <a:avLst>
              <a:gd name="adj" fmla="val 3509"/>
            </a:avLst>
          </a:prstGeom>
          <a:solidFill>
            <a:srgbClr val="FFFFFF"/>
          </a:solidFill>
          <a:ln w="12700">
            <a:solidFill>
              <a:srgbClr val="D5DFEA"/>
            </a:solidFill>
            <a:prstDash val="solid"/>
          </a:ln>
          <a:effectLst/>
        </p:spPr>
      </p:sp>
      <p:sp>
        <p:nvSpPr>
          <p:cNvPr id="17" name="Shape 15"/>
          <p:cNvSpPr/>
          <p:nvPr/>
        </p:nvSpPr>
        <p:spPr>
          <a:xfrm>
            <a:off x="7443216" y="1444752"/>
            <a:ext cx="73152" cy="3611880"/>
          </a:xfrm>
          <a:prstGeom prst="rect">
            <a:avLst/>
          </a:prstGeom>
          <a:solidFill>
            <a:srgbClr val="4E84C4"/>
          </a:solidFill>
          <a:ln w="12700">
            <a:solidFill>
              <a:srgbClr val="4E84C4"/>
            </a:solidFill>
            <a:prstDash val="solid"/>
          </a:ln>
        </p:spPr>
      </p:sp>
      <p:sp>
        <p:nvSpPr>
          <p:cNvPr id="18" name="Text 16"/>
          <p:cNvSpPr/>
          <p:nvPr/>
        </p:nvSpPr>
        <p:spPr>
          <a:xfrm>
            <a:off x="7671816" y="1609344"/>
            <a:ext cx="1700784" cy="274320"/>
          </a:xfrm>
          <a:prstGeom prst="rect">
            <a:avLst/>
          </a:prstGeom>
          <a:noFill/>
          <a:ln/>
        </p:spPr>
        <p:txBody>
          <a:bodyPr wrap="square" lIns="0" tIns="0" rIns="0" bIns="0" rtlCol="0" anchor="ctr"/>
          <a:lstStyle/>
          <a:p>
            <a:pPr marL="0" indent="0">
              <a:buNone/>
            </a:pPr>
            <a:r>
              <a:rPr lang="en-US" sz="1500" b="1">
                <a:solidFill>
                  <a:srgbClr val="111827"/>
                </a:solidFill>
              </a:rPr>
              <a:t>Coverage &amp; limits</a:t>
            </a:r>
            <a:endParaRPr lang="en-US" sz="1500"/>
          </a:p>
        </p:txBody>
      </p:sp>
      <p:sp>
        <p:nvSpPr>
          <p:cNvPr id="19" name="Text 17"/>
          <p:cNvSpPr/>
          <p:nvPr/>
        </p:nvSpPr>
        <p:spPr>
          <a:xfrm>
            <a:off x="7671816" y="1975104"/>
            <a:ext cx="1700784" cy="2953512"/>
          </a:xfrm>
          <a:prstGeom prst="rect">
            <a:avLst/>
          </a:prstGeom>
          <a:noFill/>
          <a:ln/>
        </p:spPr>
        <p:txBody>
          <a:bodyPr wrap="square" lIns="381" tIns="381" rIns="381" bIns="381" rtlCol="0" anchor="ctr">
            <a:normAutofit/>
          </a:bodyPr>
          <a:lstStyle/>
          <a:p>
            <a:pPr marL="0" indent="0">
              <a:buNone/>
            </a:pPr>
            <a:r>
              <a:rPr lang="en-US" sz="1150">
                <a:solidFill>
                  <a:srgbClr val="667085"/>
                </a:solidFill>
              </a:rPr>
              <a:t>Range conflict</a:t>
            </a:r>
            <a:endParaRPr lang="en-US" sz="1150"/>
          </a:p>
          <a:p>
            <a:pPr marL="0" indent="0">
              <a:buNone/>
            </a:pPr>
            <a:r>
              <a:rPr lang="en-US" sz="1150">
                <a:solidFill>
                  <a:srgbClr val="667085"/>
                </a:solidFill>
              </a:rPr>
              <a:t>Partition gap</a:t>
            </a:r>
            <a:endParaRPr lang="en-US" sz="1150"/>
          </a:p>
          <a:p>
            <a:pPr marL="0" indent="0">
              <a:buNone/>
            </a:pPr>
            <a:r>
              <a:rPr lang="en-US" sz="1150">
                <a:solidFill>
                  <a:srgbClr val="667085"/>
                </a:solidFill>
              </a:rPr>
              <a:t>Resource overcommitment</a:t>
            </a:r>
            <a:endParaRPr lang="en-US" sz="1150"/>
          </a:p>
        </p:txBody>
      </p:sp>
      <p:sp>
        <p:nvSpPr>
          <p:cNvPr id="20" name="Shape 18"/>
          <p:cNvSpPr/>
          <p:nvPr/>
        </p:nvSpPr>
        <p:spPr>
          <a:xfrm>
            <a:off x="9756648" y="1444752"/>
            <a:ext cx="2084832" cy="3611880"/>
          </a:xfrm>
          <a:prstGeom prst="roundRect">
            <a:avLst>
              <a:gd name="adj" fmla="val 3509"/>
            </a:avLst>
          </a:prstGeom>
          <a:solidFill>
            <a:srgbClr val="FFFFFF"/>
          </a:solidFill>
          <a:ln w="12700">
            <a:solidFill>
              <a:srgbClr val="D5DFEA"/>
            </a:solidFill>
            <a:prstDash val="solid"/>
          </a:ln>
          <a:effectLst/>
        </p:spPr>
      </p:sp>
      <p:sp>
        <p:nvSpPr>
          <p:cNvPr id="21" name="Shape 19"/>
          <p:cNvSpPr/>
          <p:nvPr/>
        </p:nvSpPr>
        <p:spPr>
          <a:xfrm>
            <a:off x="9756648" y="1444752"/>
            <a:ext cx="73152" cy="3611880"/>
          </a:xfrm>
          <a:prstGeom prst="rect">
            <a:avLst/>
          </a:prstGeom>
          <a:solidFill>
            <a:srgbClr val="4E84C4"/>
          </a:solidFill>
          <a:ln w="12700">
            <a:solidFill>
              <a:srgbClr val="4E84C4"/>
            </a:solidFill>
            <a:prstDash val="solid"/>
          </a:ln>
        </p:spPr>
      </p:sp>
      <p:sp>
        <p:nvSpPr>
          <p:cNvPr id="22" name="Text 20"/>
          <p:cNvSpPr/>
          <p:nvPr/>
        </p:nvSpPr>
        <p:spPr>
          <a:xfrm>
            <a:off x="9985248" y="1609344"/>
            <a:ext cx="1700784" cy="274320"/>
          </a:xfrm>
          <a:prstGeom prst="rect">
            <a:avLst/>
          </a:prstGeom>
          <a:noFill/>
          <a:ln/>
        </p:spPr>
        <p:txBody>
          <a:bodyPr wrap="square" lIns="0" tIns="0" rIns="0" bIns="0" rtlCol="0" anchor="ctr"/>
          <a:lstStyle/>
          <a:p>
            <a:pPr marL="0" indent="0">
              <a:buNone/>
            </a:pPr>
            <a:r>
              <a:rPr lang="en-US" sz="1500" b="1">
                <a:solidFill>
                  <a:srgbClr val="111827"/>
                </a:solidFill>
              </a:rPr>
              <a:t>Behavior</a:t>
            </a:r>
            <a:endParaRPr lang="en-US" sz="1500"/>
          </a:p>
        </p:txBody>
      </p:sp>
      <p:sp>
        <p:nvSpPr>
          <p:cNvPr id="23" name="Text 21"/>
          <p:cNvSpPr/>
          <p:nvPr/>
        </p:nvSpPr>
        <p:spPr>
          <a:xfrm>
            <a:off x="9985248" y="1975104"/>
            <a:ext cx="1700784" cy="2953512"/>
          </a:xfrm>
          <a:prstGeom prst="rect">
            <a:avLst/>
          </a:prstGeom>
          <a:noFill/>
          <a:ln/>
        </p:spPr>
        <p:txBody>
          <a:bodyPr wrap="square" lIns="381" tIns="381" rIns="381" bIns="381" rtlCol="0" anchor="ctr">
            <a:normAutofit/>
          </a:bodyPr>
          <a:lstStyle/>
          <a:p>
            <a:pPr marL="0" indent="0">
              <a:buNone/>
            </a:pPr>
            <a:r>
              <a:rPr lang="en-US" sz="1150">
                <a:solidFill>
                  <a:srgbClr val="667085"/>
                </a:solidFill>
              </a:rPr>
              <a:t>Separation of duty</a:t>
            </a:r>
            <a:endParaRPr lang="en-US" sz="1150"/>
          </a:p>
          <a:p>
            <a:pPr marL="0" indent="0">
              <a:buNone/>
            </a:pPr>
            <a:r>
              <a:rPr lang="en-US" sz="1150">
                <a:solidFill>
                  <a:srgbClr val="667085"/>
                </a:solidFill>
              </a:rPr>
              <a:t>Convergence / oscillation</a:t>
            </a:r>
            <a:endParaRPr lang="en-US" sz="1150"/>
          </a:p>
        </p:txBody>
      </p:sp>
      <p:sp>
        <p:nvSpPr>
          <p:cNvPr id="24" name="Shape 22"/>
          <p:cNvSpPr/>
          <p:nvPr/>
        </p:nvSpPr>
        <p:spPr>
          <a:xfrm>
            <a:off x="502920" y="5897880"/>
            <a:ext cx="11064240" cy="411480"/>
          </a:xfrm>
          <a:prstGeom prst="roundRect">
            <a:avLst>
              <a:gd name="adj" fmla="val 26667"/>
            </a:avLst>
          </a:prstGeom>
          <a:solidFill>
            <a:srgbClr val="EEF4FA"/>
          </a:solidFill>
          <a:ln w="12700">
            <a:solidFill>
              <a:srgbClr val="D5E2EF"/>
            </a:solidFill>
            <a:prstDash val="solid"/>
          </a:ln>
        </p:spPr>
      </p:sp>
      <p:sp>
        <p:nvSpPr>
          <p:cNvPr id="25" name="Text 23"/>
          <p:cNvSpPr/>
          <p:nvPr/>
        </p:nvSpPr>
        <p:spPr>
          <a:xfrm>
            <a:off x="731520" y="5998464"/>
            <a:ext cx="10607040" cy="182880"/>
          </a:xfrm>
          <a:prstGeom prst="rect">
            <a:avLst/>
          </a:prstGeom>
          <a:noFill/>
          <a:ln/>
        </p:spPr>
        <p:txBody>
          <a:bodyPr wrap="square" lIns="0" tIns="0" rIns="0" bIns="0" rtlCol="0" anchor="ctr"/>
          <a:lstStyle/>
          <a:p>
            <a:pPr marL="0" indent="0" algn="ctr">
              <a:buNone/>
            </a:pPr>
            <a:r>
              <a:rPr lang="en-US" sz="1200" b="1">
                <a:solidFill>
                  <a:srgbClr val="4E84C4"/>
                </a:solidFill>
              </a:rPr>
              <a:t>A successful conflict proof means the instantiated premises jointly imply False.</a:t>
            </a:r>
            <a:endParaRPr lang="en-US" sz="1200"/>
          </a:p>
        </p:txBody>
      </p:sp>
      <p:sp>
        <p:nvSpPr>
          <p:cNvPr id="26" name="Slide Number Placeholder 0"/>
          <p:cNvSpPr>
            <a:spLocks noGrp="1"/>
          </p:cNvSpPr>
          <p:nvPr>
            <p:ph type="sldNum" sz="quarter" idx="4294967295"/>
          </p:nvPr>
        </p:nvSpPr>
        <p:spPr>
          <a:xfrm>
            <a:off x="10652760" y="6510528"/>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77777"/>
                </a:solidFill>
              </a:defRPr>
            </a:lvl1pPr>
          </a:lstStyle>
          <a:p>
            <a:pPr algn="ct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name="Slide 11">
    <p:spTree>
      <p:nvGrpSpPr>
        <p:cNvPr id="1" name=""/>
        <p:cNvGrpSpPr/>
        <p:nvPr/>
      </p:nvGrpSpPr>
      <p:grpSpPr>
        <a:xfrm>
          <a:off x="0" y="0"/>
          <a:ext cx="1" cy="1"/>
          <a:chOff x="0" y="0"/>
          <a:chExt cx="1" cy="1"/>
        </a:xfrm>
      </p:grpSpPr>
      <p:sp>
        <p:nvSpPr>
          <p:cNvPr id="2" name="Text 0"/>
          <p:cNvSpPr/>
          <p:nvPr/>
        </p:nvSpPr>
        <p:spPr>
          <a:xfrm>
            <a:off x="475488" y="320040"/>
            <a:ext cx="11064240" cy="502920"/>
          </a:xfrm>
          <a:prstGeom prst="rect">
            <a:avLst/>
          </a:prstGeom>
          <a:noFill/>
          <a:ln/>
        </p:spPr>
        <p:txBody>
          <a:bodyPr wrap="square" lIns="0" tIns="0" rIns="0" bIns="0" rtlCol="0" anchor="ctr"/>
          <a:lstStyle/>
          <a:p>
            <a:pPr marL="0" indent="0">
              <a:buNone/>
            </a:pPr>
            <a:r>
              <a:rPr lang="en-US" sz="2600" b="1">
                <a:solidFill>
                  <a:srgbClr val="111827"/>
                </a:solidFill>
                <a:latin typeface="Calibri Light" pitchFamily="34" charset="0"/>
                <a:ea typeface="Calibri Light" pitchFamily="34" charset="-122"/>
                <a:cs typeface="Calibri Light" pitchFamily="34" charset="-120"/>
              </a:rPr>
              <a:t>Example: from two requirements to a machine-checked contradiction</a:t>
            </a:r>
            <a:endParaRPr lang="en-US" sz="2600"/>
          </a:p>
        </p:txBody>
      </p:sp>
      <p:sp>
        <p:nvSpPr>
          <p:cNvPr id="3" name="Text 1"/>
          <p:cNvSpPr/>
          <p:nvPr/>
        </p:nvSpPr>
        <p:spPr>
          <a:xfrm>
            <a:off x="493776" y="859536"/>
            <a:ext cx="10881360" cy="320040"/>
          </a:xfrm>
          <a:prstGeom prst="rect">
            <a:avLst/>
          </a:prstGeom>
          <a:noFill/>
          <a:ln/>
        </p:spPr>
        <p:txBody>
          <a:bodyPr wrap="square" lIns="0" tIns="0" rIns="0" bIns="0" rtlCol="0" anchor="ctr"/>
          <a:lstStyle/>
          <a:p>
            <a:pPr marL="0" indent="0">
              <a:buNone/>
            </a:pPr>
            <a:r>
              <a:rPr lang="en-US" sz="1250">
                <a:solidFill>
                  <a:srgbClr val="667085"/>
                </a:solidFill>
              </a:rPr>
              <a:t>The result is tied to explicit premises, not to the model’s confidence.</a:t>
            </a:r>
            <a:endParaRPr lang="en-US" sz="1250"/>
          </a:p>
        </p:txBody>
      </p:sp>
      <p:sp>
        <p:nvSpPr>
          <p:cNvPr id="4" name="Shape 2"/>
          <p:cNvSpPr/>
          <p:nvPr/>
        </p:nvSpPr>
        <p:spPr>
          <a:xfrm>
            <a:off x="566928" y="1325880"/>
            <a:ext cx="2788920" cy="1280160"/>
          </a:xfrm>
          <a:prstGeom prst="roundRect">
            <a:avLst>
              <a:gd name="adj" fmla="val 5714"/>
            </a:avLst>
          </a:prstGeom>
          <a:solidFill>
            <a:srgbClr val="FFFFFF"/>
          </a:solidFill>
          <a:ln w="12700">
            <a:solidFill>
              <a:srgbClr val="D5DFEA"/>
            </a:solidFill>
            <a:prstDash val="solid"/>
          </a:ln>
          <a:effectLst/>
        </p:spPr>
      </p:sp>
      <p:sp>
        <p:nvSpPr>
          <p:cNvPr id="5" name="Shape 3"/>
          <p:cNvSpPr/>
          <p:nvPr/>
        </p:nvSpPr>
        <p:spPr>
          <a:xfrm>
            <a:off x="566928" y="1325880"/>
            <a:ext cx="73152" cy="1280160"/>
          </a:xfrm>
          <a:prstGeom prst="rect">
            <a:avLst/>
          </a:prstGeom>
          <a:solidFill>
            <a:srgbClr val="4E84C4"/>
          </a:solidFill>
          <a:ln w="12700">
            <a:solidFill>
              <a:srgbClr val="4E84C4"/>
            </a:solidFill>
            <a:prstDash val="solid"/>
          </a:ln>
        </p:spPr>
      </p:sp>
      <p:sp>
        <p:nvSpPr>
          <p:cNvPr id="6" name="Text 4"/>
          <p:cNvSpPr/>
          <p:nvPr/>
        </p:nvSpPr>
        <p:spPr>
          <a:xfrm>
            <a:off x="795528" y="1490472"/>
            <a:ext cx="2404872" cy="274320"/>
          </a:xfrm>
          <a:prstGeom prst="rect">
            <a:avLst/>
          </a:prstGeom>
          <a:noFill/>
          <a:ln/>
        </p:spPr>
        <p:txBody>
          <a:bodyPr wrap="square" lIns="0" tIns="0" rIns="0" bIns="0" rtlCol="0" anchor="ctr"/>
          <a:lstStyle/>
          <a:p>
            <a:pPr marL="0" indent="0">
              <a:buNone/>
            </a:pPr>
            <a:r>
              <a:rPr lang="en-US" sz="1500" b="1">
                <a:solidFill>
                  <a:srgbClr val="111827"/>
                </a:solidFill>
              </a:rPr>
              <a:t>R1</a:t>
            </a:r>
            <a:endParaRPr lang="en-US" sz="1500"/>
          </a:p>
        </p:txBody>
      </p:sp>
      <p:sp>
        <p:nvSpPr>
          <p:cNvPr id="7" name="Text 5"/>
          <p:cNvSpPr/>
          <p:nvPr/>
        </p:nvSpPr>
        <p:spPr>
          <a:xfrm>
            <a:off x="795528" y="1856232"/>
            <a:ext cx="2404872" cy="621792"/>
          </a:xfrm>
          <a:prstGeom prst="rect">
            <a:avLst/>
          </a:prstGeom>
          <a:noFill/>
          <a:ln/>
        </p:spPr>
        <p:txBody>
          <a:bodyPr wrap="square" lIns="381" tIns="381" rIns="381" bIns="381" rtlCol="0" anchor="ctr">
            <a:normAutofit/>
          </a:bodyPr>
          <a:lstStyle/>
          <a:p>
            <a:pPr marL="0" indent="0">
              <a:buNone/>
            </a:pPr>
            <a:r>
              <a:rPr lang="en-US" sz="1150">
                <a:solidFill>
                  <a:srgbClr val="667085"/>
                </a:solidFill>
              </a:rPr>
              <a:t>Guest users must have access to download system log files.</a:t>
            </a:r>
            <a:endParaRPr lang="en-US" sz="1150"/>
          </a:p>
        </p:txBody>
      </p:sp>
      <p:sp>
        <p:nvSpPr>
          <p:cNvPr id="8" name="Shape 6"/>
          <p:cNvSpPr/>
          <p:nvPr/>
        </p:nvSpPr>
        <p:spPr>
          <a:xfrm>
            <a:off x="566928" y="2926080"/>
            <a:ext cx="2788920" cy="1280160"/>
          </a:xfrm>
          <a:prstGeom prst="roundRect">
            <a:avLst>
              <a:gd name="adj" fmla="val 5714"/>
            </a:avLst>
          </a:prstGeom>
          <a:solidFill>
            <a:srgbClr val="FFFFFF"/>
          </a:solidFill>
          <a:ln w="12700">
            <a:solidFill>
              <a:srgbClr val="D5DFEA"/>
            </a:solidFill>
            <a:prstDash val="solid"/>
          </a:ln>
          <a:effectLst/>
        </p:spPr>
      </p:sp>
      <p:sp>
        <p:nvSpPr>
          <p:cNvPr id="9" name="Shape 7"/>
          <p:cNvSpPr/>
          <p:nvPr/>
        </p:nvSpPr>
        <p:spPr>
          <a:xfrm>
            <a:off x="566928" y="2926080"/>
            <a:ext cx="73152" cy="1280160"/>
          </a:xfrm>
          <a:prstGeom prst="rect">
            <a:avLst/>
          </a:prstGeom>
          <a:solidFill>
            <a:srgbClr val="D92D20"/>
          </a:solidFill>
          <a:ln w="12700">
            <a:solidFill>
              <a:srgbClr val="D92D20"/>
            </a:solidFill>
            <a:prstDash val="solid"/>
          </a:ln>
        </p:spPr>
      </p:sp>
      <p:sp>
        <p:nvSpPr>
          <p:cNvPr id="10" name="Text 8"/>
          <p:cNvSpPr/>
          <p:nvPr/>
        </p:nvSpPr>
        <p:spPr>
          <a:xfrm>
            <a:off x="795528" y="3090672"/>
            <a:ext cx="2404872" cy="274320"/>
          </a:xfrm>
          <a:prstGeom prst="rect">
            <a:avLst/>
          </a:prstGeom>
          <a:noFill/>
          <a:ln/>
        </p:spPr>
        <p:txBody>
          <a:bodyPr wrap="square" lIns="0" tIns="0" rIns="0" bIns="0" rtlCol="0" anchor="ctr"/>
          <a:lstStyle/>
          <a:p>
            <a:pPr marL="0" indent="0">
              <a:buNone/>
            </a:pPr>
            <a:r>
              <a:rPr lang="en-US" sz="1500" b="1">
                <a:solidFill>
                  <a:srgbClr val="111827"/>
                </a:solidFill>
              </a:rPr>
              <a:t>R2</a:t>
            </a:r>
            <a:endParaRPr lang="en-US" sz="1500"/>
          </a:p>
        </p:txBody>
      </p:sp>
      <p:sp>
        <p:nvSpPr>
          <p:cNvPr id="11" name="Text 9"/>
          <p:cNvSpPr/>
          <p:nvPr/>
        </p:nvSpPr>
        <p:spPr>
          <a:xfrm>
            <a:off x="795528" y="3456432"/>
            <a:ext cx="2404872" cy="621792"/>
          </a:xfrm>
          <a:prstGeom prst="rect">
            <a:avLst/>
          </a:prstGeom>
          <a:noFill/>
          <a:ln/>
        </p:spPr>
        <p:txBody>
          <a:bodyPr wrap="square" lIns="381" tIns="381" rIns="381" bIns="381" rtlCol="0" anchor="ctr">
            <a:normAutofit/>
          </a:bodyPr>
          <a:lstStyle/>
          <a:p>
            <a:pPr marL="0" indent="0">
              <a:buNone/>
            </a:pPr>
            <a:r>
              <a:rPr lang="en-US" sz="1150">
                <a:solidFill>
                  <a:srgbClr val="667085"/>
                </a:solidFill>
              </a:rPr>
              <a:t>System log files can only be accessed by authenticated Admin users.</a:t>
            </a:r>
            <a:endParaRPr lang="en-US" sz="1150"/>
          </a:p>
        </p:txBody>
      </p:sp>
      <p:sp>
        <p:nvSpPr>
          <p:cNvPr id="12" name="Shape 10"/>
          <p:cNvSpPr/>
          <p:nvPr/>
        </p:nvSpPr>
        <p:spPr>
          <a:xfrm>
            <a:off x="3520440" y="2697480"/>
            <a:ext cx="731520" cy="1"/>
          </a:xfrm>
          <a:prstGeom prst="line">
            <a:avLst/>
          </a:prstGeom>
          <a:noFill/>
          <a:ln w="25400">
            <a:solidFill>
              <a:srgbClr val="4E84C4"/>
            </a:solidFill>
            <a:prstDash val="solid"/>
            <a:headEnd type="none"/>
            <a:tailEnd type="triangle"/>
          </a:ln>
        </p:spPr>
      </p:sp>
      <p:sp>
        <p:nvSpPr>
          <p:cNvPr id="13" name="Shape 11"/>
          <p:cNvSpPr/>
          <p:nvPr/>
        </p:nvSpPr>
        <p:spPr>
          <a:xfrm>
            <a:off x="4370832" y="1280160"/>
            <a:ext cx="3794760" cy="3566160"/>
          </a:xfrm>
          <a:prstGeom prst="roundRect">
            <a:avLst>
              <a:gd name="adj" fmla="val 2051"/>
            </a:avLst>
          </a:prstGeom>
          <a:solidFill>
            <a:srgbClr val="111827"/>
          </a:solidFill>
          <a:ln w="12700">
            <a:solidFill>
              <a:srgbClr val="111827"/>
            </a:solidFill>
            <a:prstDash val="solid"/>
          </a:ln>
          <a:effectLst/>
        </p:spPr>
      </p:sp>
      <p:sp>
        <p:nvSpPr>
          <p:cNvPr id="14" name="Text 12"/>
          <p:cNvSpPr/>
          <p:nvPr/>
        </p:nvSpPr>
        <p:spPr>
          <a:xfrm>
            <a:off x="4608576" y="1572768"/>
            <a:ext cx="3337560" cy="2971800"/>
          </a:xfrm>
          <a:prstGeom prst="rect">
            <a:avLst/>
          </a:prstGeom>
          <a:noFill/>
          <a:ln/>
        </p:spPr>
        <p:txBody>
          <a:bodyPr wrap="square" lIns="381" tIns="381" rIns="381" bIns="381" rtlCol="0" anchor="ctr">
            <a:normAutofit/>
          </a:bodyPr>
          <a:lstStyle/>
          <a:p>
            <a:pPr marL="0" indent="0">
              <a:buNone/>
            </a:pPr>
            <a:r>
              <a:rPr lang="en-US" sz="1400">
                <a:solidFill>
                  <a:srgbClr val="EAF2FB"/>
                </a:solidFill>
                <a:latin typeface="Consolas" pitchFamily="34" charset="0"/>
                <a:ea typeface="Consolas" pitchFamily="34" charset="-122"/>
                <a:cs typeface="Consolas" pitchFamily="34" charset="-120"/>
              </a:rPr>
              <a:t>P := GuestCanDownloadLogs</a:t>
            </a:r>
            <a:endParaRPr lang="en-US" sz="1400"/>
          </a:p>
          <a:p>
            <a:pPr marL="0" indent="0">
              <a:buNone/>
            </a:pPr>
            <a:endParaRPr lang="en-US" sz="1400"/>
          </a:p>
          <a:p>
            <a:pPr marL="0" indent="0">
              <a:buNone/>
            </a:pPr>
            <a:r>
              <a:rPr lang="en-US" sz="1400">
                <a:solidFill>
                  <a:srgbClr val="EAF2FB"/>
                </a:solidFill>
                <a:latin typeface="Consolas" pitchFamily="34" charset="0"/>
                <a:ea typeface="Consolas" pitchFamily="34" charset="-122"/>
                <a:cs typeface="Consolas" pitchFamily="34" charset="-120"/>
              </a:rPr>
              <a:t>hPos : P          -- from R1</a:t>
            </a:r>
            <a:endParaRPr lang="en-US" sz="1400"/>
          </a:p>
          <a:p>
            <a:pPr marL="0" indent="0">
              <a:buNone/>
            </a:pPr>
            <a:r>
              <a:rPr lang="en-US" sz="1400">
                <a:solidFill>
                  <a:srgbClr val="EAF2FB"/>
                </a:solidFill>
                <a:latin typeface="Consolas" pitchFamily="34" charset="0"/>
                <a:ea typeface="Consolas" pitchFamily="34" charset="-122"/>
                <a:cs typeface="Consolas" pitchFamily="34" charset="-120"/>
              </a:rPr>
              <a:t>hNeg : ¬ P        -- from R2</a:t>
            </a:r>
            <a:endParaRPr lang="en-US" sz="1400"/>
          </a:p>
          <a:p>
            <a:pPr marL="0" indent="0">
              <a:buNone/>
            </a:pPr>
            <a:endParaRPr lang="en-US" sz="1400"/>
          </a:p>
          <a:p>
            <a:pPr marL="0" indent="0">
              <a:buNone/>
            </a:pPr>
            <a:r>
              <a:rPr lang="en-US" sz="1400">
                <a:solidFill>
                  <a:srgbClr val="EAF2FB"/>
                </a:solidFill>
                <a:latin typeface="Consolas" pitchFamily="34" charset="0"/>
                <a:ea typeface="Consolas" pitchFamily="34" charset="-122"/>
                <a:cs typeface="Consolas" pitchFamily="34" charset="-120"/>
              </a:rPr>
              <a:t>theorem pairwise_conflict : False :=</a:t>
            </a:r>
            <a:endParaRPr lang="en-US" sz="1400"/>
          </a:p>
          <a:p>
            <a:pPr marL="0" indent="0">
              <a:buNone/>
            </a:pPr>
            <a:r>
              <a:rPr lang="en-US" sz="1400">
                <a:solidFill>
                  <a:srgbClr val="EAF2FB"/>
                </a:solidFill>
                <a:latin typeface="Consolas" pitchFamily="34" charset="0"/>
                <a:ea typeface="Consolas" pitchFamily="34" charset="-122"/>
                <a:cs typeface="Consolas" pitchFamily="34" charset="-120"/>
              </a:rPr>
              <a:t>by</a:t>
            </a:r>
            <a:endParaRPr lang="en-US" sz="1400"/>
          </a:p>
          <a:p>
            <a:pPr marL="0" indent="0">
              <a:buNone/>
            </a:pPr>
            <a:r>
              <a:rPr lang="en-US" sz="1400">
                <a:solidFill>
                  <a:srgbClr val="EAF2FB"/>
                </a:solidFill>
                <a:latin typeface="Consolas" pitchFamily="34" charset="0"/>
                <a:ea typeface="Consolas" pitchFamily="34" charset="-122"/>
                <a:cs typeface="Consolas" pitchFamily="34" charset="-120"/>
              </a:rPr>
              <a:t>  exact hNeg hPos</a:t>
            </a:r>
            <a:endParaRPr lang="en-US" sz="1400"/>
          </a:p>
        </p:txBody>
      </p:sp>
      <p:sp>
        <p:nvSpPr>
          <p:cNvPr id="15" name="Shape 13"/>
          <p:cNvSpPr/>
          <p:nvPr/>
        </p:nvSpPr>
        <p:spPr>
          <a:xfrm>
            <a:off x="8321040" y="2697480"/>
            <a:ext cx="685800" cy="1"/>
          </a:xfrm>
          <a:prstGeom prst="line">
            <a:avLst/>
          </a:prstGeom>
          <a:noFill/>
          <a:ln w="25400">
            <a:solidFill>
              <a:srgbClr val="FBB034"/>
            </a:solidFill>
            <a:prstDash val="solid"/>
            <a:headEnd type="none"/>
            <a:tailEnd type="triangle"/>
          </a:ln>
        </p:spPr>
      </p:sp>
      <p:sp>
        <p:nvSpPr>
          <p:cNvPr id="16" name="Shape 14"/>
          <p:cNvSpPr/>
          <p:nvPr/>
        </p:nvSpPr>
        <p:spPr>
          <a:xfrm>
            <a:off x="9125712" y="1600200"/>
            <a:ext cx="2514600" cy="2240280"/>
          </a:xfrm>
          <a:prstGeom prst="roundRect">
            <a:avLst>
              <a:gd name="adj" fmla="val 3265"/>
            </a:avLst>
          </a:prstGeom>
          <a:solidFill>
            <a:srgbClr val="FFFFFF"/>
          </a:solidFill>
          <a:ln w="12700">
            <a:solidFill>
              <a:srgbClr val="D5DFEA"/>
            </a:solidFill>
            <a:prstDash val="solid"/>
          </a:ln>
          <a:effectLst/>
        </p:spPr>
      </p:sp>
      <p:sp>
        <p:nvSpPr>
          <p:cNvPr id="17" name="Shape 15"/>
          <p:cNvSpPr/>
          <p:nvPr/>
        </p:nvSpPr>
        <p:spPr>
          <a:xfrm>
            <a:off x="9125712" y="1600200"/>
            <a:ext cx="73152" cy="2240280"/>
          </a:xfrm>
          <a:prstGeom prst="rect">
            <a:avLst/>
          </a:prstGeom>
          <a:solidFill>
            <a:srgbClr val="18864B"/>
          </a:solidFill>
          <a:ln w="12700">
            <a:solidFill>
              <a:srgbClr val="18864B"/>
            </a:solidFill>
            <a:prstDash val="solid"/>
          </a:ln>
        </p:spPr>
      </p:sp>
      <p:sp>
        <p:nvSpPr>
          <p:cNvPr id="18" name="Text 16"/>
          <p:cNvSpPr/>
          <p:nvPr/>
        </p:nvSpPr>
        <p:spPr>
          <a:xfrm>
            <a:off x="9354312" y="1764792"/>
            <a:ext cx="2130552" cy="274320"/>
          </a:xfrm>
          <a:prstGeom prst="rect">
            <a:avLst/>
          </a:prstGeom>
          <a:noFill/>
          <a:ln/>
        </p:spPr>
        <p:txBody>
          <a:bodyPr wrap="square" lIns="0" tIns="0" rIns="0" bIns="0" rtlCol="0" anchor="ctr"/>
          <a:lstStyle/>
          <a:p>
            <a:pPr marL="0" indent="0">
              <a:buNone/>
            </a:pPr>
            <a:r>
              <a:rPr lang="en-US" sz="1500" b="1">
                <a:solidFill>
                  <a:srgbClr val="111827"/>
                </a:solidFill>
              </a:rPr>
              <a:t>Verification result</a:t>
            </a:r>
            <a:endParaRPr lang="en-US" sz="1500"/>
          </a:p>
        </p:txBody>
      </p:sp>
      <p:sp>
        <p:nvSpPr>
          <p:cNvPr id="19" name="Text 17"/>
          <p:cNvSpPr/>
          <p:nvPr/>
        </p:nvSpPr>
        <p:spPr>
          <a:xfrm>
            <a:off x="9354312" y="2130552"/>
            <a:ext cx="2130552" cy="1581912"/>
          </a:xfrm>
          <a:prstGeom prst="rect">
            <a:avLst/>
          </a:prstGeom>
          <a:noFill/>
          <a:ln/>
        </p:spPr>
        <p:txBody>
          <a:bodyPr wrap="square" lIns="381" tIns="381" rIns="381" bIns="381" rtlCol="0" anchor="ctr">
            <a:normAutofit/>
          </a:bodyPr>
          <a:lstStyle/>
          <a:p>
            <a:pPr marL="0" indent="0">
              <a:buNone/>
            </a:pPr>
            <a:r>
              <a:rPr lang="en-US" sz="1150">
                <a:solidFill>
                  <a:srgbClr val="667085"/>
                </a:solidFill>
              </a:rPr>
              <a:t>Conflict confirmed</a:t>
            </a:r>
            <a:endParaRPr lang="en-US" sz="1150"/>
          </a:p>
          <a:p>
            <a:pPr marL="0" indent="0">
              <a:buNone/>
            </a:pPr>
            <a:endParaRPr lang="en-US" sz="1150"/>
          </a:p>
          <a:p>
            <a:pPr marL="0" indent="0">
              <a:buNone/>
            </a:pPr>
            <a:r>
              <a:rPr lang="en-US" sz="1150">
                <a:solidFill>
                  <a:srgbClr val="667085"/>
                </a:solidFill>
              </a:rPr>
              <a:t>Evidence: R1 + R2</a:t>
            </a:r>
            <a:endParaRPr lang="en-US" sz="1150"/>
          </a:p>
          <a:p>
            <a:pPr marL="0" indent="0">
              <a:buNone/>
            </a:pPr>
            <a:r>
              <a:rPr lang="en-US" sz="1150">
                <a:solidFill>
                  <a:srgbClr val="667085"/>
                </a:solidFill>
              </a:rPr>
              <a:t>Reason: P and ¬P</a:t>
            </a:r>
            <a:endParaRPr lang="en-US" sz="1150"/>
          </a:p>
          <a:p>
            <a:pPr marL="0" indent="0">
              <a:buNone/>
            </a:pPr>
            <a:r>
              <a:rPr lang="en-US" sz="1150">
                <a:solidFill>
                  <a:srgbClr val="667085"/>
                </a:solidFill>
              </a:rPr>
              <a:t>Outcome: model is inconsistent</a:t>
            </a:r>
            <a:endParaRPr lang="en-US" sz="1150"/>
          </a:p>
        </p:txBody>
      </p:sp>
      <p:sp>
        <p:nvSpPr>
          <p:cNvPr id="20" name="Shape 18"/>
          <p:cNvSpPr/>
          <p:nvPr/>
        </p:nvSpPr>
        <p:spPr>
          <a:xfrm>
            <a:off x="502920" y="5897880"/>
            <a:ext cx="11064240" cy="411480"/>
          </a:xfrm>
          <a:prstGeom prst="roundRect">
            <a:avLst>
              <a:gd name="adj" fmla="val 26667"/>
            </a:avLst>
          </a:prstGeom>
          <a:solidFill>
            <a:srgbClr val="EEF4FA"/>
          </a:solidFill>
          <a:ln w="12700">
            <a:solidFill>
              <a:srgbClr val="D5E2EF"/>
            </a:solidFill>
            <a:prstDash val="solid"/>
          </a:ln>
        </p:spPr>
      </p:sp>
      <p:sp>
        <p:nvSpPr>
          <p:cNvPr id="21" name="Text 19"/>
          <p:cNvSpPr/>
          <p:nvPr/>
        </p:nvSpPr>
        <p:spPr>
          <a:xfrm>
            <a:off x="731520" y="5998464"/>
            <a:ext cx="10607040" cy="182880"/>
          </a:xfrm>
          <a:prstGeom prst="rect">
            <a:avLst/>
          </a:prstGeom>
          <a:noFill/>
          <a:ln/>
        </p:spPr>
        <p:txBody>
          <a:bodyPr wrap="square" lIns="0" tIns="0" rIns="0" bIns="0" rtlCol="0" anchor="ctr"/>
          <a:lstStyle/>
          <a:p>
            <a:pPr marL="0" indent="0" algn="ctr">
              <a:buNone/>
            </a:pPr>
            <a:r>
              <a:rPr lang="en-US" sz="1200" b="1">
                <a:solidFill>
                  <a:srgbClr val="4E84C4"/>
                </a:solidFill>
              </a:rPr>
              <a:t>Lean verifies the proof; the application explains the defect in requirement-review language.</a:t>
            </a:r>
            <a:endParaRPr lang="en-US" sz="1200"/>
          </a:p>
        </p:txBody>
      </p:sp>
      <p:sp>
        <p:nvSpPr>
          <p:cNvPr id="25" name="Slide Number Placeholder 0"/>
          <p:cNvSpPr>
            <a:spLocks noGrp="1"/>
          </p:cNvSpPr>
          <p:nvPr>
            <p:ph type="sldNum" sz="quarter" idx="4294967295"/>
          </p:nvPr>
        </p:nvSpPr>
        <p:spPr>
          <a:xfrm>
            <a:off x="10652760" y="6510528"/>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77777"/>
                </a:solidFill>
              </a:defRPr>
            </a:lvl1pPr>
          </a:lstStyle>
          <a:p>
            <a:pPr algn="ct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name="Slide 12">
    <p:spTree>
      <p:nvGrpSpPr>
        <p:cNvPr id="1" name=""/>
        <p:cNvGrpSpPr/>
        <p:nvPr/>
      </p:nvGrpSpPr>
      <p:grpSpPr>
        <a:xfrm>
          <a:off x="0" y="0"/>
          <a:ext cx="1" cy="1"/>
          <a:chOff x="0" y="0"/>
          <a:chExt cx="1" cy="1"/>
        </a:xfrm>
      </p:grpSpPr>
      <p:sp>
        <p:nvSpPr>
          <p:cNvPr id="2" name="Text 0"/>
          <p:cNvSpPr/>
          <p:nvPr/>
        </p:nvSpPr>
        <p:spPr>
          <a:xfrm>
            <a:off x="475488" y="320040"/>
            <a:ext cx="11064240" cy="502920"/>
          </a:xfrm>
          <a:prstGeom prst="rect">
            <a:avLst/>
          </a:prstGeom>
          <a:noFill/>
          <a:ln/>
        </p:spPr>
        <p:txBody>
          <a:bodyPr wrap="square" lIns="0" tIns="0" rIns="0" bIns="0" rtlCol="0" anchor="ctr"/>
          <a:lstStyle/>
          <a:p>
            <a:pPr marL="0" indent="0">
              <a:buNone/>
            </a:pPr>
            <a:r>
              <a:rPr lang="en-US" sz="2600" b="1">
                <a:solidFill>
                  <a:srgbClr val="111827"/>
                </a:solidFill>
                <a:latin typeface="Calibri Light" pitchFamily="34" charset="0"/>
                <a:ea typeface="Calibri Light" pitchFamily="34" charset="-122"/>
                <a:cs typeface="Calibri Light" pitchFamily="34" charset="-120"/>
              </a:rPr>
              <a:t>Demo: reviewer journey through the web application</a:t>
            </a:r>
            <a:endParaRPr lang="en-US" sz="2600"/>
          </a:p>
        </p:txBody>
      </p:sp>
      <p:sp>
        <p:nvSpPr>
          <p:cNvPr id="3" name="Text 1"/>
          <p:cNvSpPr/>
          <p:nvPr/>
        </p:nvSpPr>
        <p:spPr>
          <a:xfrm>
            <a:off x="493776" y="859536"/>
            <a:ext cx="10881360" cy="320040"/>
          </a:xfrm>
          <a:prstGeom prst="rect">
            <a:avLst/>
          </a:prstGeom>
          <a:noFill/>
          <a:ln/>
        </p:spPr>
        <p:txBody>
          <a:bodyPr wrap="square" lIns="0" tIns="0" rIns="0" bIns="0" rtlCol="0" anchor="ctr"/>
          <a:lstStyle/>
          <a:p>
            <a:pPr marL="0" indent="0">
              <a:buNone/>
            </a:pPr>
            <a:r>
              <a:rPr lang="en-US" sz="1250">
                <a:solidFill>
                  <a:srgbClr val="667085"/>
                </a:solidFill>
              </a:rPr>
              <a:t>Replace the placeholders below with screenshots from the current UI before presenting.</a:t>
            </a:r>
            <a:endParaRPr lang="en-US" sz="1250"/>
          </a:p>
        </p:txBody>
      </p:sp>
      <p:sp>
        <p:nvSpPr>
          <p:cNvPr id="4" name="Shape 2"/>
          <p:cNvSpPr/>
          <p:nvPr/>
        </p:nvSpPr>
        <p:spPr>
          <a:xfrm>
            <a:off x="594360" y="1325880"/>
            <a:ext cx="3474720" cy="1691640"/>
          </a:xfrm>
          <a:prstGeom prst="roundRect">
            <a:avLst>
              <a:gd name="adj" fmla="val 3243"/>
            </a:avLst>
          </a:prstGeom>
          <a:solidFill>
            <a:srgbClr val="F4F7FB"/>
          </a:solidFill>
          <a:ln w="15240">
            <a:solidFill>
              <a:srgbClr val="B8CADC"/>
            </a:solidFill>
            <a:prstDash val="solid"/>
          </a:ln>
        </p:spPr>
      </p:sp>
      <p:sp>
        <p:nvSpPr>
          <p:cNvPr id="5" name="Text 3"/>
          <p:cNvSpPr/>
          <p:nvPr/>
        </p:nvSpPr>
        <p:spPr>
          <a:xfrm>
            <a:off x="1463040" y="1801368"/>
            <a:ext cx="1737360" cy="274320"/>
          </a:xfrm>
          <a:prstGeom prst="rect">
            <a:avLst/>
          </a:prstGeom>
          <a:noFill/>
          <a:ln/>
        </p:spPr>
        <p:txBody>
          <a:bodyPr wrap="square" lIns="0" tIns="0" rIns="0" bIns="0" rtlCol="0" anchor="ctr"/>
          <a:lstStyle/>
          <a:p>
            <a:pPr marL="0" indent="0" algn="ctr">
              <a:buNone/>
            </a:pPr>
            <a:r>
              <a:rPr lang="en-US" sz="1100" b="1">
                <a:solidFill>
                  <a:srgbClr val="98A2B3"/>
                </a:solidFill>
              </a:rPr>
              <a:t>SCREENSHOT</a:t>
            </a:r>
            <a:endParaRPr lang="en-US" sz="1100"/>
          </a:p>
        </p:txBody>
      </p:sp>
      <p:sp>
        <p:nvSpPr>
          <p:cNvPr id="6" name="Text 4"/>
          <p:cNvSpPr/>
          <p:nvPr/>
        </p:nvSpPr>
        <p:spPr>
          <a:xfrm>
            <a:off x="758952" y="2560320"/>
            <a:ext cx="3145536" cy="228600"/>
          </a:xfrm>
          <a:prstGeom prst="rect">
            <a:avLst/>
          </a:prstGeom>
          <a:noFill/>
          <a:ln/>
        </p:spPr>
        <p:txBody>
          <a:bodyPr wrap="square" lIns="0" tIns="0" rIns="0" bIns="0" rtlCol="0" anchor="ctr"/>
          <a:lstStyle/>
          <a:p>
            <a:pPr marL="0" indent="0" algn="ctr">
              <a:buNone/>
            </a:pPr>
            <a:r>
              <a:rPr lang="en-US" sz="1250" b="1">
                <a:solidFill>
                  <a:srgbClr val="111827"/>
                </a:solidFill>
              </a:rPr>
              <a:t>1. Upload document</a:t>
            </a:r>
            <a:endParaRPr lang="en-US" sz="1250"/>
          </a:p>
        </p:txBody>
      </p:sp>
      <p:sp>
        <p:nvSpPr>
          <p:cNvPr id="7" name="Shape 5"/>
          <p:cNvSpPr/>
          <p:nvPr/>
        </p:nvSpPr>
        <p:spPr>
          <a:xfrm>
            <a:off x="4416552" y="1325880"/>
            <a:ext cx="3474720" cy="1691640"/>
          </a:xfrm>
          <a:prstGeom prst="roundRect">
            <a:avLst>
              <a:gd name="adj" fmla="val 3243"/>
            </a:avLst>
          </a:prstGeom>
          <a:solidFill>
            <a:srgbClr val="F4F7FB"/>
          </a:solidFill>
          <a:ln w="15240">
            <a:solidFill>
              <a:srgbClr val="B8CADC"/>
            </a:solidFill>
            <a:prstDash val="solid"/>
          </a:ln>
        </p:spPr>
      </p:sp>
      <p:sp>
        <p:nvSpPr>
          <p:cNvPr id="8" name="Text 6"/>
          <p:cNvSpPr/>
          <p:nvPr/>
        </p:nvSpPr>
        <p:spPr>
          <a:xfrm>
            <a:off x="5285232" y="1801368"/>
            <a:ext cx="1737360" cy="274320"/>
          </a:xfrm>
          <a:prstGeom prst="rect">
            <a:avLst/>
          </a:prstGeom>
          <a:noFill/>
          <a:ln/>
        </p:spPr>
        <p:txBody>
          <a:bodyPr wrap="square" lIns="0" tIns="0" rIns="0" bIns="0" rtlCol="0" anchor="ctr"/>
          <a:lstStyle/>
          <a:p>
            <a:pPr marL="0" indent="0" algn="ctr">
              <a:buNone/>
            </a:pPr>
            <a:r>
              <a:rPr lang="en-US" sz="1100" b="1">
                <a:solidFill>
                  <a:srgbClr val="98A2B3"/>
                </a:solidFill>
              </a:rPr>
              <a:t>SCREENSHOT</a:t>
            </a:r>
            <a:endParaRPr lang="en-US" sz="1100"/>
          </a:p>
        </p:txBody>
      </p:sp>
      <p:sp>
        <p:nvSpPr>
          <p:cNvPr id="9" name="Text 7"/>
          <p:cNvSpPr/>
          <p:nvPr/>
        </p:nvSpPr>
        <p:spPr>
          <a:xfrm>
            <a:off x="4581144" y="2560320"/>
            <a:ext cx="3145536" cy="228600"/>
          </a:xfrm>
          <a:prstGeom prst="rect">
            <a:avLst/>
          </a:prstGeom>
          <a:noFill/>
          <a:ln/>
        </p:spPr>
        <p:txBody>
          <a:bodyPr wrap="square" lIns="0" tIns="0" rIns="0" bIns="0" rtlCol="0" anchor="ctr"/>
          <a:lstStyle/>
          <a:p>
            <a:pPr marL="0" indent="0" algn="ctr">
              <a:buNone/>
            </a:pPr>
            <a:r>
              <a:rPr lang="en-US" sz="1250" b="1">
                <a:solidFill>
                  <a:srgbClr val="111827"/>
                </a:solidFill>
              </a:rPr>
              <a:t>2. Review ambiguities</a:t>
            </a:r>
            <a:endParaRPr lang="en-US" sz="1250"/>
          </a:p>
        </p:txBody>
      </p:sp>
      <p:sp>
        <p:nvSpPr>
          <p:cNvPr id="10" name="Shape 8"/>
          <p:cNvSpPr/>
          <p:nvPr/>
        </p:nvSpPr>
        <p:spPr>
          <a:xfrm>
            <a:off x="8238744" y="1325880"/>
            <a:ext cx="3474720" cy="1691640"/>
          </a:xfrm>
          <a:prstGeom prst="roundRect">
            <a:avLst>
              <a:gd name="adj" fmla="val 3243"/>
            </a:avLst>
          </a:prstGeom>
          <a:solidFill>
            <a:srgbClr val="F4F7FB"/>
          </a:solidFill>
          <a:ln w="15240">
            <a:solidFill>
              <a:srgbClr val="B8CADC"/>
            </a:solidFill>
            <a:prstDash val="solid"/>
          </a:ln>
        </p:spPr>
      </p:sp>
      <p:sp>
        <p:nvSpPr>
          <p:cNvPr id="11" name="Text 9"/>
          <p:cNvSpPr/>
          <p:nvPr/>
        </p:nvSpPr>
        <p:spPr>
          <a:xfrm>
            <a:off x="9107424" y="1801368"/>
            <a:ext cx="1737360" cy="274320"/>
          </a:xfrm>
          <a:prstGeom prst="rect">
            <a:avLst/>
          </a:prstGeom>
          <a:noFill/>
          <a:ln/>
        </p:spPr>
        <p:txBody>
          <a:bodyPr wrap="square" lIns="0" tIns="0" rIns="0" bIns="0" rtlCol="0" anchor="ctr"/>
          <a:lstStyle/>
          <a:p>
            <a:pPr marL="0" indent="0" algn="ctr">
              <a:buNone/>
            </a:pPr>
            <a:r>
              <a:rPr lang="en-US" sz="1100" b="1">
                <a:solidFill>
                  <a:srgbClr val="98A2B3"/>
                </a:solidFill>
              </a:rPr>
              <a:t>SCREENSHOT</a:t>
            </a:r>
            <a:endParaRPr lang="en-US" sz="1100"/>
          </a:p>
        </p:txBody>
      </p:sp>
      <p:sp>
        <p:nvSpPr>
          <p:cNvPr id="12" name="Text 10"/>
          <p:cNvSpPr/>
          <p:nvPr/>
        </p:nvSpPr>
        <p:spPr>
          <a:xfrm>
            <a:off x="8403336" y="2560320"/>
            <a:ext cx="3145536" cy="228600"/>
          </a:xfrm>
          <a:prstGeom prst="rect">
            <a:avLst/>
          </a:prstGeom>
          <a:noFill/>
          <a:ln/>
        </p:spPr>
        <p:txBody>
          <a:bodyPr wrap="square" lIns="0" tIns="0" rIns="0" bIns="0" rtlCol="0" anchor="ctr"/>
          <a:lstStyle/>
          <a:p>
            <a:pPr marL="0" indent="0" algn="ctr">
              <a:buNone/>
            </a:pPr>
            <a:r>
              <a:rPr lang="en-US" sz="1250" b="1">
                <a:solidFill>
                  <a:srgbClr val="111827"/>
                </a:solidFill>
              </a:rPr>
              <a:t>3. Inspect formalization</a:t>
            </a:r>
            <a:endParaRPr lang="en-US" sz="1250"/>
          </a:p>
        </p:txBody>
      </p:sp>
      <p:sp>
        <p:nvSpPr>
          <p:cNvPr id="13" name="Shape 11"/>
          <p:cNvSpPr/>
          <p:nvPr/>
        </p:nvSpPr>
        <p:spPr>
          <a:xfrm>
            <a:off x="594360" y="3566160"/>
            <a:ext cx="3474720" cy="1691640"/>
          </a:xfrm>
          <a:prstGeom prst="roundRect">
            <a:avLst>
              <a:gd name="adj" fmla="val 3243"/>
            </a:avLst>
          </a:prstGeom>
          <a:solidFill>
            <a:srgbClr val="FFF7E6"/>
          </a:solidFill>
          <a:ln w="15240">
            <a:solidFill>
              <a:srgbClr val="FBB034"/>
            </a:solidFill>
            <a:prstDash val="solid"/>
          </a:ln>
        </p:spPr>
      </p:sp>
      <p:sp>
        <p:nvSpPr>
          <p:cNvPr id="14" name="Text 12"/>
          <p:cNvSpPr/>
          <p:nvPr/>
        </p:nvSpPr>
        <p:spPr>
          <a:xfrm>
            <a:off x="1463040" y="4041648"/>
            <a:ext cx="1737360" cy="274320"/>
          </a:xfrm>
          <a:prstGeom prst="rect">
            <a:avLst/>
          </a:prstGeom>
          <a:noFill/>
          <a:ln/>
        </p:spPr>
        <p:txBody>
          <a:bodyPr wrap="square" lIns="0" tIns="0" rIns="0" bIns="0" rtlCol="0" anchor="ctr"/>
          <a:lstStyle/>
          <a:p>
            <a:pPr marL="0" indent="0" algn="ctr">
              <a:buNone/>
            </a:pPr>
            <a:r>
              <a:rPr lang="en-US" sz="1100" b="1">
                <a:solidFill>
                  <a:srgbClr val="98A2B3"/>
                </a:solidFill>
              </a:rPr>
              <a:t>SCREENSHOT</a:t>
            </a:r>
            <a:endParaRPr lang="en-US" sz="1100"/>
          </a:p>
        </p:txBody>
      </p:sp>
      <p:sp>
        <p:nvSpPr>
          <p:cNvPr id="15" name="Text 13"/>
          <p:cNvSpPr/>
          <p:nvPr/>
        </p:nvSpPr>
        <p:spPr>
          <a:xfrm>
            <a:off x="758952" y="4800600"/>
            <a:ext cx="3145536" cy="228600"/>
          </a:xfrm>
          <a:prstGeom prst="rect">
            <a:avLst/>
          </a:prstGeom>
          <a:noFill/>
          <a:ln/>
        </p:spPr>
        <p:txBody>
          <a:bodyPr wrap="square" lIns="0" tIns="0" rIns="0" bIns="0" rtlCol="0" anchor="ctr"/>
          <a:lstStyle/>
          <a:p>
            <a:pPr marL="0" indent="0" algn="ctr">
              <a:buNone/>
            </a:pPr>
            <a:r>
              <a:rPr lang="en-US" sz="1250" b="1">
                <a:solidFill>
                  <a:srgbClr val="111827"/>
                </a:solidFill>
              </a:rPr>
              <a:t>4. Run verification</a:t>
            </a:r>
            <a:endParaRPr lang="en-US" sz="1250"/>
          </a:p>
        </p:txBody>
      </p:sp>
      <p:sp>
        <p:nvSpPr>
          <p:cNvPr id="16" name="Shape 14"/>
          <p:cNvSpPr/>
          <p:nvPr/>
        </p:nvSpPr>
        <p:spPr>
          <a:xfrm>
            <a:off x="4416552" y="3566160"/>
            <a:ext cx="3474720" cy="1691640"/>
          </a:xfrm>
          <a:prstGeom prst="roundRect">
            <a:avLst>
              <a:gd name="adj" fmla="val 3243"/>
            </a:avLst>
          </a:prstGeom>
          <a:solidFill>
            <a:srgbClr val="F4F7FB"/>
          </a:solidFill>
          <a:ln w="15240">
            <a:solidFill>
              <a:srgbClr val="B8CADC"/>
            </a:solidFill>
            <a:prstDash val="solid"/>
          </a:ln>
        </p:spPr>
      </p:sp>
      <p:sp>
        <p:nvSpPr>
          <p:cNvPr id="17" name="Text 15"/>
          <p:cNvSpPr/>
          <p:nvPr/>
        </p:nvSpPr>
        <p:spPr>
          <a:xfrm>
            <a:off x="5285232" y="4041648"/>
            <a:ext cx="1737360" cy="274320"/>
          </a:xfrm>
          <a:prstGeom prst="rect">
            <a:avLst/>
          </a:prstGeom>
          <a:noFill/>
          <a:ln/>
        </p:spPr>
        <p:txBody>
          <a:bodyPr wrap="square" lIns="0" tIns="0" rIns="0" bIns="0" rtlCol="0" anchor="ctr"/>
          <a:lstStyle/>
          <a:p>
            <a:pPr marL="0" indent="0" algn="ctr">
              <a:buNone/>
            </a:pPr>
            <a:r>
              <a:rPr lang="en-US" sz="1100" b="1">
                <a:solidFill>
                  <a:srgbClr val="98A2B3"/>
                </a:solidFill>
              </a:rPr>
              <a:t>SCREENSHOT</a:t>
            </a:r>
            <a:endParaRPr lang="en-US" sz="1100"/>
          </a:p>
        </p:txBody>
      </p:sp>
      <p:sp>
        <p:nvSpPr>
          <p:cNvPr id="18" name="Text 16"/>
          <p:cNvSpPr/>
          <p:nvPr/>
        </p:nvSpPr>
        <p:spPr>
          <a:xfrm>
            <a:off x="4581144" y="4800600"/>
            <a:ext cx="3145536" cy="228600"/>
          </a:xfrm>
          <a:prstGeom prst="rect">
            <a:avLst/>
          </a:prstGeom>
          <a:noFill/>
          <a:ln/>
        </p:spPr>
        <p:txBody>
          <a:bodyPr wrap="square" lIns="0" tIns="0" rIns="0" bIns="0" rtlCol="0" anchor="ctr"/>
          <a:lstStyle/>
          <a:p>
            <a:pPr marL="0" indent="0" algn="ctr">
              <a:buNone/>
            </a:pPr>
            <a:r>
              <a:rPr lang="en-US" sz="1250" b="1">
                <a:solidFill>
                  <a:srgbClr val="111827"/>
                </a:solidFill>
              </a:rPr>
              <a:t>5. Open finding evidence</a:t>
            </a:r>
            <a:endParaRPr lang="en-US" sz="1250"/>
          </a:p>
        </p:txBody>
      </p:sp>
      <p:sp>
        <p:nvSpPr>
          <p:cNvPr id="19" name="Shape 17"/>
          <p:cNvSpPr/>
          <p:nvPr/>
        </p:nvSpPr>
        <p:spPr>
          <a:xfrm>
            <a:off x="8238744" y="3566160"/>
            <a:ext cx="3474720" cy="1691640"/>
          </a:xfrm>
          <a:prstGeom prst="roundRect">
            <a:avLst>
              <a:gd name="adj" fmla="val 3243"/>
            </a:avLst>
          </a:prstGeom>
          <a:solidFill>
            <a:srgbClr val="F4F7FB"/>
          </a:solidFill>
          <a:ln w="15240">
            <a:solidFill>
              <a:srgbClr val="B8CADC"/>
            </a:solidFill>
            <a:prstDash val="solid"/>
          </a:ln>
        </p:spPr>
      </p:sp>
      <p:sp>
        <p:nvSpPr>
          <p:cNvPr id="20" name="Text 18"/>
          <p:cNvSpPr/>
          <p:nvPr/>
        </p:nvSpPr>
        <p:spPr>
          <a:xfrm>
            <a:off x="9107424" y="4041648"/>
            <a:ext cx="1737360" cy="274320"/>
          </a:xfrm>
          <a:prstGeom prst="rect">
            <a:avLst/>
          </a:prstGeom>
          <a:noFill/>
          <a:ln/>
        </p:spPr>
        <p:txBody>
          <a:bodyPr wrap="square" lIns="0" tIns="0" rIns="0" bIns="0" rtlCol="0" anchor="ctr"/>
          <a:lstStyle/>
          <a:p>
            <a:pPr marL="0" indent="0" algn="ctr">
              <a:buNone/>
            </a:pPr>
            <a:r>
              <a:rPr lang="en-US" sz="1100" b="1">
                <a:solidFill>
                  <a:srgbClr val="98A2B3"/>
                </a:solidFill>
              </a:rPr>
              <a:t>SCREENSHOT</a:t>
            </a:r>
            <a:endParaRPr lang="en-US" sz="1100"/>
          </a:p>
        </p:txBody>
      </p:sp>
      <p:sp>
        <p:nvSpPr>
          <p:cNvPr id="21" name="Text 19"/>
          <p:cNvSpPr/>
          <p:nvPr/>
        </p:nvSpPr>
        <p:spPr>
          <a:xfrm>
            <a:off x="8403336" y="4800600"/>
            <a:ext cx="3145536" cy="228600"/>
          </a:xfrm>
          <a:prstGeom prst="rect">
            <a:avLst/>
          </a:prstGeom>
          <a:noFill/>
          <a:ln/>
        </p:spPr>
        <p:txBody>
          <a:bodyPr wrap="square" lIns="0" tIns="0" rIns="0" bIns="0" rtlCol="0" anchor="ctr"/>
          <a:lstStyle/>
          <a:p>
            <a:pPr marL="0" indent="0" algn="ctr">
              <a:buNone/>
            </a:pPr>
            <a:r>
              <a:rPr lang="en-US" sz="1250" b="1">
                <a:solidFill>
                  <a:srgbClr val="111827"/>
                </a:solidFill>
              </a:rPr>
              <a:t>6. Export report</a:t>
            </a:r>
            <a:endParaRPr lang="en-US" sz="1250"/>
          </a:p>
        </p:txBody>
      </p:sp>
      <p:sp>
        <p:nvSpPr>
          <p:cNvPr id="25" name="Slide Number Placeholder 0"/>
          <p:cNvSpPr>
            <a:spLocks noGrp="1"/>
          </p:cNvSpPr>
          <p:nvPr>
            <p:ph type="sldNum" sz="quarter" idx="4294967295"/>
          </p:nvPr>
        </p:nvSpPr>
        <p:spPr>
          <a:xfrm>
            <a:off x="10652760" y="6510528"/>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77777"/>
                </a:solidFill>
              </a:defRPr>
            </a:lvl1pPr>
          </a:lstStyle>
          <a:p>
            <a:pPr algn="ct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name="Slide 13">
    <p:spTree>
      <p:nvGrpSpPr>
        <p:cNvPr id="1" name=""/>
        <p:cNvGrpSpPr/>
        <p:nvPr/>
      </p:nvGrpSpPr>
      <p:grpSpPr>
        <a:xfrm>
          <a:off x="0" y="0"/>
          <a:ext cx="1" cy="1"/>
          <a:chOff x="0" y="0"/>
          <a:chExt cx="1" cy="1"/>
        </a:xfrm>
      </p:grpSpPr>
      <p:sp>
        <p:nvSpPr>
          <p:cNvPr id="2" name="Text 0"/>
          <p:cNvSpPr/>
          <p:nvPr/>
        </p:nvSpPr>
        <p:spPr>
          <a:xfrm>
            <a:off x="475488" y="320040"/>
            <a:ext cx="11064240" cy="502920"/>
          </a:xfrm>
          <a:prstGeom prst="rect">
            <a:avLst/>
          </a:prstGeom>
          <a:noFill/>
          <a:ln/>
        </p:spPr>
        <p:txBody>
          <a:bodyPr wrap="square" lIns="0" tIns="0" rIns="0" bIns="0" rtlCol="0" anchor="ctr"/>
          <a:lstStyle/>
          <a:p>
            <a:pPr marL="0" indent="0">
              <a:buNone/>
            </a:pPr>
            <a:r>
              <a:rPr lang="en-US" sz="2600" b="1">
                <a:solidFill>
                  <a:srgbClr val="111827"/>
                </a:solidFill>
                <a:latin typeface="Calibri Light" pitchFamily="34" charset="0"/>
                <a:ea typeface="Calibri Light" pitchFamily="34" charset="-122"/>
                <a:cs typeface="Calibri Light" pitchFamily="34" charset="-120"/>
              </a:rPr>
              <a:t>What the verification results tell the reviewer</a:t>
            </a:r>
            <a:endParaRPr lang="en-US" sz="2600"/>
          </a:p>
        </p:txBody>
      </p:sp>
      <p:sp>
        <p:nvSpPr>
          <p:cNvPr id="3" name="Text 1"/>
          <p:cNvSpPr/>
          <p:nvPr/>
        </p:nvSpPr>
        <p:spPr>
          <a:xfrm>
            <a:off x="493776" y="859536"/>
            <a:ext cx="10881360" cy="320040"/>
          </a:xfrm>
          <a:prstGeom prst="rect">
            <a:avLst/>
          </a:prstGeom>
          <a:noFill/>
          <a:ln/>
        </p:spPr>
        <p:txBody>
          <a:bodyPr wrap="square" lIns="0" tIns="0" rIns="0" bIns="0" rtlCol="0" anchor="ctr"/>
          <a:lstStyle/>
          <a:p>
            <a:pPr marL="0" indent="0">
              <a:buNone/>
            </a:pPr>
            <a:r>
              <a:rPr lang="en-US" sz="1250">
                <a:solidFill>
                  <a:srgbClr val="667085"/>
                </a:solidFill>
              </a:rPr>
              <a:t>Every check should translate into a concrete decision, not just “pass” or “fail”.</a:t>
            </a:r>
            <a:endParaRPr lang="en-US" sz="1250"/>
          </a:p>
        </p:txBody>
      </p:sp>
      <p:sp>
        <p:nvSpPr>
          <p:cNvPr id="4" name="Shape 2"/>
          <p:cNvSpPr/>
          <p:nvPr/>
        </p:nvSpPr>
        <p:spPr>
          <a:xfrm>
            <a:off x="594360" y="1280160"/>
            <a:ext cx="10972800" cy="502920"/>
          </a:xfrm>
          <a:prstGeom prst="rect">
            <a:avLst/>
          </a:prstGeom>
          <a:solidFill>
            <a:srgbClr val="4E84C4"/>
          </a:solidFill>
          <a:ln w="12700">
            <a:solidFill>
              <a:srgbClr val="4E84C4"/>
            </a:solidFill>
            <a:prstDash val="solid"/>
          </a:ln>
        </p:spPr>
      </p:sp>
      <p:sp>
        <p:nvSpPr>
          <p:cNvPr id="5" name="Text 3"/>
          <p:cNvSpPr/>
          <p:nvPr/>
        </p:nvSpPr>
        <p:spPr>
          <a:xfrm>
            <a:off x="777240" y="1435608"/>
            <a:ext cx="2743200" cy="182880"/>
          </a:xfrm>
          <a:prstGeom prst="rect">
            <a:avLst/>
          </a:prstGeom>
          <a:noFill/>
          <a:ln/>
        </p:spPr>
        <p:txBody>
          <a:bodyPr wrap="square" lIns="0" tIns="0" rIns="0" bIns="0" rtlCol="0" anchor="ctr"/>
          <a:lstStyle/>
          <a:p>
            <a:pPr marL="0" indent="0">
              <a:buNone/>
            </a:pPr>
            <a:r>
              <a:rPr lang="en-US" sz="1200" b="1">
                <a:solidFill>
                  <a:srgbClr val="FFFFFF"/>
                </a:solidFill>
              </a:rPr>
              <a:t>Lean / solver outcome</a:t>
            </a:r>
            <a:endParaRPr lang="en-US" sz="1200"/>
          </a:p>
        </p:txBody>
      </p:sp>
      <p:sp>
        <p:nvSpPr>
          <p:cNvPr id="6" name="Text 4"/>
          <p:cNvSpPr/>
          <p:nvPr/>
        </p:nvSpPr>
        <p:spPr>
          <a:xfrm>
            <a:off x="3794760" y="1435608"/>
            <a:ext cx="3474720" cy="182880"/>
          </a:xfrm>
          <a:prstGeom prst="rect">
            <a:avLst/>
          </a:prstGeom>
          <a:noFill/>
          <a:ln/>
        </p:spPr>
        <p:txBody>
          <a:bodyPr wrap="square" lIns="0" tIns="0" rIns="0" bIns="0" rtlCol="0" anchor="ctr"/>
          <a:lstStyle/>
          <a:p>
            <a:pPr marL="0" indent="0">
              <a:buNone/>
            </a:pPr>
            <a:r>
              <a:rPr lang="en-US" sz="1200" b="1">
                <a:solidFill>
                  <a:srgbClr val="FFFFFF"/>
                </a:solidFill>
              </a:rPr>
              <a:t>Meaning</a:t>
            </a:r>
            <a:endParaRPr lang="en-US" sz="1200"/>
          </a:p>
        </p:txBody>
      </p:sp>
      <p:sp>
        <p:nvSpPr>
          <p:cNvPr id="7" name="Text 5"/>
          <p:cNvSpPr/>
          <p:nvPr/>
        </p:nvSpPr>
        <p:spPr>
          <a:xfrm>
            <a:off x="7589520" y="1435608"/>
            <a:ext cx="3474720" cy="182880"/>
          </a:xfrm>
          <a:prstGeom prst="rect">
            <a:avLst/>
          </a:prstGeom>
          <a:noFill/>
          <a:ln/>
        </p:spPr>
        <p:txBody>
          <a:bodyPr wrap="square" lIns="0" tIns="0" rIns="0" bIns="0" rtlCol="0" anchor="ctr"/>
          <a:lstStyle/>
          <a:p>
            <a:pPr marL="0" indent="0">
              <a:buNone/>
            </a:pPr>
            <a:r>
              <a:rPr lang="en-US" sz="1200" b="1">
                <a:solidFill>
                  <a:srgbClr val="FFFFFF"/>
                </a:solidFill>
              </a:rPr>
              <a:t>Reviewer action</a:t>
            </a:r>
            <a:endParaRPr lang="en-US" sz="1200"/>
          </a:p>
        </p:txBody>
      </p:sp>
      <p:sp>
        <p:nvSpPr>
          <p:cNvPr id="8" name="Shape 6"/>
          <p:cNvSpPr/>
          <p:nvPr/>
        </p:nvSpPr>
        <p:spPr>
          <a:xfrm>
            <a:off x="594360" y="1783080"/>
            <a:ext cx="10972800" cy="685800"/>
          </a:xfrm>
          <a:prstGeom prst="rect">
            <a:avLst/>
          </a:prstGeom>
          <a:solidFill>
            <a:srgbClr val="FFFFFF"/>
          </a:solidFill>
          <a:ln w="7620">
            <a:solidFill>
              <a:srgbClr val="DCE5EE"/>
            </a:solidFill>
            <a:prstDash val="solid"/>
          </a:ln>
        </p:spPr>
      </p:sp>
      <p:sp>
        <p:nvSpPr>
          <p:cNvPr id="9" name="Text 7"/>
          <p:cNvSpPr/>
          <p:nvPr/>
        </p:nvSpPr>
        <p:spPr>
          <a:xfrm>
            <a:off x="777240" y="1975104"/>
            <a:ext cx="2743200" cy="228600"/>
          </a:xfrm>
          <a:prstGeom prst="rect">
            <a:avLst/>
          </a:prstGeom>
          <a:noFill/>
          <a:ln/>
        </p:spPr>
        <p:txBody>
          <a:bodyPr wrap="square" lIns="0" tIns="0" rIns="0" bIns="0" rtlCol="0" anchor="ctr"/>
          <a:lstStyle/>
          <a:p>
            <a:pPr marL="0" indent="0">
              <a:buNone/>
            </a:pPr>
            <a:r>
              <a:rPr lang="en-US" sz="1150" b="1">
                <a:solidFill>
                  <a:srgbClr val="111827"/>
                </a:solidFill>
              </a:rPr>
              <a:t>Conflict proved</a:t>
            </a:r>
            <a:endParaRPr lang="en-US" sz="1150"/>
          </a:p>
        </p:txBody>
      </p:sp>
      <p:sp>
        <p:nvSpPr>
          <p:cNvPr id="10" name="Text 8"/>
          <p:cNvSpPr/>
          <p:nvPr/>
        </p:nvSpPr>
        <p:spPr>
          <a:xfrm>
            <a:off x="3794760" y="1929384"/>
            <a:ext cx="3474720" cy="347472"/>
          </a:xfrm>
          <a:prstGeom prst="rect">
            <a:avLst/>
          </a:prstGeom>
          <a:noFill/>
          <a:ln/>
        </p:spPr>
        <p:txBody>
          <a:bodyPr wrap="square" lIns="127" tIns="127" rIns="127" bIns="127" rtlCol="0" anchor="ctr">
            <a:normAutofit/>
          </a:bodyPr>
          <a:lstStyle/>
          <a:p>
            <a:pPr marL="0" indent="0">
              <a:buNone/>
            </a:pPr>
            <a:r>
              <a:rPr lang="en-US" sz="1120">
                <a:solidFill>
                  <a:srgbClr val="667085"/>
                </a:solidFill>
              </a:rPr>
              <a:t>Requirements cannot hold together</a:t>
            </a:r>
            <a:endParaRPr lang="en-US" sz="1120"/>
          </a:p>
        </p:txBody>
      </p:sp>
      <p:sp>
        <p:nvSpPr>
          <p:cNvPr id="11" name="Text 9"/>
          <p:cNvSpPr/>
          <p:nvPr/>
        </p:nvSpPr>
        <p:spPr>
          <a:xfrm>
            <a:off x="7589520" y="1929384"/>
            <a:ext cx="3520440" cy="347472"/>
          </a:xfrm>
          <a:prstGeom prst="rect">
            <a:avLst/>
          </a:prstGeom>
          <a:noFill/>
          <a:ln/>
        </p:spPr>
        <p:txBody>
          <a:bodyPr wrap="square" lIns="127" tIns="127" rIns="127" bIns="127" rtlCol="0" anchor="ctr">
            <a:normAutofit/>
          </a:bodyPr>
          <a:lstStyle/>
          <a:p>
            <a:pPr marL="0" indent="0">
              <a:buNone/>
            </a:pPr>
            <a:r>
              <a:rPr lang="en-US" sz="1120">
                <a:solidFill>
                  <a:srgbClr val="4E84C4"/>
                </a:solidFill>
              </a:rPr>
              <a:t>Revise one or add priority / scope</a:t>
            </a:r>
            <a:endParaRPr lang="en-US" sz="1120"/>
          </a:p>
        </p:txBody>
      </p:sp>
      <p:sp>
        <p:nvSpPr>
          <p:cNvPr id="12" name="Shape 10"/>
          <p:cNvSpPr/>
          <p:nvPr/>
        </p:nvSpPr>
        <p:spPr>
          <a:xfrm>
            <a:off x="594360" y="2468880"/>
            <a:ext cx="10972800" cy="685800"/>
          </a:xfrm>
          <a:prstGeom prst="rect">
            <a:avLst/>
          </a:prstGeom>
          <a:solidFill>
            <a:srgbClr val="F8FAFC"/>
          </a:solidFill>
          <a:ln w="7620">
            <a:solidFill>
              <a:srgbClr val="DCE5EE"/>
            </a:solidFill>
            <a:prstDash val="solid"/>
          </a:ln>
        </p:spPr>
      </p:sp>
      <p:sp>
        <p:nvSpPr>
          <p:cNvPr id="13" name="Text 11"/>
          <p:cNvSpPr/>
          <p:nvPr/>
        </p:nvSpPr>
        <p:spPr>
          <a:xfrm>
            <a:off x="777240" y="2660904"/>
            <a:ext cx="2743200" cy="228600"/>
          </a:xfrm>
          <a:prstGeom prst="rect">
            <a:avLst/>
          </a:prstGeom>
          <a:noFill/>
          <a:ln/>
        </p:spPr>
        <p:txBody>
          <a:bodyPr wrap="square" lIns="0" tIns="0" rIns="0" bIns="0" rtlCol="0" anchor="ctr"/>
          <a:lstStyle/>
          <a:p>
            <a:pPr marL="0" indent="0">
              <a:buNone/>
            </a:pPr>
            <a:r>
              <a:rPr lang="en-US" sz="1150" b="1">
                <a:solidFill>
                  <a:srgbClr val="111827"/>
                </a:solidFill>
              </a:rPr>
              <a:t>Satisfying witness found</a:t>
            </a:r>
            <a:endParaRPr lang="en-US" sz="1150"/>
          </a:p>
        </p:txBody>
      </p:sp>
      <p:sp>
        <p:nvSpPr>
          <p:cNvPr id="14" name="Text 12"/>
          <p:cNvSpPr/>
          <p:nvPr/>
        </p:nvSpPr>
        <p:spPr>
          <a:xfrm>
            <a:off x="3794760" y="2615184"/>
            <a:ext cx="3474720" cy="347472"/>
          </a:xfrm>
          <a:prstGeom prst="rect">
            <a:avLst/>
          </a:prstGeom>
          <a:noFill/>
          <a:ln/>
        </p:spPr>
        <p:txBody>
          <a:bodyPr wrap="square" lIns="127" tIns="127" rIns="127" bIns="127" rtlCol="0" anchor="ctr">
            <a:normAutofit/>
          </a:bodyPr>
          <a:lstStyle/>
          <a:p>
            <a:pPr marL="0" indent="0">
              <a:buNone/>
            </a:pPr>
            <a:r>
              <a:rPr lang="en-US" sz="1120">
                <a:solidFill>
                  <a:srgbClr val="667085"/>
                </a:solidFill>
              </a:rPr>
              <a:t>At least one model satisfies the selected set</a:t>
            </a:r>
            <a:endParaRPr lang="en-US" sz="1120"/>
          </a:p>
        </p:txBody>
      </p:sp>
      <p:sp>
        <p:nvSpPr>
          <p:cNvPr id="15" name="Text 13"/>
          <p:cNvSpPr/>
          <p:nvPr/>
        </p:nvSpPr>
        <p:spPr>
          <a:xfrm>
            <a:off x="7589520" y="2615184"/>
            <a:ext cx="3520440" cy="347472"/>
          </a:xfrm>
          <a:prstGeom prst="rect">
            <a:avLst/>
          </a:prstGeom>
          <a:noFill/>
          <a:ln/>
        </p:spPr>
        <p:txBody>
          <a:bodyPr wrap="square" lIns="127" tIns="127" rIns="127" bIns="127" rtlCol="0" anchor="ctr">
            <a:normAutofit/>
          </a:bodyPr>
          <a:lstStyle/>
          <a:p>
            <a:pPr marL="0" indent="0">
              <a:buNone/>
            </a:pPr>
            <a:r>
              <a:rPr lang="en-US" sz="1120">
                <a:solidFill>
                  <a:srgbClr val="4E84C4"/>
                </a:solidFill>
              </a:rPr>
              <a:t>Keep witness as evidence</a:t>
            </a:r>
            <a:endParaRPr lang="en-US" sz="1120"/>
          </a:p>
        </p:txBody>
      </p:sp>
      <p:sp>
        <p:nvSpPr>
          <p:cNvPr id="16" name="Shape 14"/>
          <p:cNvSpPr/>
          <p:nvPr/>
        </p:nvSpPr>
        <p:spPr>
          <a:xfrm>
            <a:off x="594360" y="3154680"/>
            <a:ext cx="10972800" cy="685800"/>
          </a:xfrm>
          <a:prstGeom prst="rect">
            <a:avLst/>
          </a:prstGeom>
          <a:solidFill>
            <a:srgbClr val="FFFFFF"/>
          </a:solidFill>
          <a:ln w="7620">
            <a:solidFill>
              <a:srgbClr val="DCE5EE"/>
            </a:solidFill>
            <a:prstDash val="solid"/>
          </a:ln>
        </p:spPr>
      </p:sp>
      <p:sp>
        <p:nvSpPr>
          <p:cNvPr id="17" name="Text 15"/>
          <p:cNvSpPr/>
          <p:nvPr/>
        </p:nvSpPr>
        <p:spPr>
          <a:xfrm>
            <a:off x="777240" y="3346704"/>
            <a:ext cx="2743200" cy="228600"/>
          </a:xfrm>
          <a:prstGeom prst="rect">
            <a:avLst/>
          </a:prstGeom>
          <a:noFill/>
          <a:ln/>
        </p:spPr>
        <p:txBody>
          <a:bodyPr wrap="square" lIns="0" tIns="0" rIns="0" bIns="0" rtlCol="0" anchor="ctr"/>
          <a:lstStyle/>
          <a:p>
            <a:pPr marL="0" indent="0">
              <a:buNone/>
            </a:pPr>
            <a:r>
              <a:rPr lang="en-US" sz="1150" b="1">
                <a:solidFill>
                  <a:srgbClr val="111827"/>
                </a:solidFill>
              </a:rPr>
              <a:t>Vacuity proved</a:t>
            </a:r>
            <a:endParaRPr lang="en-US" sz="1150"/>
          </a:p>
        </p:txBody>
      </p:sp>
      <p:sp>
        <p:nvSpPr>
          <p:cNvPr id="18" name="Text 16"/>
          <p:cNvSpPr/>
          <p:nvPr/>
        </p:nvSpPr>
        <p:spPr>
          <a:xfrm>
            <a:off x="3794760" y="3300984"/>
            <a:ext cx="3474720" cy="347472"/>
          </a:xfrm>
          <a:prstGeom prst="rect">
            <a:avLst/>
          </a:prstGeom>
          <a:noFill/>
          <a:ln/>
        </p:spPr>
        <p:txBody>
          <a:bodyPr wrap="square" lIns="127" tIns="127" rIns="127" bIns="127" rtlCol="0" anchor="ctr">
            <a:normAutofit/>
          </a:bodyPr>
          <a:lstStyle/>
          <a:p>
            <a:pPr marL="0" indent="0">
              <a:buNone/>
            </a:pPr>
            <a:r>
              <a:rPr lang="en-US" sz="1120">
                <a:solidFill>
                  <a:srgbClr val="667085"/>
                </a:solidFill>
              </a:rPr>
              <a:t>A rule’s trigger is unreachable</a:t>
            </a:r>
            <a:endParaRPr lang="en-US" sz="1120"/>
          </a:p>
        </p:txBody>
      </p:sp>
      <p:sp>
        <p:nvSpPr>
          <p:cNvPr id="19" name="Text 17"/>
          <p:cNvSpPr/>
          <p:nvPr/>
        </p:nvSpPr>
        <p:spPr>
          <a:xfrm>
            <a:off x="7589520" y="3300984"/>
            <a:ext cx="3520440" cy="347472"/>
          </a:xfrm>
          <a:prstGeom prst="rect">
            <a:avLst/>
          </a:prstGeom>
          <a:noFill/>
          <a:ln/>
        </p:spPr>
        <p:txBody>
          <a:bodyPr wrap="square" lIns="127" tIns="127" rIns="127" bIns="127" rtlCol="0" anchor="ctr">
            <a:normAutofit/>
          </a:bodyPr>
          <a:lstStyle/>
          <a:p>
            <a:pPr marL="0" indent="0">
              <a:buNone/>
            </a:pPr>
            <a:r>
              <a:rPr lang="en-US" sz="1120">
                <a:solidFill>
                  <a:srgbClr val="4E84C4"/>
                </a:solidFill>
              </a:rPr>
              <a:t>Remove or repair dead rule</a:t>
            </a:r>
            <a:endParaRPr lang="en-US" sz="1120"/>
          </a:p>
        </p:txBody>
      </p:sp>
      <p:sp>
        <p:nvSpPr>
          <p:cNvPr id="20" name="Shape 18"/>
          <p:cNvSpPr/>
          <p:nvPr/>
        </p:nvSpPr>
        <p:spPr>
          <a:xfrm>
            <a:off x="594360" y="3840480"/>
            <a:ext cx="10972800" cy="685800"/>
          </a:xfrm>
          <a:prstGeom prst="rect">
            <a:avLst/>
          </a:prstGeom>
          <a:solidFill>
            <a:srgbClr val="F8FAFC"/>
          </a:solidFill>
          <a:ln w="7620">
            <a:solidFill>
              <a:srgbClr val="DCE5EE"/>
            </a:solidFill>
            <a:prstDash val="solid"/>
          </a:ln>
        </p:spPr>
      </p:sp>
      <p:sp>
        <p:nvSpPr>
          <p:cNvPr id="21" name="Text 19"/>
          <p:cNvSpPr/>
          <p:nvPr/>
        </p:nvSpPr>
        <p:spPr>
          <a:xfrm>
            <a:off x="777240" y="4032504"/>
            <a:ext cx="2743200" cy="228600"/>
          </a:xfrm>
          <a:prstGeom prst="rect">
            <a:avLst/>
          </a:prstGeom>
          <a:noFill/>
          <a:ln/>
        </p:spPr>
        <p:txBody>
          <a:bodyPr wrap="square" lIns="0" tIns="0" rIns="0" bIns="0" rtlCol="0" anchor="ctr"/>
          <a:lstStyle/>
          <a:p>
            <a:pPr marL="0" indent="0">
              <a:buNone/>
            </a:pPr>
            <a:r>
              <a:rPr lang="en-US" sz="1150" b="1">
                <a:solidFill>
                  <a:srgbClr val="111827"/>
                </a:solidFill>
              </a:rPr>
              <a:t>Coverage witness found</a:t>
            </a:r>
            <a:endParaRPr lang="en-US" sz="1150"/>
          </a:p>
        </p:txBody>
      </p:sp>
      <p:sp>
        <p:nvSpPr>
          <p:cNvPr id="22" name="Text 20"/>
          <p:cNvSpPr/>
          <p:nvPr/>
        </p:nvSpPr>
        <p:spPr>
          <a:xfrm>
            <a:off x="3794760" y="3986784"/>
            <a:ext cx="3474720" cy="347472"/>
          </a:xfrm>
          <a:prstGeom prst="rect">
            <a:avLst/>
          </a:prstGeom>
          <a:noFill/>
          <a:ln/>
        </p:spPr>
        <p:txBody>
          <a:bodyPr wrap="square" lIns="127" tIns="127" rIns="127" bIns="127" rtlCol="0" anchor="ctr">
            <a:normAutofit/>
          </a:bodyPr>
          <a:lstStyle/>
          <a:p>
            <a:pPr marL="0" indent="0">
              <a:buNone/>
            </a:pPr>
            <a:r>
              <a:rPr lang="en-US" sz="1120">
                <a:solidFill>
                  <a:srgbClr val="667085"/>
                </a:solidFill>
              </a:rPr>
              <a:t>An input or state is unhandled</a:t>
            </a:r>
            <a:endParaRPr lang="en-US" sz="1120"/>
          </a:p>
        </p:txBody>
      </p:sp>
      <p:sp>
        <p:nvSpPr>
          <p:cNvPr id="23" name="Text 21"/>
          <p:cNvSpPr/>
          <p:nvPr/>
        </p:nvSpPr>
        <p:spPr>
          <a:xfrm>
            <a:off x="7589520" y="3986784"/>
            <a:ext cx="3520440" cy="347472"/>
          </a:xfrm>
          <a:prstGeom prst="rect">
            <a:avLst/>
          </a:prstGeom>
          <a:noFill/>
          <a:ln/>
        </p:spPr>
        <p:txBody>
          <a:bodyPr wrap="square" lIns="127" tIns="127" rIns="127" bIns="127" rtlCol="0" anchor="ctr">
            <a:normAutofit/>
          </a:bodyPr>
          <a:lstStyle/>
          <a:p>
            <a:pPr marL="0" indent="0">
              <a:buNone/>
            </a:pPr>
            <a:r>
              <a:rPr lang="en-US" sz="1120">
                <a:solidFill>
                  <a:srgbClr val="4E84C4"/>
                </a:solidFill>
              </a:rPr>
              <a:t>Add missing behavior</a:t>
            </a:r>
            <a:endParaRPr lang="en-US" sz="1120"/>
          </a:p>
        </p:txBody>
      </p:sp>
      <p:sp>
        <p:nvSpPr>
          <p:cNvPr id="24" name="Shape 22"/>
          <p:cNvSpPr/>
          <p:nvPr/>
        </p:nvSpPr>
        <p:spPr>
          <a:xfrm>
            <a:off x="594360" y="4526280"/>
            <a:ext cx="10972800" cy="685800"/>
          </a:xfrm>
          <a:prstGeom prst="rect">
            <a:avLst/>
          </a:prstGeom>
          <a:solidFill>
            <a:srgbClr val="FFFFFF"/>
          </a:solidFill>
          <a:ln w="7620">
            <a:solidFill>
              <a:srgbClr val="DCE5EE"/>
            </a:solidFill>
            <a:prstDash val="solid"/>
          </a:ln>
        </p:spPr>
      </p:sp>
      <p:sp>
        <p:nvSpPr>
          <p:cNvPr id="25" name="Text 23"/>
          <p:cNvSpPr/>
          <p:nvPr/>
        </p:nvSpPr>
        <p:spPr>
          <a:xfrm>
            <a:off x="777240" y="4718304"/>
            <a:ext cx="2743200" cy="228600"/>
          </a:xfrm>
          <a:prstGeom prst="rect">
            <a:avLst/>
          </a:prstGeom>
          <a:noFill/>
          <a:ln/>
        </p:spPr>
        <p:txBody>
          <a:bodyPr wrap="square" lIns="0" tIns="0" rIns="0" bIns="0" rtlCol="0" anchor="ctr"/>
          <a:lstStyle/>
          <a:p>
            <a:pPr marL="0" indent="0">
              <a:buNone/>
            </a:pPr>
            <a:r>
              <a:rPr lang="en-US" sz="1150" b="1">
                <a:solidFill>
                  <a:srgbClr val="111827"/>
                </a:solidFill>
              </a:rPr>
              <a:t>Cycle / deadlock found</a:t>
            </a:r>
            <a:endParaRPr lang="en-US" sz="1150"/>
          </a:p>
        </p:txBody>
      </p:sp>
      <p:sp>
        <p:nvSpPr>
          <p:cNvPr id="26" name="Text 24"/>
          <p:cNvSpPr/>
          <p:nvPr/>
        </p:nvSpPr>
        <p:spPr>
          <a:xfrm>
            <a:off x="3794760" y="4672584"/>
            <a:ext cx="3474720" cy="347472"/>
          </a:xfrm>
          <a:prstGeom prst="rect">
            <a:avLst/>
          </a:prstGeom>
          <a:noFill/>
          <a:ln/>
        </p:spPr>
        <p:txBody>
          <a:bodyPr wrap="square" lIns="127" tIns="127" rIns="127" bIns="127" rtlCol="0" anchor="ctr">
            <a:normAutofit/>
          </a:bodyPr>
          <a:lstStyle/>
          <a:p>
            <a:pPr marL="0" indent="0">
              <a:buNone/>
            </a:pPr>
            <a:r>
              <a:rPr lang="en-US" sz="1120">
                <a:solidFill>
                  <a:srgbClr val="667085"/>
                </a:solidFill>
              </a:rPr>
              <a:t>System can enter a non-progressing loop or state</a:t>
            </a:r>
            <a:endParaRPr lang="en-US" sz="1120"/>
          </a:p>
        </p:txBody>
      </p:sp>
      <p:sp>
        <p:nvSpPr>
          <p:cNvPr id="27" name="Text 25"/>
          <p:cNvSpPr/>
          <p:nvPr/>
        </p:nvSpPr>
        <p:spPr>
          <a:xfrm>
            <a:off x="7589520" y="4672584"/>
            <a:ext cx="3520440" cy="347472"/>
          </a:xfrm>
          <a:prstGeom prst="rect">
            <a:avLst/>
          </a:prstGeom>
          <a:noFill/>
          <a:ln/>
        </p:spPr>
        <p:txBody>
          <a:bodyPr wrap="square" lIns="127" tIns="127" rIns="127" bIns="127" rtlCol="0" anchor="ctr">
            <a:normAutofit/>
          </a:bodyPr>
          <a:lstStyle/>
          <a:p>
            <a:pPr marL="0" indent="0">
              <a:buNone/>
            </a:pPr>
            <a:r>
              <a:rPr lang="en-US" sz="1120">
                <a:solidFill>
                  <a:srgbClr val="4E84C4"/>
                </a:solidFill>
              </a:rPr>
              <a:t>Change ordering or recovery rules</a:t>
            </a:r>
            <a:endParaRPr lang="en-US" sz="1120"/>
          </a:p>
        </p:txBody>
      </p:sp>
      <p:sp>
        <p:nvSpPr>
          <p:cNvPr id="28" name="Shape 26"/>
          <p:cNvSpPr/>
          <p:nvPr/>
        </p:nvSpPr>
        <p:spPr>
          <a:xfrm>
            <a:off x="594360" y="5212080"/>
            <a:ext cx="10972800" cy="685800"/>
          </a:xfrm>
          <a:prstGeom prst="rect">
            <a:avLst/>
          </a:prstGeom>
          <a:solidFill>
            <a:srgbClr val="F8FAFC"/>
          </a:solidFill>
          <a:ln w="7620">
            <a:solidFill>
              <a:srgbClr val="DCE5EE"/>
            </a:solidFill>
            <a:prstDash val="solid"/>
          </a:ln>
        </p:spPr>
      </p:sp>
      <p:sp>
        <p:nvSpPr>
          <p:cNvPr id="29" name="Text 27"/>
          <p:cNvSpPr/>
          <p:nvPr/>
        </p:nvSpPr>
        <p:spPr>
          <a:xfrm>
            <a:off x="777240" y="5404104"/>
            <a:ext cx="2743200" cy="228600"/>
          </a:xfrm>
          <a:prstGeom prst="rect">
            <a:avLst/>
          </a:prstGeom>
          <a:noFill/>
          <a:ln/>
        </p:spPr>
        <p:txBody>
          <a:bodyPr wrap="square" lIns="0" tIns="0" rIns="0" bIns="0" rtlCol="0" anchor="ctr"/>
          <a:lstStyle/>
          <a:p>
            <a:pPr marL="0" indent="0">
              <a:buNone/>
            </a:pPr>
            <a:r>
              <a:rPr lang="en-US" sz="1150" b="1">
                <a:solidFill>
                  <a:srgbClr val="E8871E"/>
                </a:solidFill>
              </a:rPr>
              <a:t>Proof not established</a:t>
            </a:r>
            <a:endParaRPr lang="en-US" sz="1150"/>
          </a:p>
        </p:txBody>
      </p:sp>
      <p:sp>
        <p:nvSpPr>
          <p:cNvPr id="30" name="Text 28"/>
          <p:cNvSpPr/>
          <p:nvPr/>
        </p:nvSpPr>
        <p:spPr>
          <a:xfrm>
            <a:off x="3794760" y="5358384"/>
            <a:ext cx="3474720" cy="347472"/>
          </a:xfrm>
          <a:prstGeom prst="rect">
            <a:avLst/>
          </a:prstGeom>
          <a:noFill/>
          <a:ln/>
        </p:spPr>
        <p:txBody>
          <a:bodyPr wrap="square" lIns="127" tIns="127" rIns="127" bIns="127" rtlCol="0" anchor="ctr">
            <a:normAutofit/>
          </a:bodyPr>
          <a:lstStyle/>
          <a:p>
            <a:pPr marL="0" indent="0">
              <a:buNone/>
            </a:pPr>
            <a:r>
              <a:rPr lang="en-US" sz="1120">
                <a:solidFill>
                  <a:srgbClr val="667085"/>
                </a:solidFill>
              </a:rPr>
              <a:t>Insufficient facts, wrong mapping or property may not hold</a:t>
            </a:r>
            <a:endParaRPr lang="en-US" sz="1120"/>
          </a:p>
        </p:txBody>
      </p:sp>
      <p:sp>
        <p:nvSpPr>
          <p:cNvPr id="31" name="Text 29"/>
          <p:cNvSpPr/>
          <p:nvPr/>
        </p:nvSpPr>
        <p:spPr>
          <a:xfrm>
            <a:off x="7589520" y="5358384"/>
            <a:ext cx="3520440" cy="347472"/>
          </a:xfrm>
          <a:prstGeom prst="rect">
            <a:avLst/>
          </a:prstGeom>
          <a:noFill/>
          <a:ln/>
        </p:spPr>
        <p:txBody>
          <a:bodyPr wrap="square" lIns="127" tIns="127" rIns="127" bIns="127" rtlCol="0" anchor="ctr">
            <a:normAutofit/>
          </a:bodyPr>
          <a:lstStyle/>
          <a:p>
            <a:pPr marL="0" indent="0">
              <a:buNone/>
            </a:pPr>
            <a:r>
              <a:rPr lang="en-US" sz="1120">
                <a:solidFill>
                  <a:srgbClr val="4E84C4"/>
                </a:solidFill>
              </a:rPr>
              <a:t>Return to extraction and inspect premises</a:t>
            </a:r>
            <a:endParaRPr lang="en-US" sz="1120"/>
          </a:p>
        </p:txBody>
      </p:sp>
      <p:sp>
        <p:nvSpPr>
          <p:cNvPr id="32" name="Slide Number Placeholder 0"/>
          <p:cNvSpPr>
            <a:spLocks noGrp="1"/>
          </p:cNvSpPr>
          <p:nvPr>
            <p:ph type="sldNum" sz="quarter" idx="4294967295"/>
          </p:nvPr>
        </p:nvSpPr>
        <p:spPr>
          <a:xfrm>
            <a:off x="10652760" y="6510528"/>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77777"/>
                </a:solidFill>
              </a:defRPr>
            </a:lvl1pPr>
          </a:lstStyle>
          <a:p>
            <a:pPr algn="ct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7" name="Diagram 216">
            <a:extLst>
              <a:ext uri="{FF2B5EF4-FFF2-40B4-BE49-F238E27FC236}">
                <a16:creationId xmlns:a16="http://schemas.microsoft.com/office/drawing/2014/main" id="{D4090EA3-3730-438A-573B-DFB5EDB4CBA6}"/>
              </a:ext>
            </a:extLst>
          </p:cNvPr>
          <p:cNvGraphicFramePr/>
          <p:nvPr>
            <p:extLst>
              <p:ext uri="{D42A27DB-BD31-4B8C-83A1-F6EECF244321}">
                <p14:modId xmlns:p14="http://schemas.microsoft.com/office/powerpoint/2010/main" val="2653757440"/>
              </p:ext>
            </p:extLst>
          </p:nvPr>
        </p:nvGraphicFramePr>
        <p:xfrm>
          <a:off x="0" y="926699"/>
          <a:ext cx="12194405" cy="5718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3" name="Text 0">
            <a:extLst>
              <a:ext uri="{FF2B5EF4-FFF2-40B4-BE49-F238E27FC236}">
                <a16:creationId xmlns:a16="http://schemas.microsoft.com/office/drawing/2014/main" id="{3C7FB2F9-8B5A-6D8A-EC7A-B1B147BA0106}"/>
              </a:ext>
            </a:extLst>
          </p:cNvPr>
          <p:cNvSpPr/>
          <p:nvPr/>
        </p:nvSpPr>
        <p:spPr>
          <a:xfrm>
            <a:off x="475488" y="320040"/>
            <a:ext cx="11541760" cy="1224280"/>
          </a:xfrm>
          <a:prstGeom prst="rect">
            <a:avLst/>
          </a:prstGeom>
          <a:noFill/>
          <a:ln/>
        </p:spPr>
        <p:txBody>
          <a:bodyPr wrap="square" lIns="0" tIns="0" rIns="0" bIns="0" rtlCol="0" anchor="ctr"/>
          <a:lstStyle/>
          <a:p>
            <a:pPr marL="0" indent="0">
              <a:buNone/>
            </a:pPr>
            <a:endParaRPr lang="en-US" sz="3600" b="1">
              <a:solidFill>
                <a:srgbClr val="111827"/>
              </a:solidFill>
              <a:latin typeface="Calibri Light"/>
              <a:ea typeface="Calibri Light"/>
              <a:cs typeface="Calibri Light"/>
            </a:endParaRPr>
          </a:p>
        </p:txBody>
      </p:sp>
      <p:sp>
        <p:nvSpPr>
          <p:cNvPr id="37" name="Text 1">
            <a:extLst>
              <a:ext uri="{FF2B5EF4-FFF2-40B4-BE49-F238E27FC236}">
                <a16:creationId xmlns:a16="http://schemas.microsoft.com/office/drawing/2014/main" id="{EA19B593-624B-3A23-ECEE-FA22094CED3E}"/>
              </a:ext>
            </a:extLst>
          </p:cNvPr>
          <p:cNvSpPr/>
          <p:nvPr/>
        </p:nvSpPr>
        <p:spPr>
          <a:xfrm>
            <a:off x="-4064" y="900176"/>
            <a:ext cx="10881360" cy="817880"/>
          </a:xfrm>
          <a:prstGeom prst="rect">
            <a:avLst/>
          </a:prstGeom>
          <a:noFill/>
          <a:ln/>
        </p:spPr>
        <p:txBody>
          <a:bodyPr wrap="square" lIns="0" tIns="0" rIns="0" bIns="0" rtlCol="0" anchor="ctr"/>
          <a:lstStyle/>
          <a:p>
            <a:r>
              <a:rPr lang="en-US" sz="2800" b="1" i="0" u="none" strike="noStrike" baseline="0">
                <a:solidFill>
                  <a:schemeClr val="tx2"/>
                </a:solidFill>
                <a:latin typeface="Segoe UI"/>
              </a:rPr>
              <a:t>Trustworthy Dual-Path</a:t>
            </a:r>
            <a:r>
              <a:rPr lang="en-US" sz="2800" b="1" i="0">
                <a:solidFill>
                  <a:schemeClr val="tx2"/>
                </a:solidFill>
                <a:latin typeface="Segoe UI"/>
                <a:ea typeface="Segoe UI"/>
                <a:cs typeface="Segoe UI"/>
              </a:rPr>
              <a:t>​</a:t>
            </a:r>
            <a:r>
              <a:rPr lang="en-US" sz="2800" b="1">
                <a:solidFill>
                  <a:schemeClr val="tx2"/>
                </a:solidFill>
                <a:latin typeface="Segoe UI"/>
              </a:rPr>
              <a:t> </a:t>
            </a:r>
            <a:r>
              <a:rPr lang="en-US" sz="2800" b="1" i="0" u="none" strike="noStrike" baseline="0">
                <a:solidFill>
                  <a:schemeClr val="tx2"/>
                </a:solidFill>
                <a:latin typeface="Segoe UI"/>
              </a:rPr>
              <a:t>Verification Framework</a:t>
            </a:r>
            <a:r>
              <a:rPr lang="en-US" sz="2800" b="1" i="0">
                <a:solidFill>
                  <a:schemeClr val="tx2"/>
                </a:solidFill>
                <a:latin typeface="Segoe UI"/>
                <a:ea typeface="Segoe UI"/>
                <a:cs typeface="Segoe UI"/>
              </a:rPr>
              <a:t>​</a:t>
            </a:r>
            <a:endParaRPr lang="en-US" sz="2800" b="1">
              <a:solidFill>
                <a:schemeClr val="tx2"/>
              </a:solidFill>
              <a:ea typeface="Calibri Light"/>
              <a:cs typeface="Calibri Light"/>
            </a:endParaRPr>
          </a:p>
        </p:txBody>
      </p:sp>
      <p:sp>
        <p:nvSpPr>
          <p:cNvPr id="2962" name="Text 0">
            <a:extLst>
              <a:ext uri="{FF2B5EF4-FFF2-40B4-BE49-F238E27FC236}">
                <a16:creationId xmlns:a16="http://schemas.microsoft.com/office/drawing/2014/main" id="{EC601699-27F1-BC51-CADB-23BD77FD39B6}"/>
              </a:ext>
            </a:extLst>
          </p:cNvPr>
          <p:cNvSpPr/>
          <p:nvPr/>
        </p:nvSpPr>
        <p:spPr>
          <a:xfrm>
            <a:off x="241808" y="391160"/>
            <a:ext cx="1106424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4400" b="1">
                <a:solidFill>
                  <a:schemeClr val="tx2"/>
                </a:solidFill>
                <a:ea typeface="Calibri Light"/>
                <a:cs typeface="Calibri Light"/>
              </a:rPr>
              <a:t>Strengths</a:t>
            </a:r>
          </a:p>
        </p:txBody>
      </p:sp>
      <p:sp>
        <p:nvSpPr>
          <p:cNvPr id="3" name="Freeform 2">
            <a:extLst>
              <a:ext uri="{FF2B5EF4-FFF2-40B4-BE49-F238E27FC236}">
                <a16:creationId xmlns:a16="http://schemas.microsoft.com/office/drawing/2014/main" id="{57E0FE58-4C5C-1CEB-9643-80235EB31305}"/>
              </a:ext>
            </a:extLst>
          </p:cNvPr>
          <p:cNvSpPr/>
          <p:nvPr/>
        </p:nvSpPr>
        <p:spPr>
          <a:xfrm>
            <a:off x="5142104" y="6380991"/>
            <a:ext cx="1903592" cy="476247"/>
          </a:xfrm>
          <a:custGeom>
            <a:avLst/>
            <a:gdLst/>
            <a:ahLst/>
            <a:cxnLst/>
            <a:rect l="l" t="t" r="r" b="b"/>
            <a:pathLst>
              <a:path w="2855388" h="714371">
                <a:moveTo>
                  <a:pt x="0" y="0"/>
                </a:moveTo>
                <a:lnTo>
                  <a:pt x="2855388" y="0"/>
                </a:lnTo>
                <a:lnTo>
                  <a:pt x="2855388" y="714371"/>
                </a:lnTo>
                <a:lnTo>
                  <a:pt x="0" y="714371"/>
                </a:lnTo>
                <a:lnTo>
                  <a:pt x="0" y="0"/>
                </a:lnTo>
                <a:close/>
              </a:path>
            </a:pathLst>
          </a:custGeom>
          <a:blipFill>
            <a:blip r:embed="rId7"/>
            <a:stretch>
              <a:fillRect t="-1162" b="-1162"/>
            </a:stretch>
          </a:blipFill>
        </p:spPr>
      </p:sp>
    </p:spTree>
    <p:extLst>
      <p:ext uri="{BB962C8B-B14F-4D97-AF65-F5344CB8AC3E}">
        <p14:creationId xmlns:p14="http://schemas.microsoft.com/office/powerpoint/2010/main" val="470441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87452AC-3E4F-3623-4A37-B05D2C9B5FD0}"/>
              </a:ext>
            </a:extLst>
          </p:cNvPr>
          <p:cNvPicPr>
            <a:picLocks noChangeAspect="1"/>
          </p:cNvPicPr>
          <p:nvPr/>
        </p:nvPicPr>
        <p:blipFill>
          <a:blip r:embed="rId2"/>
          <a:stretch>
            <a:fillRect/>
          </a:stretch>
        </p:blipFill>
        <p:spPr>
          <a:xfrm>
            <a:off x="0" y="120314"/>
            <a:ext cx="12191999" cy="6282205"/>
          </a:xfrm>
          <a:prstGeom prst="rect">
            <a:avLst/>
          </a:prstGeom>
        </p:spPr>
      </p:pic>
      <p:sp>
        <p:nvSpPr>
          <p:cNvPr id="4" name="Freeform 2">
            <a:extLst>
              <a:ext uri="{FF2B5EF4-FFF2-40B4-BE49-F238E27FC236}">
                <a16:creationId xmlns:a16="http://schemas.microsoft.com/office/drawing/2014/main" id="{FD51AA3D-6140-50C8-C303-4E75C6F6132C}"/>
              </a:ext>
            </a:extLst>
          </p:cNvPr>
          <p:cNvSpPr/>
          <p:nvPr/>
        </p:nvSpPr>
        <p:spPr>
          <a:xfrm>
            <a:off x="5142104" y="6380991"/>
            <a:ext cx="1903592" cy="476247"/>
          </a:xfrm>
          <a:custGeom>
            <a:avLst/>
            <a:gdLst/>
            <a:ahLst/>
            <a:cxnLst/>
            <a:rect l="l" t="t" r="r" b="b"/>
            <a:pathLst>
              <a:path w="2855388" h="714371">
                <a:moveTo>
                  <a:pt x="0" y="0"/>
                </a:moveTo>
                <a:lnTo>
                  <a:pt x="2855388" y="0"/>
                </a:lnTo>
                <a:lnTo>
                  <a:pt x="2855388" y="714371"/>
                </a:lnTo>
                <a:lnTo>
                  <a:pt x="0" y="714371"/>
                </a:lnTo>
                <a:lnTo>
                  <a:pt x="0" y="0"/>
                </a:lnTo>
                <a:close/>
              </a:path>
            </a:pathLst>
          </a:custGeom>
          <a:blipFill>
            <a:blip r:embed="rId3"/>
            <a:stretch>
              <a:fillRect t="-1162" b="-1162"/>
            </a:stretch>
          </a:blipFill>
        </p:spPr>
      </p:sp>
    </p:spTree>
    <p:extLst>
      <p:ext uri="{BB962C8B-B14F-4D97-AF65-F5344CB8AC3E}">
        <p14:creationId xmlns:p14="http://schemas.microsoft.com/office/powerpoint/2010/main" val="7022070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 0">
            <a:extLst>
              <a:ext uri="{FF2B5EF4-FFF2-40B4-BE49-F238E27FC236}">
                <a16:creationId xmlns:a16="http://schemas.microsoft.com/office/drawing/2014/main" id="{CCE720F8-3C73-0AEE-8E08-B5D98ED51173}"/>
              </a:ext>
            </a:extLst>
          </p:cNvPr>
          <p:cNvSpPr/>
          <p:nvPr/>
        </p:nvSpPr>
        <p:spPr>
          <a:xfrm>
            <a:off x="475488" y="320040"/>
            <a:ext cx="11261795" cy="305365"/>
          </a:xfrm>
          <a:prstGeom prst="rect">
            <a:avLst/>
          </a:prstGeom>
          <a:noFill/>
          <a:ln/>
        </p:spPr>
        <p:txBody>
          <a:bodyPr wrap="square" lIns="0" tIns="0" rIns="0" bIns="0" rtlCol="0" anchor="ctr"/>
          <a:lstStyle/>
          <a:p>
            <a:pPr marL="0" indent="0">
              <a:buNone/>
            </a:pPr>
            <a:r>
              <a:rPr lang="en-US" sz="3200" b="1">
                <a:solidFill>
                  <a:schemeClr val="tx2"/>
                </a:solidFill>
                <a:latin typeface="Calibri Light"/>
                <a:ea typeface="Calibri Light"/>
                <a:cs typeface="Calibri Light"/>
              </a:rPr>
              <a:t>Future direction: formal verification as a trust layer for LLM systems</a:t>
            </a:r>
            <a:endParaRPr lang="en-US" sz="3200">
              <a:solidFill>
                <a:schemeClr val="tx2"/>
              </a:solidFill>
              <a:latin typeface="Calibri Light"/>
              <a:ea typeface="Calibri Light"/>
              <a:cs typeface="Calibri Light"/>
            </a:endParaRPr>
          </a:p>
        </p:txBody>
      </p:sp>
      <p:sp>
        <p:nvSpPr>
          <p:cNvPr id="160" name="Text 1">
            <a:extLst>
              <a:ext uri="{FF2B5EF4-FFF2-40B4-BE49-F238E27FC236}">
                <a16:creationId xmlns:a16="http://schemas.microsoft.com/office/drawing/2014/main" id="{C65D3C3D-9884-F215-050C-0B3794838864}"/>
              </a:ext>
            </a:extLst>
          </p:cNvPr>
          <p:cNvSpPr/>
          <p:nvPr/>
        </p:nvSpPr>
        <p:spPr>
          <a:xfrm>
            <a:off x="493776" y="859536"/>
            <a:ext cx="10881360" cy="320040"/>
          </a:xfrm>
          <a:prstGeom prst="rect">
            <a:avLst/>
          </a:prstGeom>
          <a:noFill/>
          <a:ln/>
        </p:spPr>
        <p:txBody>
          <a:bodyPr wrap="square" lIns="0" tIns="0" rIns="0" bIns="0" rtlCol="0" anchor="ctr"/>
          <a:lstStyle/>
          <a:p>
            <a:pPr marL="0" indent="0">
              <a:buNone/>
            </a:pPr>
            <a:r>
              <a:rPr lang="en-US">
                <a:solidFill>
                  <a:schemeClr val="accent1">
                    <a:lumMod val="49000"/>
                  </a:schemeClr>
                </a:solidFill>
              </a:rPr>
              <a:t>The same pattern can validate generated reasoning, decisions and transformations beyond SDLC documents.</a:t>
            </a:r>
            <a:endParaRPr lang="en-US">
              <a:solidFill>
                <a:schemeClr val="accent1">
                  <a:lumMod val="49000"/>
                </a:schemeClr>
              </a:solidFill>
              <a:ea typeface="Calibri Light"/>
              <a:cs typeface="Calibri Light"/>
            </a:endParaRPr>
          </a:p>
        </p:txBody>
      </p:sp>
      <p:graphicFrame>
        <p:nvGraphicFramePr>
          <p:cNvPr id="332" name="Diagram 331">
            <a:extLst>
              <a:ext uri="{FF2B5EF4-FFF2-40B4-BE49-F238E27FC236}">
                <a16:creationId xmlns:a16="http://schemas.microsoft.com/office/drawing/2014/main" id="{4CCFDFCC-2A72-17DE-0270-44650509CD95}"/>
              </a:ext>
            </a:extLst>
          </p:cNvPr>
          <p:cNvGraphicFramePr/>
          <p:nvPr>
            <p:extLst>
              <p:ext uri="{D42A27DB-BD31-4B8C-83A1-F6EECF244321}">
                <p14:modId xmlns:p14="http://schemas.microsoft.com/office/powerpoint/2010/main" val="1983803888"/>
              </p:ext>
            </p:extLst>
          </p:nvPr>
        </p:nvGraphicFramePr>
        <p:xfrm>
          <a:off x="479778" y="2164644"/>
          <a:ext cx="11608740" cy="365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reeform 2">
            <a:extLst>
              <a:ext uri="{FF2B5EF4-FFF2-40B4-BE49-F238E27FC236}">
                <a16:creationId xmlns:a16="http://schemas.microsoft.com/office/drawing/2014/main" id="{17EA9E9B-4826-5D44-6B73-320DC7123B32}"/>
              </a:ext>
            </a:extLst>
          </p:cNvPr>
          <p:cNvSpPr/>
          <p:nvPr/>
        </p:nvSpPr>
        <p:spPr>
          <a:xfrm>
            <a:off x="5142104" y="6380991"/>
            <a:ext cx="1903592" cy="476247"/>
          </a:xfrm>
          <a:custGeom>
            <a:avLst/>
            <a:gdLst/>
            <a:ahLst/>
            <a:cxnLst/>
            <a:rect l="l" t="t" r="r" b="b"/>
            <a:pathLst>
              <a:path w="2855388" h="714371">
                <a:moveTo>
                  <a:pt x="0" y="0"/>
                </a:moveTo>
                <a:lnTo>
                  <a:pt x="2855388" y="0"/>
                </a:lnTo>
                <a:lnTo>
                  <a:pt x="2855388" y="714371"/>
                </a:lnTo>
                <a:lnTo>
                  <a:pt x="0" y="714371"/>
                </a:lnTo>
                <a:lnTo>
                  <a:pt x="0" y="0"/>
                </a:lnTo>
                <a:close/>
              </a:path>
            </a:pathLst>
          </a:custGeom>
          <a:blipFill>
            <a:blip r:embed="rId7"/>
            <a:stretch>
              <a:fillRect t="-1162" b="-1162"/>
            </a:stretch>
          </a:blipFill>
        </p:spPr>
      </p:sp>
    </p:spTree>
    <p:extLst>
      <p:ext uri="{BB962C8B-B14F-4D97-AF65-F5344CB8AC3E}">
        <p14:creationId xmlns:p14="http://schemas.microsoft.com/office/powerpoint/2010/main" val="26390806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6">
    <p:bg>
      <p:bgPr>
        <a:solidFill>
          <a:srgbClr val="0C1B33"/>
        </a:solidFill>
        <a:effectLst/>
      </p:bgPr>
    </p:bg>
    <p:spTree>
      <p:nvGrpSpPr>
        <p:cNvPr id="1" name=""/>
        <p:cNvGrpSpPr/>
        <p:nvPr/>
      </p:nvGrpSpPr>
      <p:grpSpPr>
        <a:xfrm>
          <a:off x="0" y="0"/>
          <a:ext cx="1" cy="1"/>
          <a:chOff x="0" y="0"/>
          <a:chExt cx="1" cy="1"/>
        </a:xfrm>
      </p:grpSpPr>
      <p:sp>
        <p:nvSpPr>
          <p:cNvPr id="2" name="Shape 0"/>
          <p:cNvSpPr/>
          <p:nvPr/>
        </p:nvSpPr>
        <p:spPr>
          <a:xfrm>
            <a:off x="0" y="0"/>
            <a:ext cx="12191695" cy="100584"/>
          </a:xfrm>
          <a:prstGeom prst="rect">
            <a:avLst/>
          </a:prstGeom>
          <a:solidFill>
            <a:srgbClr val="FBB034"/>
          </a:solidFill>
          <a:ln w="12700">
            <a:solidFill>
              <a:srgbClr val="FBB034"/>
            </a:solidFill>
            <a:prstDash val="solid"/>
          </a:ln>
        </p:spPr>
      </p:sp>
      <p:sp>
        <p:nvSpPr>
          <p:cNvPr id="3" name="Text 1"/>
          <p:cNvSpPr/>
          <p:nvPr/>
        </p:nvSpPr>
        <p:spPr>
          <a:xfrm>
            <a:off x="731520" y="914400"/>
            <a:ext cx="6400800" cy="2103120"/>
          </a:xfrm>
          <a:prstGeom prst="rect">
            <a:avLst/>
          </a:prstGeom>
          <a:noFill/>
          <a:ln/>
        </p:spPr>
        <p:txBody>
          <a:bodyPr wrap="square" lIns="0" tIns="0" rIns="0" bIns="0" rtlCol="0" anchor="ctr"/>
          <a:lstStyle/>
          <a:p>
            <a:pPr marL="0" indent="0">
              <a:buNone/>
            </a:pPr>
            <a:r>
              <a:rPr lang="en-US" sz="3600" b="1">
                <a:solidFill>
                  <a:srgbClr val="FFFFFF"/>
                </a:solidFill>
              </a:rPr>
              <a:t>Make requirements</a:t>
            </a:r>
            <a:endParaRPr lang="en-US" sz="3600"/>
          </a:p>
          <a:p>
            <a:pPr marL="0" indent="0">
              <a:buNone/>
            </a:pPr>
            <a:r>
              <a:rPr lang="en-US" sz="3600" b="1">
                <a:solidFill>
                  <a:srgbClr val="FFFFFF"/>
                </a:solidFill>
              </a:rPr>
              <a:t>provable before making</a:t>
            </a:r>
            <a:endParaRPr lang="en-US" sz="3600"/>
          </a:p>
          <a:p>
            <a:pPr marL="0" indent="0">
              <a:buNone/>
            </a:pPr>
            <a:r>
              <a:rPr lang="en-US" sz="3600" b="1">
                <a:solidFill>
                  <a:srgbClr val="FFFFFF"/>
                </a:solidFill>
              </a:rPr>
              <a:t>software executable.</a:t>
            </a:r>
            <a:endParaRPr lang="en-US" sz="3600"/>
          </a:p>
        </p:txBody>
      </p:sp>
      <p:sp>
        <p:nvSpPr>
          <p:cNvPr id="4" name="Text 2"/>
          <p:cNvSpPr/>
          <p:nvPr/>
        </p:nvSpPr>
        <p:spPr>
          <a:xfrm>
            <a:off x="749808" y="3337560"/>
            <a:ext cx="5943600" cy="502920"/>
          </a:xfrm>
          <a:prstGeom prst="rect">
            <a:avLst/>
          </a:prstGeom>
          <a:noFill/>
          <a:ln/>
        </p:spPr>
        <p:txBody>
          <a:bodyPr wrap="square" lIns="0" tIns="0" rIns="0" bIns="0" rtlCol="0" anchor="ctr"/>
          <a:lstStyle/>
          <a:p>
            <a:pPr marL="0" indent="0">
              <a:buNone/>
            </a:pPr>
            <a:r>
              <a:rPr lang="en-US" sz="1800">
                <a:solidFill>
                  <a:srgbClr val="D8E6F6"/>
                </a:solidFill>
              </a:rPr>
              <a:t>Clear intent. Structured formalization. Machine-checked evidence.</a:t>
            </a:r>
            <a:endParaRPr lang="en-US" sz="1800"/>
          </a:p>
        </p:txBody>
      </p:sp>
      <p:sp>
        <p:nvSpPr>
          <p:cNvPr id="5" name="Shape 3"/>
          <p:cNvSpPr/>
          <p:nvPr/>
        </p:nvSpPr>
        <p:spPr>
          <a:xfrm>
            <a:off x="749808" y="4160520"/>
            <a:ext cx="1188720" cy="1"/>
          </a:xfrm>
          <a:prstGeom prst="line">
            <a:avLst/>
          </a:prstGeom>
          <a:noFill/>
          <a:ln w="50800">
            <a:solidFill>
              <a:srgbClr val="FBB034"/>
            </a:solidFill>
            <a:prstDash val="solid"/>
          </a:ln>
        </p:spPr>
      </p:sp>
      <p:sp>
        <p:nvSpPr>
          <p:cNvPr id="6" name="Text 4"/>
          <p:cNvSpPr/>
          <p:nvPr/>
        </p:nvSpPr>
        <p:spPr>
          <a:xfrm>
            <a:off x="758952" y="4434840"/>
            <a:ext cx="3657600" cy="365760"/>
          </a:xfrm>
          <a:prstGeom prst="rect">
            <a:avLst/>
          </a:prstGeom>
          <a:noFill/>
          <a:ln/>
        </p:spPr>
        <p:txBody>
          <a:bodyPr wrap="square" lIns="0" tIns="0" rIns="0" bIns="0" rtlCol="0" anchor="ctr"/>
          <a:lstStyle/>
          <a:p>
            <a:pPr marL="0" indent="0">
              <a:buNone/>
            </a:pPr>
            <a:r>
              <a:rPr lang="en-US" sz="2000" b="1">
                <a:solidFill>
                  <a:srgbClr val="FBB034"/>
                </a:solidFill>
              </a:rPr>
              <a:t>Questions &amp; discussion</a:t>
            </a:r>
            <a:endParaRPr lang="en-US" sz="2000"/>
          </a:p>
        </p:txBody>
      </p:sp>
      <p:sp>
        <p:nvSpPr>
          <p:cNvPr id="25" name="Slide Number Placeholder 0"/>
          <p:cNvSpPr>
            <a:spLocks noGrp="1"/>
          </p:cNvSpPr>
          <p:nvPr>
            <p:ph type="sldNum" sz="quarter" idx="4294967295"/>
          </p:nvPr>
        </p:nvSpPr>
        <p:spPr>
          <a:xfrm>
            <a:off x="10652760" y="6510528"/>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77777"/>
                </a:solidFill>
              </a:defRPr>
            </a:lvl1pPr>
          </a:lstStyle>
          <a:p>
            <a:pPr algn="ctr"/>
            <a:fld id="{F7021451-1387-4CA6-816F-3879F97B5CBC}" type="slidenum">
              <a:rPr lang="en-US" b="0"/>
              <a:t>25</a:t>
            </a:fld>
            <a:endParaRPr lang="en-US"/>
          </a:p>
        </p:txBody>
      </p:sp>
      <p:sp>
        <p:nvSpPr>
          <p:cNvPr id="8" name="Freeform 2">
            <a:extLst>
              <a:ext uri="{FF2B5EF4-FFF2-40B4-BE49-F238E27FC236}">
                <a16:creationId xmlns:a16="http://schemas.microsoft.com/office/drawing/2014/main" id="{BC49E7BE-ADA2-5310-CACB-960D3F92502D}"/>
              </a:ext>
            </a:extLst>
          </p:cNvPr>
          <p:cNvSpPr/>
          <p:nvPr/>
        </p:nvSpPr>
        <p:spPr>
          <a:xfrm>
            <a:off x="5142104" y="6380991"/>
            <a:ext cx="1903592" cy="476247"/>
          </a:xfrm>
          <a:custGeom>
            <a:avLst/>
            <a:gdLst/>
            <a:ahLst/>
            <a:cxnLst/>
            <a:rect l="l" t="t" r="r" b="b"/>
            <a:pathLst>
              <a:path w="2855388" h="714371">
                <a:moveTo>
                  <a:pt x="0" y="0"/>
                </a:moveTo>
                <a:lnTo>
                  <a:pt x="2855388" y="0"/>
                </a:lnTo>
                <a:lnTo>
                  <a:pt x="2855388" y="714371"/>
                </a:lnTo>
                <a:lnTo>
                  <a:pt x="0" y="714371"/>
                </a:lnTo>
                <a:lnTo>
                  <a:pt x="0" y="0"/>
                </a:lnTo>
                <a:close/>
              </a:path>
            </a:pathLst>
          </a:custGeom>
          <a:blipFill>
            <a:blip r:embed="rId3"/>
            <a:stretch>
              <a:fillRect t="-1162" b="-1162"/>
            </a:stretch>
          </a:blipFill>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FE0BA3-AE7D-BDE5-B6D3-E9D8ADD6F57C}"/>
              </a:ext>
            </a:extLst>
          </p:cNvPr>
          <p:cNvSpPr txBox="1"/>
          <p:nvPr/>
        </p:nvSpPr>
        <p:spPr>
          <a:xfrm>
            <a:off x="87923" y="307730"/>
            <a:ext cx="11561884" cy="12157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latin typeface="Segoe UI"/>
                <a:cs typeface="Segoe UI"/>
              </a:rPr>
              <a:t>Banking Requirements Verification Platform</a:t>
            </a:r>
            <a:endParaRPr lang="en-US"/>
          </a:p>
          <a:p>
            <a:r>
              <a:rPr lang="en-US" sz="1100">
                <a:latin typeface="Segoe UI"/>
                <a:cs typeface="Segoe UI"/>
              </a:rPr>
              <a:t>A Bank Dhan Dhana Dhan Bank wants to build a Requirements Verification Platform for business analysts, architects, testers, and auditors. The application will capture business, functional, non-functional, and regulatory requirements for banking systems. It will automatically verify ambiguous, consistency and conflicts across requirements, design documents, test cases, and policies. The platform will detect conflicts, ambiguities, duplicates, and missing dependencies using LLM-based analysis. The goal is to build an LLM-driven application builder that prevents requirement inconsistencies and ensures high-quality, audit-ready banking documentation throughout the SDLC.</a:t>
            </a:r>
            <a:endParaRPr lang="en-US"/>
          </a:p>
          <a:p>
            <a:pPr algn="l"/>
            <a:endParaRPr lang="en-US">
              <a:ea typeface="Calibri Light"/>
              <a:cs typeface="Calibri Light"/>
            </a:endParaRPr>
          </a:p>
        </p:txBody>
      </p:sp>
      <p:graphicFrame>
        <p:nvGraphicFramePr>
          <p:cNvPr id="3" name="Diagram 2">
            <a:extLst>
              <a:ext uri="{FF2B5EF4-FFF2-40B4-BE49-F238E27FC236}">
                <a16:creationId xmlns:a16="http://schemas.microsoft.com/office/drawing/2014/main" id="{58A59AF6-9747-649B-49E5-F2316CCDE8AF}"/>
              </a:ext>
            </a:extLst>
          </p:cNvPr>
          <p:cNvGraphicFramePr/>
          <p:nvPr/>
        </p:nvGraphicFramePr>
        <p:xfrm>
          <a:off x="1072445" y="1468496"/>
          <a:ext cx="9426221" cy="4880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917063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703F45-E38B-9BE4-139B-8DA418314B3E}"/>
              </a:ext>
            </a:extLst>
          </p:cNvPr>
          <p:cNvPicPr>
            <a:picLocks noChangeAspect="1"/>
          </p:cNvPicPr>
          <p:nvPr/>
        </p:nvPicPr>
        <p:blipFill>
          <a:blip r:embed="rId2"/>
          <a:stretch>
            <a:fillRect/>
          </a:stretch>
        </p:blipFill>
        <p:spPr>
          <a:xfrm>
            <a:off x="-2410" y="125392"/>
            <a:ext cx="12196820" cy="6732608"/>
          </a:xfrm>
          <a:prstGeom prst="rect">
            <a:avLst/>
          </a:prstGeom>
        </p:spPr>
      </p:pic>
    </p:spTree>
    <p:extLst>
      <p:ext uri="{BB962C8B-B14F-4D97-AF65-F5344CB8AC3E}">
        <p14:creationId xmlns:p14="http://schemas.microsoft.com/office/powerpoint/2010/main" val="7284788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Ligh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Ligh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27</Slides>
  <Notes>21</Notes>
  <HiddenSlides>12</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Requirements to Verified Software</dc:title>
  <dc:subject>Formal verification of SDLC requirements using Lean and first-order logic</dc:subject>
  <dc:creator>Rohit Patil</dc:creator>
  <cp:revision>4</cp:revision>
  <dcterms:created xsi:type="dcterms:W3CDTF">2026-08-31T02:45:49Z</dcterms:created>
  <dcterms:modified xsi:type="dcterms:W3CDTF">2026-09-01T15:15:39Z</dcterms:modified>
</cp:coreProperties>
</file>